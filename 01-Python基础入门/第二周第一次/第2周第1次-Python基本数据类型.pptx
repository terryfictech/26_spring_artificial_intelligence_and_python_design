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1201" r:id="rId5"/>
    <p:sldId id="295" r:id="rId6"/>
    <p:sldId id="1202" r:id="rId7"/>
    <p:sldId id="1203" r:id="rId8"/>
    <p:sldId id="1205" r:id="rId9"/>
    <p:sldId id="1228" r:id="rId10"/>
    <p:sldId id="1206" r:id="rId11"/>
    <p:sldId id="1207" r:id="rId12"/>
    <p:sldId id="1208" r:id="rId13"/>
    <p:sldId id="1238" r:id="rId14"/>
    <p:sldId id="1233" r:id="rId15"/>
    <p:sldId id="1209" r:id="rId16"/>
    <p:sldId id="1234" r:id="rId17"/>
    <p:sldId id="1235" r:id="rId18"/>
    <p:sldId id="1210" r:id="rId19"/>
    <p:sldId id="1236" r:id="rId20"/>
    <p:sldId id="1211" r:id="rId21"/>
    <p:sldId id="1212" r:id="rId22"/>
    <p:sldId id="1237" r:id="rId23"/>
    <p:sldId id="1213" r:id="rId24"/>
    <p:sldId id="1079" r:id="rId25"/>
    <p:sldId id="1081" r:id="rId26"/>
    <p:sldId id="1082" r:id="rId27"/>
    <p:sldId id="1084" r:id="rId28"/>
    <p:sldId id="1086" r:id="rId29"/>
    <p:sldId id="1090" r:id="rId30"/>
    <p:sldId id="1091" r:id="rId31"/>
    <p:sldId id="1227" r:id="rId32"/>
    <p:sldId id="1214" r:id="rId33"/>
    <p:sldId id="1215" r:id="rId34"/>
    <p:sldId id="1216" r:id="rId35"/>
    <p:sldId id="1217" r:id="rId36"/>
    <p:sldId id="1218" r:id="rId37"/>
    <p:sldId id="1220" r:id="rId38"/>
    <p:sldId id="1221" r:id="rId39"/>
    <p:sldId id="1219" r:id="rId40"/>
    <p:sldId id="1222" r:id="rId41"/>
    <p:sldId id="1223" r:id="rId42"/>
    <p:sldId id="1224" r:id="rId43"/>
    <p:sldId id="1225" r:id="rId44"/>
    <p:sldId id="1226" r:id="rId45"/>
    <p:sldId id="1231" r:id="rId46"/>
    <p:sldId id="1232" r:id="rId47"/>
    <p:sldId id="1230" r:id="rId48"/>
    <p:sldId id="1229" r:id="rId49"/>
    <p:sldId id="1199" r:id="rId50"/>
  </p:sldIdLst>
  <p:sldSz cx="9144000" cy="5143500" type="screen16x9"/>
  <p:notesSz cx="6797675" cy="9928225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8" autoAdjust="0"/>
    <p:restoredTop sz="94734" autoAdjust="0"/>
  </p:normalViewPr>
  <p:slideViewPr>
    <p:cSldViewPr snapToGrid="0" showGuides="1">
      <p:cViewPr varScale="1">
        <p:scale>
          <a:sx n="103" d="100"/>
          <a:sy n="103" d="100"/>
        </p:scale>
        <p:origin x="88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gs" Target="tags/tag82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print</a:t>
            </a:r>
            <a:r>
              <a:rPr lang="zh-CN" altLang="en-US"/>
              <a:t>出来就是十进制</a:t>
            </a:r>
            <a:r>
              <a:rPr lang="zh-CN" altLang="en-US"/>
              <a:t>了！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3838" y="808038"/>
            <a:ext cx="7185026" cy="4041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027ABA-50B6-4311-B04A-E148B14A8A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 txBox="1">
            <a:spLocks noGrp="1" noChangeArrowheads="1"/>
          </p:cNvSpPr>
          <p:nvPr/>
        </p:nvSpPr>
        <p:spPr bwMode="auto">
          <a:xfrm>
            <a:off x="3817820" y="10242171"/>
            <a:ext cx="2920061" cy="53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60" tIns="48230" rIns="96460" bIns="48230" anchor="b"/>
          <a:lstStyle>
            <a:lvl1pPr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28AC8C4-54E8-4F3E-BBE9-77D2854DB0B1}" type="slidenum">
              <a:rPr lang="en-US" altLang="zh-CN" sz="1300" b="0">
                <a:ea typeface="隶书" panose="02010509060101010101" pitchFamily="49" charset="-122"/>
              </a:rPr>
            </a:fld>
            <a:endParaRPr lang="en-US" altLang="zh-CN" sz="1300" b="0">
              <a:ea typeface="隶书" panose="02010509060101010101" pitchFamily="49" charset="-122"/>
            </a:endParaRPr>
          </a:p>
        </p:txBody>
      </p:sp>
      <p:sp>
        <p:nvSpPr>
          <p:cNvPr id="187395" name="Rectangle 7"/>
          <p:cNvSpPr txBox="1">
            <a:spLocks noGrp="1" noChangeArrowheads="1"/>
          </p:cNvSpPr>
          <p:nvPr/>
        </p:nvSpPr>
        <p:spPr bwMode="auto">
          <a:xfrm>
            <a:off x="3814684" y="10237349"/>
            <a:ext cx="2922152" cy="539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86" tIns="52243" rIns="104486" bIns="52243" anchor="b"/>
          <a:lstStyle>
            <a:lvl1pPr defTabSz="104457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04457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04457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04457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04457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44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44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44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44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FA17438-7B74-48EC-976A-3A5468693458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187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23838" y="804863"/>
            <a:ext cx="7186613" cy="4043362"/>
          </a:xfrm>
        </p:spPr>
      </p:sp>
      <p:sp>
        <p:nvSpPr>
          <p:cNvPr id="187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057" y="5119880"/>
            <a:ext cx="5391768" cy="485472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486" tIns="52243" rIns="104486" bIns="52243"/>
          <a:lstStyle/>
          <a:p>
            <a:endParaRPr lang="zh-CN" altLang="en-US" b="1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23838" y="808038"/>
            <a:ext cx="7185026" cy="4041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88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87FB62-D6D2-4ABF-B013-ABC795954CB0}" type="slidenum">
              <a:rPr lang="en-US" altLang="zh-CN" sz="1300" b="0" smtClean="0">
                <a:ea typeface="隶书" panose="02010509060101010101" pitchFamily="49" charset="-122"/>
              </a:rPr>
            </a:fld>
            <a:endParaRPr lang="en-US" altLang="zh-CN" sz="1300" b="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23838" y="808038"/>
            <a:ext cx="7185026" cy="4041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88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87FB62-D6D2-4ABF-B013-ABC795954CB0}" type="slidenum">
              <a:rPr lang="en-US" altLang="zh-CN" sz="1300" b="0" smtClean="0">
                <a:ea typeface="隶书" panose="02010509060101010101" pitchFamily="49" charset="-122"/>
              </a:rPr>
            </a:fld>
            <a:endParaRPr lang="en-US" altLang="zh-CN" sz="1300" b="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23838" y="808038"/>
            <a:ext cx="7185026" cy="40417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88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52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87FB62-D6D2-4ABF-B013-ABC795954CB0}" type="slidenum">
              <a:rPr lang="en-US" altLang="zh-CN" sz="1300" b="0" smtClean="0">
                <a:ea typeface="隶书" panose="02010509060101010101" pitchFamily="49" charset="-122"/>
              </a:rPr>
            </a:fld>
            <a:endParaRPr lang="en-US" altLang="zh-CN" sz="1300" b="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23838" y="808038"/>
            <a:ext cx="7185026" cy="40417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384" y="5120362"/>
            <a:ext cx="4941113" cy="485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027ABA-50B6-4311-B04A-E148B14A8A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5.png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4.xml"/><Relationship Id="rId24" Type="http://schemas.openxmlformats.org/officeDocument/2006/relationships/image" Target="../media/image8.png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1.xml"/><Relationship Id="rId17" Type="http://schemas.openxmlformats.org/officeDocument/2006/relationships/image" Target="../media/image8.png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image" Target="../media/image41.png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61.xml"/><Relationship Id="rId21" Type="http://schemas.openxmlformats.org/officeDocument/2006/relationships/image" Target="../media/image8.png"/><Relationship Id="rId20" Type="http://schemas.openxmlformats.org/officeDocument/2006/relationships/tags" Target="../tags/tag60.xml"/><Relationship Id="rId2" Type="http://schemas.openxmlformats.org/officeDocument/2006/relationships/tags" Target="../tags/tag43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54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81.xml"/><Relationship Id="rId21" Type="http://schemas.openxmlformats.org/officeDocument/2006/relationships/image" Target="../media/image8.png"/><Relationship Id="rId20" Type="http://schemas.openxmlformats.org/officeDocument/2006/relationships/tags" Target="../tags/tag80.xml"/><Relationship Id="rId2" Type="http://schemas.openxmlformats.org/officeDocument/2006/relationships/tags" Target="../tags/tag63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/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/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4"/>
            <p:cNvGrpSpPr/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23192"/>
          </a:xfrm>
          <a:prstGeom prst="rect">
            <a:avLst/>
          </a:prstGeom>
          <a:noFill/>
        </p:spPr>
        <p:txBody>
          <a:bodyPr wrap="square" lIns="91413" tIns="45706" rIns="91413" bIns="45706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工智能与</a:t>
            </a:r>
            <a:r>
              <a:rPr 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383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883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83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383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上次课回顾：初识</a:t>
            </a:r>
            <a:r>
              <a:rPr lang="en-US" altLang="zh-CN" dirty="0"/>
              <a:t>Python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设计一个</a:t>
            </a:r>
            <a:r>
              <a:rPr lang="en-US" altLang="zh-CN" dirty="0"/>
              <a:t>Python</a:t>
            </a:r>
            <a:r>
              <a:rPr lang="zh-CN" altLang="en-US" dirty="0"/>
              <a:t>程序</a:t>
            </a:r>
            <a:endParaRPr lang="en-US" altLang="zh-CN" dirty="0"/>
          </a:p>
          <a:p>
            <a:pPr lvl="1"/>
            <a:r>
              <a:rPr lang="zh-CN" altLang="en-US" dirty="0"/>
              <a:t>问题分析与模型</a:t>
            </a:r>
            <a:endParaRPr lang="en-US" altLang="zh-CN" dirty="0"/>
          </a:p>
          <a:p>
            <a:pPr lvl="1"/>
            <a:r>
              <a:rPr lang="zh-CN" altLang="en-US" dirty="0"/>
              <a:t>程序格式与框架</a:t>
            </a:r>
            <a:endParaRPr lang="en-US" altLang="zh-CN" dirty="0"/>
          </a:p>
          <a:p>
            <a:pPr lvl="1"/>
            <a:r>
              <a:rPr lang="zh-CN" altLang="en-US" dirty="0"/>
              <a:t>变量与常量命名规则</a:t>
            </a:r>
            <a:endParaRPr lang="en-US" altLang="zh-CN" dirty="0"/>
          </a:p>
          <a:p>
            <a:pPr lvl="1"/>
            <a:r>
              <a:rPr lang="zh-CN" altLang="en-US" dirty="0"/>
              <a:t>字符串</a:t>
            </a:r>
            <a:endParaRPr lang="en-US" altLang="zh-CN" dirty="0"/>
          </a:p>
          <a:p>
            <a:pPr lvl="1"/>
            <a:r>
              <a:rPr lang="zh-CN" altLang="en-US" dirty="0"/>
              <a:t>注释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保留字</a:t>
            </a:r>
            <a:endParaRPr lang="en-US" altLang="zh-CN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输出函数</a:t>
            </a:r>
            <a:endParaRPr lang="en-US" altLang="zh-CN" dirty="0"/>
          </a:p>
          <a:p>
            <a:pPr lvl="1"/>
            <a:r>
              <a:rPr lang="zh-CN" altLang="en-US" dirty="0"/>
              <a:t>流程控制语句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IDE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243" y="799659"/>
            <a:ext cx="3113534" cy="17720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7148"/>
          <a:stretch>
            <a:fillRect/>
          </a:stretch>
        </p:blipFill>
        <p:spPr>
          <a:xfrm>
            <a:off x="3536243" y="2693507"/>
            <a:ext cx="5666480" cy="206264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02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数字及基本操作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字符串及其操作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26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r>
              <a:rPr lang="zh-CN" altLang="en-US" dirty="0"/>
              <a:t>程序元素：</a:t>
            </a:r>
            <a:r>
              <a:rPr lang="en-US" altLang="zh-CN" dirty="0"/>
              <a:t>010 / 10</a:t>
            </a:r>
            <a:r>
              <a:rPr lang="zh-CN" altLang="en-US" dirty="0"/>
              <a:t>，存在多种可能</a:t>
            </a:r>
            <a:endParaRPr lang="zh-CN" altLang="en-US" dirty="0"/>
          </a:p>
          <a:p>
            <a:pPr lvl="1"/>
            <a:r>
              <a:rPr lang="zh-CN" altLang="en-US" dirty="0"/>
              <a:t>表示十进制整数值</a:t>
            </a:r>
            <a:r>
              <a:rPr lang="en-US" altLang="zh-CN" dirty="0"/>
              <a:t>10</a:t>
            </a:r>
            <a:endParaRPr lang="en-US" altLang="zh-CN" dirty="0"/>
          </a:p>
          <a:p>
            <a:pPr lvl="1"/>
            <a:r>
              <a:rPr lang="zh-CN" altLang="en-US" dirty="0"/>
              <a:t>字符串</a:t>
            </a:r>
            <a:endParaRPr lang="zh-CN" altLang="en-US" dirty="0"/>
          </a:p>
          <a:p>
            <a:r>
              <a:rPr lang="zh-CN" altLang="en-US" dirty="0"/>
              <a:t>数字类型对</a:t>
            </a:r>
            <a:r>
              <a:rPr lang="en-US" altLang="zh-CN" dirty="0"/>
              <a:t>Python</a:t>
            </a:r>
            <a:r>
              <a:rPr lang="zh-CN" altLang="en-US" dirty="0"/>
              <a:t>语言中数字的表示和使用进行了定义和规范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中的数字类型包括</a:t>
            </a:r>
            <a:endParaRPr lang="en-US" altLang="zh-CN" dirty="0"/>
          </a:p>
          <a:p>
            <a:pPr lvl="1"/>
            <a:r>
              <a:rPr lang="zh-CN" altLang="en-US" dirty="0"/>
              <a:t>整数</a:t>
            </a:r>
            <a:endParaRPr lang="en-US" altLang="zh-CN" dirty="0"/>
          </a:p>
          <a:p>
            <a:pPr lvl="1"/>
            <a:r>
              <a:rPr lang="zh-CN" altLang="en-US" dirty="0"/>
              <a:t>浮点数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复数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与数学中的整数概念一致，没有取值范围限制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数的运算：</a:t>
            </a:r>
            <a:r>
              <a:rPr lang="en-US" altLang="zh-CN" dirty="0"/>
              <a:t>pow(x, y)</a:t>
            </a:r>
            <a:r>
              <a:rPr lang="zh-CN" altLang="en-US" dirty="0"/>
              <a:t>：计算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/>
              <a:t>y</a:t>
            </a:r>
            <a:r>
              <a:rPr lang="zh-CN" altLang="en-US" dirty="0"/>
              <a:t>次方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课堂练习：在</a:t>
            </a:r>
            <a:r>
              <a:rPr lang="en-US" altLang="zh-CN" dirty="0"/>
              <a:t>Jupiter Notebook</a:t>
            </a:r>
            <a:r>
              <a:rPr lang="zh-CN" altLang="en-US" dirty="0"/>
              <a:t>中计算</a:t>
            </a:r>
            <a:endParaRPr lang="en-US" altLang="zh-CN" dirty="0"/>
          </a:p>
          <a:p>
            <a:pPr lvl="1"/>
            <a:r>
              <a:rPr lang="en-US" altLang="zh-CN" dirty="0"/>
              <a:t>pow(2, 10), pow(10, 2)</a:t>
            </a:r>
            <a:endParaRPr lang="en-US" altLang="zh-CN" dirty="0"/>
          </a:p>
          <a:p>
            <a:pPr lvl="1"/>
            <a:r>
              <a:rPr lang="en-US" altLang="zh-CN" dirty="0"/>
              <a:t>pow(2, 1000)</a:t>
            </a:r>
            <a:endParaRPr lang="en-US" altLang="zh-CN" dirty="0"/>
          </a:p>
          <a:p>
            <a:pPr lvl="1"/>
            <a:r>
              <a:rPr lang="en-US" altLang="zh-CN" dirty="0"/>
              <a:t>pow(2, pow(2, 3))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>
            <p:custDataLst>
              <p:tags r:id="rId1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判断两个数的大小，哪个选项正确？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089547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55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33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&gt; 66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2732484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55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33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&lt; 66</a:t>
            </a:r>
            <a:r>
              <a:rPr lang="en-US" altLang="zh-CN" sz="26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095270" y="3970139"/>
            <a:ext cx="6400800" cy="48220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137767"/>
            <a:ext cx="385762" cy="385763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78719" y="2780705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8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9613900" y="4658499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9728200" y="1289844"/>
            <a:ext cx="2372360" cy="317009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2703763826271496729576234682033435790799558162689208984375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10714368571740915734427767689504050118656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1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23" name="RemarkBack"/>
            <p:cNvSpPr/>
            <p:nvPr>
              <p:custDataLst>
                <p:tags r:id="rId12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/>
            <p:cNvSpPr txBox="1"/>
            <p:nvPr>
              <p:custDataLst>
                <p:tags r:id="rId1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" name="RemarkBack"/>
          <p:cNvSpPr/>
          <p:nvPr>
            <p:custDataLst>
              <p:tags r:id="rId15"/>
            </p:custDataLst>
          </p:nvPr>
        </p:nvSpPr>
        <p:spPr>
          <a:xfrm>
            <a:off x="9537700" y="12700"/>
            <a:ext cx="285496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6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不懂</a:t>
            </a:r>
            <a:r>
              <a:rPr lang="en-US" altLang="zh-CN" dirty="0"/>
              <a:t>Python</a:t>
            </a:r>
            <a:r>
              <a:rPr lang="zh-CN" altLang="en-US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zh-CN" altLang="en-US" dirty="0"/>
              <a:t>懂</a:t>
            </a:r>
            <a:r>
              <a:rPr lang="en-US" altLang="zh-CN" dirty="0"/>
              <a:t>Python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03" b="14110"/>
          <a:stretch>
            <a:fillRect/>
          </a:stretch>
        </p:blipFill>
        <p:spPr>
          <a:xfrm>
            <a:off x="515428" y="818983"/>
            <a:ext cx="2521970" cy="4011491"/>
          </a:xfr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48" y="818983"/>
            <a:ext cx="5486721" cy="142358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971355" y="2982391"/>
            <a:ext cx="4834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显著降低了此题的难度！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其它整数表示的例子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负数：</a:t>
            </a:r>
            <a:r>
              <a:rPr lang="en-US" altLang="zh-CN" dirty="0"/>
              <a:t>-2010</a:t>
            </a:r>
            <a:r>
              <a:rPr lang="zh-CN" altLang="en-US" dirty="0"/>
              <a:t>，</a:t>
            </a:r>
            <a:r>
              <a:rPr lang="en-US" altLang="zh-CN" dirty="0"/>
              <a:t>-100</a:t>
            </a:r>
            <a:endParaRPr lang="en-US" altLang="zh-CN" dirty="0"/>
          </a:p>
          <a:p>
            <a:r>
              <a:rPr lang="en-US" altLang="zh-CN" dirty="0"/>
              <a:t>16</a:t>
            </a:r>
            <a:r>
              <a:rPr lang="zh-CN" altLang="en-US" dirty="0"/>
              <a:t>进制整数表示：以</a:t>
            </a:r>
            <a:r>
              <a:rPr lang="en-US" altLang="zh-CN" dirty="0">
                <a:solidFill>
                  <a:srgbClr val="C00000"/>
                </a:solidFill>
              </a:rPr>
              <a:t>0x</a:t>
            </a:r>
            <a:r>
              <a:rPr lang="zh-CN" altLang="en-US" dirty="0"/>
              <a:t>或者</a:t>
            </a:r>
            <a:r>
              <a:rPr lang="en-US" altLang="zh-CN" dirty="0"/>
              <a:t>0X</a:t>
            </a:r>
            <a:r>
              <a:rPr lang="zh-CN" altLang="en-US" dirty="0"/>
              <a:t>开头</a:t>
            </a:r>
            <a:endParaRPr lang="en-US" altLang="zh-CN" dirty="0"/>
          </a:p>
          <a:p>
            <a:pPr lvl="1"/>
            <a:r>
              <a:rPr lang="en-US" altLang="zh-CN" dirty="0"/>
              <a:t>0x11</a:t>
            </a:r>
            <a:r>
              <a:rPr lang="zh-CN" altLang="en-US" dirty="0"/>
              <a:t>、</a:t>
            </a:r>
            <a:r>
              <a:rPr lang="en-US" altLang="zh-CN" dirty="0"/>
              <a:t>0x1a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进制整数表示：以</a:t>
            </a:r>
            <a:r>
              <a:rPr lang="en-US" altLang="zh-CN" dirty="0"/>
              <a:t>0b</a:t>
            </a:r>
            <a:r>
              <a:rPr lang="zh-CN" altLang="en-US" dirty="0"/>
              <a:t>或者</a:t>
            </a:r>
            <a:r>
              <a:rPr lang="en-US" altLang="zh-CN" dirty="0"/>
              <a:t>0B</a:t>
            </a:r>
            <a:r>
              <a:rPr lang="zh-CN" altLang="en-US" dirty="0"/>
              <a:t>开头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进制整数表示：以</a:t>
            </a:r>
            <a:r>
              <a:rPr lang="en-US" altLang="zh-CN" dirty="0"/>
              <a:t>0o</a:t>
            </a:r>
            <a:r>
              <a:rPr lang="zh-CN" altLang="en-US" dirty="0"/>
              <a:t>或者</a:t>
            </a:r>
            <a:r>
              <a:rPr lang="en-US" altLang="zh-CN" dirty="0"/>
              <a:t>0O</a:t>
            </a:r>
            <a:r>
              <a:rPr lang="zh-CN" altLang="en-US" dirty="0"/>
              <a:t>开头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341" y="1171302"/>
            <a:ext cx="2832059" cy="268162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带有小数点及小数位的数</a:t>
            </a:r>
            <a:endParaRPr lang="zh-CN" altLang="en-US" dirty="0"/>
          </a:p>
          <a:p>
            <a:r>
              <a:rPr lang="en-US" altLang="zh-CN" dirty="0"/>
              <a:t>Python</a:t>
            </a:r>
            <a:r>
              <a:rPr lang="zh-CN" altLang="en-US" dirty="0"/>
              <a:t>语言中对浮点数的表示存在限制</a:t>
            </a:r>
            <a:endParaRPr lang="en-US" altLang="zh-CN" dirty="0"/>
          </a:p>
          <a:p>
            <a:pPr lvl="1"/>
            <a:r>
              <a:rPr lang="zh-CN" altLang="en-US" dirty="0"/>
              <a:t>数值范围存在限制（上溢出，</a:t>
            </a:r>
            <a:r>
              <a:rPr lang="en-US" altLang="zh-CN" dirty="0"/>
              <a:t>overflow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小数精度也存在限制（下溢出，</a:t>
            </a:r>
            <a:r>
              <a:rPr lang="en-US" altLang="zh-CN" dirty="0"/>
              <a:t>underflow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这种限制与在不同计算机系统有关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36" y="2589223"/>
            <a:ext cx="4349364" cy="21669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290" y="2589223"/>
            <a:ext cx="3352825" cy="1019182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浮点数的表示形式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819150"/>
            <a:ext cx="5398936" cy="3937000"/>
          </a:xfrm>
        </p:spPr>
        <p:txBody>
          <a:bodyPr/>
          <a:lstStyle/>
          <a:p>
            <a:r>
              <a:rPr lang="zh-CN" altLang="en-US" dirty="0"/>
              <a:t>最常用：小数</a:t>
            </a:r>
            <a:endParaRPr lang="en-US" altLang="zh-CN" dirty="0"/>
          </a:p>
          <a:p>
            <a:pPr lvl="1"/>
            <a:r>
              <a:rPr lang="en-US" altLang="zh-CN" dirty="0"/>
              <a:t>0.12</a:t>
            </a:r>
            <a:r>
              <a:rPr lang="zh-CN" altLang="en-US" dirty="0"/>
              <a:t>、</a:t>
            </a:r>
            <a:r>
              <a:rPr lang="en-US" altLang="zh-CN" dirty="0"/>
              <a:t>-77.</a:t>
            </a:r>
            <a:r>
              <a:rPr lang="zh-CN" altLang="en-US" dirty="0"/>
              <a:t>、</a:t>
            </a:r>
            <a:r>
              <a:rPr lang="en-US" altLang="zh-CN" dirty="0"/>
              <a:t>-2.17</a:t>
            </a:r>
            <a:endParaRPr lang="en-US" altLang="zh-CN" dirty="0"/>
          </a:p>
          <a:p>
            <a:r>
              <a:rPr lang="zh-CN" altLang="en-US" dirty="0"/>
              <a:t>科学计数法：使用字母“</a:t>
            </a:r>
            <a:r>
              <a:rPr lang="en-US" altLang="zh-CN" dirty="0"/>
              <a:t>e”</a:t>
            </a:r>
            <a:r>
              <a:rPr lang="zh-CN" altLang="en-US" dirty="0"/>
              <a:t>或者“</a:t>
            </a:r>
            <a:r>
              <a:rPr lang="en-US" altLang="zh-CN" dirty="0"/>
              <a:t>E”</a:t>
            </a:r>
            <a:r>
              <a:rPr lang="zh-CN" altLang="en-US" dirty="0"/>
              <a:t>作为幂的符号，以</a:t>
            </a:r>
            <a:r>
              <a:rPr lang="en-US" altLang="zh-CN" dirty="0"/>
              <a:t>10</a:t>
            </a:r>
            <a:r>
              <a:rPr lang="zh-CN" altLang="en-US" dirty="0"/>
              <a:t>为基数</a:t>
            </a:r>
            <a:endParaRPr lang="en-US" altLang="zh-CN" dirty="0"/>
          </a:p>
          <a:p>
            <a:pPr lvl="1"/>
            <a:r>
              <a:rPr lang="zh-CN" altLang="en-US" dirty="0"/>
              <a:t>科学计数法含义：</a:t>
            </a:r>
            <a:r>
              <a:rPr lang="pt-BR" altLang="zh-CN" dirty="0"/>
              <a:t> a </a:t>
            </a:r>
            <a:r>
              <a:rPr lang="en-US" altLang="zh-CN" dirty="0"/>
              <a:t>E</a:t>
            </a:r>
            <a:r>
              <a:rPr lang="pt-BR" altLang="zh-CN" dirty="0"/>
              <a:t> b = a * 10</a:t>
            </a:r>
            <a:r>
              <a:rPr lang="pt-BR" altLang="zh-CN" baseline="30000" dirty="0"/>
              <a:t>b</a:t>
            </a:r>
            <a:endParaRPr lang="en-US" altLang="zh-CN" baseline="30000" dirty="0"/>
          </a:p>
          <a:p>
            <a:pPr lvl="1"/>
            <a:r>
              <a:rPr lang="en-US" altLang="zh-CN" dirty="0"/>
              <a:t>96e4</a:t>
            </a:r>
            <a:r>
              <a:rPr lang="zh-CN" altLang="en-US" dirty="0"/>
              <a:t>、</a:t>
            </a:r>
            <a:r>
              <a:rPr lang="en-US" altLang="zh-CN" dirty="0"/>
              <a:t>4.3e-1</a:t>
            </a:r>
            <a:r>
              <a:rPr lang="zh-CN" altLang="en-US" dirty="0"/>
              <a:t>、</a:t>
            </a:r>
            <a:r>
              <a:rPr lang="en-US" altLang="zh-CN" dirty="0"/>
              <a:t>9.6E5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40" y="2900979"/>
            <a:ext cx="4678889" cy="1333091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L bits(64)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符号位</a:t>
            </a:r>
            <a:r>
              <a:rPr lang="en-US" altLang="zh-CN"/>
              <a:t> : m</a:t>
            </a:r>
            <a:r>
              <a:rPr lang="zh-CN" altLang="en-US"/>
              <a:t>位尾数（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n</a:t>
            </a:r>
            <a:r>
              <a:rPr lang="zh-CN" altLang="en-US"/>
              <a:t>位基数（</a:t>
            </a:r>
            <a:r>
              <a:rPr lang="en-US" altLang="zh-CN"/>
              <a:t>E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A*2^E</a:t>
            </a:r>
            <a:endParaRPr lang="en-US" altLang="zh-CN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与数学中复数的概念一致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𝑏𝑗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实部，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：虚部</a:t>
                </a:r>
                <a:endParaRPr lang="en-US" altLang="zh-CN" dirty="0"/>
              </a:p>
              <a:p>
                <a:r>
                  <a:rPr lang="zh-CN" altLang="en-US" dirty="0"/>
                  <a:t>如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 err="1"/>
                  <a:t>z.real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：获取实部</a:t>
                </a:r>
                <a:endParaRPr lang="en-US" altLang="zh-CN" dirty="0"/>
              </a:p>
              <a:p>
                <a:pPr lvl="1"/>
                <a:r>
                  <a:rPr lang="en-US" altLang="zh-CN" dirty="0" err="1"/>
                  <a:t>z.imag</a:t>
                </a:r>
                <a:r>
                  <a:rPr lang="zh-CN" altLang="en-US" dirty="0"/>
                  <a:t>：获取虚部</a:t>
                </a:r>
                <a:endParaRPr lang="en-US" altLang="zh-CN" dirty="0"/>
              </a:p>
              <a:p>
                <a:r>
                  <a:rPr lang="zh-CN" altLang="en-US" dirty="0"/>
                  <a:t>复数的运算规则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z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=</a:t>
                </a:r>
                <a:r>
                  <a:rPr lang="en-US" altLang="zh-CN" dirty="0" err="1"/>
                  <a:t>a+bj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z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=</a:t>
                </a:r>
                <a:r>
                  <a:rPr lang="en-US" altLang="zh-CN" dirty="0" err="1"/>
                  <a:t>c+dj</a:t>
                </a:r>
                <a:r>
                  <a:rPr lang="zh-CN" altLang="en-US" dirty="0"/>
                  <a:t>是任意两个复数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和：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a+bj</a:t>
                </a:r>
                <a:r>
                  <a:rPr lang="en-US" altLang="zh-CN" dirty="0"/>
                  <a:t>)+(</a:t>
                </a:r>
                <a:r>
                  <a:rPr lang="en-US" altLang="zh-CN" dirty="0" err="1"/>
                  <a:t>c+dj</a:t>
                </a:r>
                <a:r>
                  <a:rPr lang="en-US" altLang="zh-CN" dirty="0"/>
                  <a:t>)=(</a:t>
                </a:r>
                <a:r>
                  <a:rPr lang="en-US" altLang="zh-CN" dirty="0" err="1"/>
                  <a:t>a+c</a:t>
                </a:r>
                <a:r>
                  <a:rPr lang="en-US" altLang="zh-CN" dirty="0"/>
                  <a:t>)+(</a:t>
                </a:r>
                <a:r>
                  <a:rPr lang="en-US" altLang="zh-CN" dirty="0" err="1"/>
                  <a:t>b+d</a:t>
                </a:r>
                <a:r>
                  <a:rPr lang="en-US" altLang="zh-CN" dirty="0"/>
                  <a:t>)j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差：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a+bj</a:t>
                </a:r>
                <a:r>
                  <a:rPr lang="en-US" altLang="zh-CN" dirty="0"/>
                  <a:t>)-(</a:t>
                </a:r>
                <a:r>
                  <a:rPr lang="en-US" altLang="zh-CN" dirty="0" err="1"/>
                  <a:t>c+dj</a:t>
                </a:r>
                <a:r>
                  <a:rPr lang="en-US" altLang="zh-CN" dirty="0"/>
                  <a:t>)=(a-c)+(b-d)j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积：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a+bj</a:t>
                </a:r>
                <a:r>
                  <a:rPr lang="en-US" altLang="zh-CN" dirty="0"/>
                  <a:t>)(</a:t>
                </a:r>
                <a:r>
                  <a:rPr lang="en-US" altLang="zh-CN" dirty="0" err="1"/>
                  <a:t>c+dj</a:t>
                </a:r>
                <a:r>
                  <a:rPr lang="en-US" altLang="zh-CN" dirty="0"/>
                  <a:t>)=(ac-bd)+(</a:t>
                </a:r>
                <a:r>
                  <a:rPr lang="en-US" altLang="zh-CN" dirty="0" err="1"/>
                  <a:t>bc+ad</a:t>
                </a:r>
                <a:r>
                  <a:rPr lang="en-US" altLang="zh-CN" dirty="0"/>
                  <a:t>)j</a:t>
                </a:r>
                <a:endParaRPr lang="en-US" altLang="zh-CN" dirty="0"/>
              </a:p>
              <a:p>
                <a:pPr lvl="1"/>
                <a:endParaRPr lang="zh-CN" alt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8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779" y="704850"/>
            <a:ext cx="2927569" cy="230167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数字类型的操作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200153" cy="3937000"/>
          </a:xfrm>
        </p:spPr>
        <p:txBody>
          <a:bodyPr>
            <a:normAutofit/>
          </a:bodyPr>
          <a:lstStyle/>
          <a:p>
            <a:r>
              <a:rPr lang="zh-CN" altLang="en-US" dirty="0"/>
              <a:t>不同数字类型之间可以进行混合运算，运算后生成结果为最宽类型</a:t>
            </a:r>
            <a:endParaRPr lang="zh-CN" altLang="en-US" dirty="0"/>
          </a:p>
          <a:p>
            <a:pPr lvl="1"/>
            <a:r>
              <a:rPr lang="en-US" altLang="zh-CN" dirty="0"/>
              <a:t>123+4.0=127.0 (</a:t>
            </a:r>
            <a:r>
              <a:rPr lang="zh-CN" altLang="en-US" dirty="0"/>
              <a:t>整数</a:t>
            </a:r>
            <a:r>
              <a:rPr lang="en-US" altLang="zh-CN" dirty="0"/>
              <a:t>+</a:t>
            </a:r>
            <a:r>
              <a:rPr lang="zh-CN" altLang="en-US" dirty="0"/>
              <a:t>浮点数</a:t>
            </a:r>
            <a:r>
              <a:rPr lang="en-US" altLang="zh-CN" dirty="0"/>
              <a:t>=</a:t>
            </a:r>
            <a:r>
              <a:rPr lang="zh-CN" altLang="en-US" dirty="0"/>
              <a:t>浮点数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规则（按照最宽的返回）：</a:t>
            </a:r>
            <a:endParaRPr lang="en-US" altLang="zh-CN" dirty="0"/>
          </a:p>
          <a:p>
            <a:pPr lvl="1"/>
            <a:r>
              <a:rPr lang="zh-CN" altLang="en-US" dirty="0"/>
              <a:t>整数之间运算，如果数学意义上的结果是小数（如不能整除），结果是浮点数；</a:t>
            </a:r>
            <a:endParaRPr lang="zh-CN" altLang="en-US" dirty="0"/>
          </a:p>
          <a:p>
            <a:pPr lvl="1"/>
            <a:r>
              <a:rPr lang="zh-CN" altLang="en-US" dirty="0"/>
              <a:t>整数之间运算，如果数学意义上的结果是整数（绝大部分情况），结果是整数；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“/”</a:t>
            </a:r>
            <a:r>
              <a:rPr lang="zh-CN" altLang="en-US" dirty="0">
                <a:solidFill>
                  <a:srgbClr val="FF0000"/>
                </a:solidFill>
              </a:rPr>
              <a:t>总是返回浮点数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整数和浮点数混合运算，输出结果是浮点数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2" r="29184"/>
          <a:stretch>
            <a:fillRect/>
          </a:stretch>
        </p:blipFill>
        <p:spPr>
          <a:xfrm>
            <a:off x="5657353" y="1049737"/>
            <a:ext cx="3249268" cy="269930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二元操作符号对应的增强赋值操作符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x = x </a:t>
            </a:r>
            <a:r>
              <a:rPr lang="en-US" altLang="zh-CN" b="1" dirty="0">
                <a:solidFill>
                  <a:srgbClr val="FF0000"/>
                </a:solidFill>
              </a:rPr>
              <a:t>op</a:t>
            </a:r>
            <a:r>
              <a:rPr lang="en-US" altLang="zh-CN" b="1" dirty="0"/>
              <a:t> </a:t>
            </a:r>
            <a:r>
              <a:rPr lang="en-US" altLang="zh-CN" dirty="0"/>
              <a:t>y  </a:t>
            </a:r>
            <a:r>
              <a:rPr lang="en-US" altLang="zh-CN" dirty="0">
                <a:sym typeface="Wingdings" panose="05000000000000000000" pitchFamily="2" charset="2"/>
              </a:rPr>
              <a:t>  x </a:t>
            </a:r>
            <a:r>
              <a:rPr lang="en-US" altLang="zh-CN" b="1" dirty="0">
                <a:solidFill>
                  <a:srgbClr val="FF0000"/>
                </a:solidFill>
                <a:sym typeface="Wingdings" panose="05000000000000000000" pitchFamily="2" charset="2"/>
              </a:rPr>
              <a:t>op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altLang="zh-CN" dirty="0">
                <a:sym typeface="Wingdings" panose="05000000000000000000" pitchFamily="2" charset="2"/>
              </a:rPr>
              <a:t> y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其中</a:t>
            </a:r>
            <a:r>
              <a:rPr lang="en-US" altLang="zh-CN" dirty="0">
                <a:sym typeface="Wingdings" panose="05000000000000000000" pitchFamily="2" charset="2"/>
              </a:rPr>
              <a:t>op</a:t>
            </a:r>
            <a:r>
              <a:rPr lang="zh-CN" altLang="en-US" dirty="0">
                <a:sym typeface="Wingdings" panose="05000000000000000000" pitchFamily="2" charset="2"/>
              </a:rPr>
              <a:t>为二元操作符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例如：</a:t>
            </a:r>
            <a:r>
              <a:rPr lang="en-US" altLang="zh-CN" dirty="0">
                <a:sym typeface="Wingdings" panose="05000000000000000000" pitchFamily="2" charset="2"/>
              </a:rPr>
              <a:t>op</a:t>
            </a:r>
            <a:r>
              <a:rPr lang="zh-CN" altLang="en-US" dirty="0">
                <a:sym typeface="Wingdings" panose="05000000000000000000" pitchFamily="2" charset="2"/>
              </a:rPr>
              <a:t>可以为 </a:t>
            </a:r>
            <a:r>
              <a:rPr lang="en-US" altLang="zh-CN" dirty="0">
                <a:sym typeface="Wingdings" panose="05000000000000000000" pitchFamily="2" charset="2"/>
              </a:rPr>
              <a:t>+ - </a:t>
            </a:r>
            <a:r>
              <a:rPr lang="zh-CN" altLang="en-US" dirty="0">
                <a:sym typeface="Wingdings" panose="05000000000000000000" pitchFamily="2" charset="2"/>
              </a:rPr>
              <a:t>* </a:t>
            </a:r>
            <a:r>
              <a:rPr lang="en-US" altLang="zh-CN" dirty="0">
                <a:sym typeface="Wingdings" panose="05000000000000000000" pitchFamily="2" charset="2"/>
              </a:rPr>
              <a:t>/ ** %</a:t>
            </a:r>
            <a:r>
              <a:rPr lang="zh-CN" altLang="en-US" dirty="0">
                <a:sym typeface="Wingdings" panose="05000000000000000000" pitchFamily="2" charset="2"/>
              </a:rPr>
              <a:t>等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举例：</a:t>
            </a:r>
            <a:r>
              <a:rPr lang="en-US" altLang="zh-CN" dirty="0"/>
              <a:t>x = 3.14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x = x ** 3 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 </a:t>
            </a:r>
            <a:r>
              <a:rPr lang="en-US" altLang="zh-CN" dirty="0"/>
              <a:t>x **= 3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448" y="1990984"/>
            <a:ext cx="4419632" cy="8763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870" y="3074710"/>
            <a:ext cx="2152666" cy="1928827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数字类型的关系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6170103" cy="3937000"/>
          </a:xfrm>
        </p:spPr>
        <p:txBody>
          <a:bodyPr/>
          <a:lstStyle/>
          <a:p>
            <a:r>
              <a:rPr lang="zh-CN" altLang="en-US" dirty="0"/>
              <a:t>类型间可进行混合运算，生成结果为</a:t>
            </a:r>
            <a:r>
              <a:rPr lang="en-US" altLang="zh-CN" dirty="0"/>
              <a:t>"</a:t>
            </a:r>
            <a:r>
              <a:rPr lang="zh-CN" altLang="en-US" dirty="0"/>
              <a:t>最宽</a:t>
            </a:r>
            <a:r>
              <a:rPr lang="en-US" altLang="zh-CN" dirty="0"/>
              <a:t>"</a:t>
            </a:r>
            <a:r>
              <a:rPr lang="zh-CN" altLang="en-US" dirty="0"/>
              <a:t>类型</a:t>
            </a:r>
            <a:endParaRPr lang="zh-CN" altLang="en-US" dirty="0"/>
          </a:p>
          <a:p>
            <a:pPr lvl="1"/>
            <a:r>
              <a:rPr lang="zh-CN" altLang="en-US" dirty="0"/>
              <a:t>三种类型存在一种逐渐</a:t>
            </a:r>
            <a:r>
              <a:rPr lang="en-US" altLang="zh-CN" dirty="0"/>
              <a:t>"</a:t>
            </a:r>
            <a:r>
              <a:rPr lang="zh-CN" altLang="en-US" dirty="0"/>
              <a:t>扩展</a:t>
            </a:r>
            <a:r>
              <a:rPr lang="en-US" altLang="zh-CN" dirty="0"/>
              <a:t>"</a:t>
            </a:r>
            <a:r>
              <a:rPr lang="zh-CN" altLang="en-US" dirty="0"/>
              <a:t>或</a:t>
            </a:r>
            <a:r>
              <a:rPr lang="en-US" altLang="zh-CN" dirty="0"/>
              <a:t>"</a:t>
            </a:r>
            <a:r>
              <a:rPr lang="zh-CN" altLang="en-US" dirty="0"/>
              <a:t>变宽</a:t>
            </a:r>
            <a:r>
              <a:rPr lang="en-US" altLang="zh-CN" dirty="0"/>
              <a:t>"</a:t>
            </a:r>
            <a:r>
              <a:rPr lang="zh-CN" altLang="en-US" dirty="0"/>
              <a:t>的关系：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		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	</a:t>
            </a:r>
            <a:r>
              <a:rPr lang="zh-CN" altLang="en-US" b="1" dirty="0"/>
              <a:t>整数</a:t>
            </a:r>
            <a:r>
              <a:rPr lang="en-US" altLang="zh-CN" b="1" dirty="0"/>
              <a:t>-&gt;</a:t>
            </a:r>
            <a:r>
              <a:rPr lang="zh-CN" altLang="en-US" b="1" dirty="0"/>
              <a:t>浮点数</a:t>
            </a:r>
            <a:r>
              <a:rPr lang="en-US" altLang="zh-CN" b="1" dirty="0">
                <a:solidFill>
                  <a:schemeClr val="bg2">
                    <a:lumMod val="90000"/>
                  </a:schemeClr>
                </a:solidFill>
              </a:rPr>
              <a:t>-&gt;  </a:t>
            </a:r>
            <a:r>
              <a:rPr lang="zh-CN" altLang="en-US" b="1" dirty="0">
                <a:solidFill>
                  <a:schemeClr val="bg2">
                    <a:lumMod val="90000"/>
                  </a:schemeClr>
                </a:solidFill>
              </a:rPr>
              <a:t>复数</a:t>
            </a:r>
            <a:endParaRPr lang="zh-CN" altLang="en-US" b="1" dirty="0">
              <a:solidFill>
                <a:schemeClr val="bg2">
                  <a:lumMod val="90000"/>
                </a:schemeClr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en-US" altLang="zh-CN" dirty="0"/>
              <a:t>123 + 4.0 = 127.0 (</a:t>
            </a:r>
            <a:r>
              <a:rPr lang="zh-CN" altLang="en-US" dirty="0"/>
              <a:t>整数</a:t>
            </a:r>
            <a:r>
              <a:rPr lang="en-US" altLang="zh-CN" dirty="0"/>
              <a:t>+</a:t>
            </a:r>
            <a:r>
              <a:rPr lang="zh-CN" altLang="en-US" dirty="0"/>
              <a:t>浮点数</a:t>
            </a:r>
            <a:r>
              <a:rPr lang="en-US" altLang="zh-CN" dirty="0"/>
              <a:t>= </a:t>
            </a:r>
            <a:r>
              <a:rPr lang="zh-CN" altLang="en-US" dirty="0"/>
              <a:t>浮点数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数值的类型判断与转换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819150"/>
            <a:ext cx="5971431" cy="3937000"/>
          </a:xfrm>
        </p:spPr>
        <p:txBody>
          <a:bodyPr/>
          <a:lstStyle/>
          <a:p>
            <a:r>
              <a:rPr lang="zh-CN" altLang="en-US" dirty="0"/>
              <a:t>数值类型判断：</a:t>
            </a:r>
            <a:r>
              <a:rPr lang="en-US" altLang="zh-CN" dirty="0">
                <a:solidFill>
                  <a:srgbClr val="FF0000"/>
                </a:solidFill>
              </a:rPr>
              <a:t>type(x)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：数值运算操作符可以隐式地转换输出结果的数字类型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：通过内置的数字类型转换函数可以显式地在数字类型之间进行转换 </a:t>
            </a:r>
            <a:r>
              <a:rPr lang="en-US" altLang="zh-CN" dirty="0">
                <a:solidFill>
                  <a:srgbClr val="FF0000"/>
                </a:solidFill>
              </a:rPr>
              <a:t>TYPE(x)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float(5)=5.0</a:t>
            </a:r>
            <a:r>
              <a:rPr lang="zh-CN" altLang="en-US" dirty="0"/>
              <a:t>（增加小数部分）</a:t>
            </a:r>
            <a:endParaRPr lang="zh-CN" altLang="en-US" dirty="0"/>
          </a:p>
          <a:p>
            <a:pPr lvl="1"/>
            <a:r>
              <a:rPr lang="en-US" altLang="zh-CN" dirty="0"/>
              <a:t>int(5.6)</a:t>
            </a:r>
            <a:r>
              <a:rPr lang="zh-CN" altLang="en-US" dirty="0"/>
              <a:t>返回</a:t>
            </a:r>
            <a:r>
              <a:rPr lang="en-US" altLang="zh-CN" dirty="0"/>
              <a:t>5</a:t>
            </a:r>
            <a:r>
              <a:rPr lang="zh-CN" altLang="en-US" dirty="0"/>
              <a:t>（直接去掉小数部分，有精度损失）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848" y="704850"/>
            <a:ext cx="2209056" cy="14623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1" y="2330187"/>
            <a:ext cx="1804947" cy="263238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/>
          <a:lstStyle/>
          <a:p>
            <a:r>
              <a:rPr lang="zh-CN" altLang="en-US" dirty="0"/>
              <a:t>数值运算函数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59" y="789640"/>
            <a:ext cx="4037203" cy="1498754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59" y="2288394"/>
            <a:ext cx="4037203" cy="129563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959" y="3584026"/>
            <a:ext cx="4037203" cy="128725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  <a:r>
              <a:rPr lang="zh-CN" altLang="en-US" dirty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848184" cy="3937000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Python</a:t>
            </a:r>
            <a:r>
              <a:rPr lang="zh-CN" altLang="en-US" sz="2100" dirty="0"/>
              <a:t>语言</a:t>
            </a:r>
            <a:r>
              <a:rPr lang="zh-CN" altLang="en-US" dirty="0"/>
              <a:t>本身提供的数值运算符号有限，是</a:t>
            </a:r>
            <a:r>
              <a:rPr lang="en-US" altLang="zh-CN" dirty="0"/>
              <a:t>Python</a:t>
            </a:r>
            <a:r>
              <a:rPr lang="zh-CN" altLang="en-US" dirty="0"/>
              <a:t>提供的内置数学类函数库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提供了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个数学常数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44</a:t>
            </a:r>
            <a:r>
              <a:rPr lang="zh-CN" altLang="en-US" dirty="0">
                <a:solidFill>
                  <a:srgbClr val="FF0000"/>
                </a:solidFill>
              </a:rPr>
              <a:t>个函数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dirty="0"/>
              <a:t>pi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zh-CN" altLang="en-US" dirty="0"/>
              <a:t>、无穷大、非数值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16</a:t>
            </a:r>
            <a:r>
              <a:rPr lang="zh-CN" altLang="en-US" dirty="0"/>
              <a:t>个数值表示函数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8</a:t>
            </a:r>
            <a:r>
              <a:rPr lang="zh-CN" altLang="en-US" dirty="0"/>
              <a:t>个幂对数函数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16</a:t>
            </a:r>
            <a:r>
              <a:rPr lang="zh-CN" altLang="en-US" dirty="0"/>
              <a:t>个三角对数函数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个高等特殊函数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使用方法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引入</a:t>
            </a:r>
            <a:r>
              <a:rPr lang="en-US" altLang="zh-CN" dirty="0"/>
              <a:t>math</a:t>
            </a:r>
            <a:r>
              <a:rPr lang="zh-CN" altLang="en-US" dirty="0"/>
              <a:t>库：</a:t>
            </a:r>
            <a:r>
              <a:rPr lang="en-US" altLang="zh-CN" dirty="0">
                <a:solidFill>
                  <a:srgbClr val="FF0000"/>
                </a:solidFill>
              </a:rPr>
              <a:t>import math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调用</a:t>
            </a:r>
            <a:r>
              <a:rPr lang="en-US" altLang="zh-CN" dirty="0"/>
              <a:t>math</a:t>
            </a:r>
            <a:r>
              <a:rPr lang="zh-CN" altLang="en-US" dirty="0"/>
              <a:t>库中的功能函数，如：</a:t>
            </a:r>
            <a:r>
              <a:rPr lang="en-US" altLang="zh-CN" dirty="0" err="1">
                <a:solidFill>
                  <a:srgbClr val="FF0000"/>
                </a:solidFill>
              </a:rPr>
              <a:t>math</a:t>
            </a:r>
            <a:r>
              <a:rPr lang="en-US" altLang="zh-CN" dirty="0" err="1"/>
              <a:t>.cos</a:t>
            </a:r>
            <a:r>
              <a:rPr lang="en-US" altLang="zh-CN" dirty="0"/>
              <a:t>(</a:t>
            </a:r>
            <a:r>
              <a:rPr lang="en-US" altLang="zh-CN" dirty="0" err="1"/>
              <a:t>math.pi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注意：计算机无法直接表示无理数，用</a:t>
            </a:r>
            <a:r>
              <a:rPr lang="en-US" altLang="zh-CN" dirty="0"/>
              <a:t>float</a:t>
            </a:r>
            <a:r>
              <a:rPr lang="zh-CN" altLang="en-US" dirty="0"/>
              <a:t>近似表达，有精度损失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703" y="819150"/>
            <a:ext cx="2670343" cy="15781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703" y="2637549"/>
            <a:ext cx="2507643" cy="174759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  <a:r>
              <a:rPr lang="zh-CN" altLang="en-US" dirty="0"/>
              <a:t>库中的函数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9" y="1097141"/>
            <a:ext cx="4189134" cy="2551841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01"/>
          <a:stretch>
            <a:fillRect/>
          </a:stretch>
        </p:blipFill>
        <p:spPr>
          <a:xfrm>
            <a:off x="4423275" y="1097140"/>
            <a:ext cx="4827905" cy="2551841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  <a:r>
              <a:rPr lang="zh-CN" altLang="en-US" dirty="0"/>
              <a:t>库中的函数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9" y="900995"/>
            <a:ext cx="4210615" cy="318239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501" y="900995"/>
            <a:ext cx="5423854" cy="23791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DayDayUp365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问题：一年</a:t>
            </a:r>
            <a:r>
              <a:rPr lang="en-US" altLang="zh-CN" dirty="0"/>
              <a:t>365</a:t>
            </a:r>
            <a:r>
              <a:rPr lang="zh-CN" altLang="en-US" dirty="0"/>
              <a:t>天，如果好好学习时能力值相比前一天提高</a:t>
            </a:r>
            <a:r>
              <a:rPr lang="en-US" altLang="zh-CN" dirty="0"/>
              <a:t>1‰</a:t>
            </a:r>
            <a:r>
              <a:rPr lang="zh-CN" altLang="en-US" dirty="0"/>
              <a:t>，当放任时相比前一天下降</a:t>
            </a:r>
            <a:r>
              <a:rPr lang="en-US" altLang="zh-CN" dirty="0"/>
              <a:t>1‰</a:t>
            </a:r>
            <a:r>
              <a:rPr lang="zh-CN" altLang="en-US" dirty="0"/>
              <a:t>。效果相差多少呢？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课堂练习：输入上述程序，试试提高</a:t>
            </a:r>
            <a:r>
              <a:rPr lang="en-US" altLang="zh-CN" dirty="0"/>
              <a:t>ratio</a:t>
            </a:r>
            <a:r>
              <a:rPr lang="zh-CN" altLang="en-US" dirty="0"/>
              <a:t>（比如：</a:t>
            </a:r>
            <a:r>
              <a:rPr lang="en-US" altLang="zh-CN" dirty="0"/>
              <a:t>5‰</a:t>
            </a:r>
            <a:r>
              <a:rPr lang="zh-CN" altLang="en-US" dirty="0"/>
              <a:t>、</a:t>
            </a:r>
            <a:r>
              <a:rPr lang="en-US" altLang="zh-CN" dirty="0"/>
              <a:t>1%)</a:t>
            </a:r>
            <a:r>
              <a:rPr lang="zh-CN" altLang="en-US" dirty="0"/>
              <a:t>，感受一下指数的力量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78" y="1571123"/>
            <a:ext cx="5269158" cy="14623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zh-CN" dirty="0"/>
              <a:t>关系</a:t>
            </a:r>
            <a:r>
              <a:rPr lang="zh-CN" altLang="zh-CN" dirty="0">
                <a:solidFill>
                  <a:srgbClr val="FF0000"/>
                </a:solidFill>
              </a:rPr>
              <a:t>运算符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000000"/>
                </a:solidFill>
              </a:rPr>
              <a:t>Relational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Operators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392" y="890712"/>
            <a:ext cx="3812650" cy="3937000"/>
          </a:xfrm>
        </p:spPr>
        <p:txBody>
          <a:bodyPr/>
          <a:lstStyle/>
          <a:p>
            <a:r>
              <a:rPr lang="zh-CN" altLang="en-US" sz="1800" dirty="0"/>
              <a:t>判断一个数 </a:t>
            </a:r>
            <a:r>
              <a:rPr lang="en-US" altLang="zh-CN" sz="1800" dirty="0"/>
              <a:t>x</a:t>
            </a:r>
            <a:r>
              <a:rPr lang="zh-CN" altLang="en-US" sz="1800" dirty="0"/>
              <a:t> 是否为偶数</a:t>
            </a:r>
            <a:endParaRPr lang="en-US" altLang="zh-CN" sz="1800" dirty="0"/>
          </a:p>
          <a:p>
            <a:pPr lvl="1"/>
            <a:r>
              <a:rPr lang="en-US" altLang="zh-CN" sz="1500" dirty="0"/>
              <a:t>x % 2 </a:t>
            </a:r>
            <a:r>
              <a:rPr lang="zh-CN" altLang="en-US" sz="1500" dirty="0"/>
              <a:t>是否等于 </a:t>
            </a:r>
            <a:r>
              <a:rPr lang="en-US" altLang="zh-CN" sz="1500" dirty="0"/>
              <a:t>0</a:t>
            </a:r>
            <a:endParaRPr lang="en-US" altLang="zh-CN" sz="1500" dirty="0"/>
          </a:p>
          <a:p>
            <a:pPr lvl="1"/>
            <a:r>
              <a:rPr lang="en-US" altLang="zh-CN" sz="1500" dirty="0"/>
              <a:t>x % 2 == 0</a:t>
            </a:r>
            <a:endParaRPr lang="en-US" altLang="zh-CN" sz="1500" dirty="0"/>
          </a:p>
          <a:p>
            <a:pPr lvl="1"/>
            <a:r>
              <a:rPr lang="zh-CN" altLang="en-US" sz="1500" dirty="0"/>
              <a:t>若为</a:t>
            </a:r>
            <a:r>
              <a:rPr lang="en-US" altLang="zh-CN" sz="1500" dirty="0">
                <a:solidFill>
                  <a:srgbClr val="800000"/>
                </a:solidFill>
              </a:rPr>
              <a:t>True</a:t>
            </a:r>
            <a:r>
              <a:rPr lang="zh-CN" altLang="en-US" sz="1500" dirty="0"/>
              <a:t>，则 </a:t>
            </a:r>
            <a:r>
              <a:rPr lang="en-US" altLang="zh-CN" sz="1500" dirty="0"/>
              <a:t>x</a:t>
            </a:r>
            <a:r>
              <a:rPr lang="zh-CN" altLang="en-US" sz="1500" dirty="0"/>
              <a:t> 为偶数</a:t>
            </a:r>
            <a:endParaRPr lang="en-US" altLang="zh-CN" sz="1500" dirty="0"/>
          </a:p>
          <a:p>
            <a:pPr lvl="1"/>
            <a:r>
              <a:rPr lang="zh-CN" altLang="en-US" sz="1500" dirty="0"/>
              <a:t>若为</a:t>
            </a:r>
            <a:r>
              <a:rPr lang="en-US" altLang="zh-CN" sz="1500" dirty="0">
                <a:solidFill>
                  <a:srgbClr val="800000"/>
                </a:solidFill>
              </a:rPr>
              <a:t>False</a:t>
            </a:r>
            <a:r>
              <a:rPr lang="zh-CN" altLang="en-US" sz="1500" dirty="0"/>
              <a:t>，则 </a:t>
            </a:r>
            <a:r>
              <a:rPr lang="en-US" altLang="zh-CN" sz="1500" dirty="0"/>
              <a:t>x</a:t>
            </a:r>
            <a:r>
              <a:rPr lang="zh-CN" altLang="en-US" sz="1500" dirty="0"/>
              <a:t> 为奇数</a:t>
            </a:r>
            <a:endParaRPr lang="en-US" altLang="zh-CN" sz="1500" dirty="0"/>
          </a:p>
          <a:p>
            <a:r>
              <a:rPr lang="zh-CN" altLang="en-US" sz="1800" dirty="0"/>
              <a:t>用于判断两个值的关系</a:t>
            </a:r>
            <a:endParaRPr lang="en-US" altLang="zh-CN" sz="1800" dirty="0"/>
          </a:p>
          <a:p>
            <a:pPr lvl="1"/>
            <a:r>
              <a:rPr lang="zh-CN" altLang="en-US" sz="1500" dirty="0"/>
              <a:t>大小、相等或不相等</a:t>
            </a:r>
            <a:endParaRPr lang="en-US" altLang="zh-CN" sz="1500" dirty="0"/>
          </a:p>
          <a:p>
            <a:r>
              <a:rPr lang="zh-CN" altLang="en-US" sz="1800" dirty="0"/>
              <a:t>运算的结果只有两种（布尔型）</a:t>
            </a:r>
            <a:endParaRPr lang="en-US" altLang="zh-CN" sz="1800" dirty="0"/>
          </a:p>
          <a:p>
            <a:pPr lvl="1"/>
            <a:r>
              <a:rPr lang="zh-CN" altLang="en-US" sz="1500" dirty="0"/>
              <a:t>若结果为</a:t>
            </a:r>
            <a:r>
              <a:rPr lang="en-US" altLang="zh-CN" sz="1500" dirty="0"/>
              <a:t>True</a:t>
            </a:r>
            <a:r>
              <a:rPr lang="zh-CN" altLang="en-US" sz="1500" dirty="0"/>
              <a:t>，表示条件成立</a:t>
            </a:r>
            <a:endParaRPr lang="en-US" altLang="zh-CN" sz="1500" dirty="0"/>
          </a:p>
          <a:p>
            <a:pPr lvl="1"/>
            <a:r>
              <a:rPr lang="zh-CN" altLang="en-US" sz="1500" dirty="0"/>
              <a:t>若结果为</a:t>
            </a:r>
            <a:r>
              <a:rPr lang="en-US" altLang="zh-CN" sz="1500" dirty="0"/>
              <a:t>False</a:t>
            </a:r>
            <a:r>
              <a:rPr lang="zh-CN" altLang="en-US" sz="1500" dirty="0"/>
              <a:t>，表示条件不成立</a:t>
            </a:r>
            <a:endParaRPr lang="en-US" altLang="zh-CN" sz="1500" dirty="0"/>
          </a:p>
        </p:txBody>
      </p:sp>
      <p:graphicFrame>
        <p:nvGraphicFramePr>
          <p:cNvPr id="4" name="Table 6"/>
          <p:cNvGraphicFramePr>
            <a:graphicFrameLocks noGrp="1"/>
          </p:cNvGraphicFramePr>
          <p:nvPr/>
        </p:nvGraphicFramePr>
        <p:xfrm>
          <a:off x="4079170" y="1188720"/>
          <a:ext cx="5064830" cy="27660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63614"/>
                <a:gridCol w="2303057"/>
                <a:gridCol w="1698159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关系运算符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举例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等于（equal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== 20 is False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!= 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&lt;&gt;</a:t>
                      </a:r>
                      <a:endParaRPr lang="en-US" sz="1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不等于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 equal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!= 20 is</a:t>
                      </a:r>
                      <a:r>
                        <a:rPr 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True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&gt;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大于（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greater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&gt; 20 is False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小于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less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&lt; 20 is True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&gt;=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大于等于（greater</a:t>
                      </a: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or equal）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&gt;= 20 is False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&lt;=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小于等于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less or equal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&lt;= 20 is True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逻辑运算符（Logical</a:t>
            </a:r>
            <a:r>
              <a:rPr lang="en-US" dirty="0"/>
              <a:t> Operators）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1500" dirty="0"/>
              <a:t>现实世界中处处体现逻辑</a:t>
            </a:r>
            <a:endParaRPr lang="zh-TW" altLang="en-US" sz="1500" dirty="0"/>
          </a:p>
          <a:p>
            <a:pPr lvl="1"/>
            <a:r>
              <a:rPr lang="zh-TW" altLang="en-US" sz="1350" dirty="0"/>
              <a:t>你们班有没有身高一米九以上的男生？</a:t>
            </a:r>
            <a:endParaRPr lang="en-US" altLang="zh-TW" sz="1350" dirty="0"/>
          </a:p>
          <a:p>
            <a:pPr lvl="1"/>
            <a:r>
              <a:rPr lang="zh-CN" altLang="en-US" sz="1350" dirty="0"/>
              <a:t>地铁里禁止喝水吃东西</a:t>
            </a:r>
            <a:endParaRPr lang="zh-TW" altLang="en-US" sz="1350" dirty="0"/>
          </a:p>
          <a:p>
            <a:pPr lvl="1"/>
            <a:r>
              <a:rPr lang="en-US" altLang="zh-TW" sz="1350" dirty="0"/>
              <a:t>……</a:t>
            </a:r>
            <a:endParaRPr lang="en-US" altLang="zh-TW" sz="1350" dirty="0"/>
          </a:p>
          <a:p>
            <a:r>
              <a:rPr lang="zh-CN" altLang="en-US" sz="1500" dirty="0"/>
              <a:t>逻辑运算符</a:t>
            </a:r>
            <a:endParaRPr lang="en-US" altLang="zh-CN" sz="1500" dirty="0"/>
          </a:p>
          <a:p>
            <a:endParaRPr lang="en-US" altLang="zh-TW" sz="1500" dirty="0"/>
          </a:p>
          <a:p>
            <a:endParaRPr lang="en-US" altLang="zh-TW" sz="1500" dirty="0"/>
          </a:p>
          <a:p>
            <a:endParaRPr lang="en-US" altLang="zh-TW" sz="1500" dirty="0"/>
          </a:p>
          <a:p>
            <a:endParaRPr lang="en-US" altLang="zh-TW" sz="1500" dirty="0"/>
          </a:p>
          <a:p>
            <a:endParaRPr lang="en-US" sz="15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48401" y="2297926"/>
          <a:ext cx="5943960" cy="216264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52288"/>
                <a:gridCol w="2229485"/>
                <a:gridCol w="2262187"/>
              </a:tblGrid>
              <a:tr h="5387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关系运算符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含义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举例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5462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and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与（全真才真）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 and False == False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5387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or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或（全假才假）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 or False == True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  <a:tr h="5387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非（真变假、假变真）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</a:t>
                      </a:r>
                      <a:r>
                        <a:rPr 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True == False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83471" y="1091734"/>
            <a:ext cx="21034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身高 &gt; 1.9 and 性别 == 男 </a:t>
            </a:r>
            <a:endParaRPr 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46040" y="1364318"/>
            <a:ext cx="1662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禁止：喝水 or 吃东西</a:t>
            </a:r>
            <a:endParaRPr 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/>
          <p:nvPr/>
        </p:nvGrpSpPr>
        <p:grpSpPr bwMode="auto">
          <a:xfrm>
            <a:off x="143263" y="760701"/>
            <a:ext cx="4644461" cy="1079897"/>
            <a:chOff x="899592" y="548680"/>
            <a:chExt cx="7416824" cy="1440160"/>
          </a:xfrm>
        </p:grpSpPr>
        <p:grpSp>
          <p:nvGrpSpPr>
            <p:cNvPr id="35873" name="Group 20"/>
            <p:cNvGrpSpPr/>
            <p:nvPr/>
          </p:nvGrpSpPr>
          <p:grpSpPr bwMode="auto">
            <a:xfrm>
              <a:off x="899592" y="693173"/>
              <a:ext cx="1439867" cy="1079723"/>
              <a:chOff x="899592" y="693173"/>
              <a:chExt cx="1439867" cy="1079723"/>
            </a:xfrm>
          </p:grpSpPr>
          <p:sp>
            <p:nvSpPr>
              <p:cNvPr id="3" name="Isosceles Triangle 2"/>
              <p:cNvSpPr/>
              <p:nvPr/>
            </p:nvSpPr>
            <p:spPr>
              <a:xfrm>
                <a:off x="899592" y="693173"/>
                <a:ext cx="1439867" cy="1079723"/>
              </a:xfrm>
              <a:prstGeom prst="triangl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7" name="TextBox 8"/>
              <p:cNvSpPr txBox="1">
                <a:spLocks noChangeArrowheads="1"/>
              </p:cNvSpPr>
              <p:nvPr/>
            </p:nvSpPr>
            <p:spPr bwMode="auto">
              <a:xfrm>
                <a:off x="1244188" y="1196752"/>
                <a:ext cx="663516" cy="288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5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8" name="TextBox 9"/>
              <p:cNvSpPr txBox="1">
                <a:spLocks noChangeArrowheads="1"/>
              </p:cNvSpPr>
              <p:nvPr/>
            </p:nvSpPr>
            <p:spPr bwMode="auto">
              <a:xfrm>
                <a:off x="1403648" y="1052737"/>
                <a:ext cx="432048" cy="430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</a:t>
                </a:r>
                <a:endParaRPr lang="zh-CN" altLang="en-US" sz="15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4" name="Group 17"/>
            <p:cNvGrpSpPr/>
            <p:nvPr/>
          </p:nvGrpSpPr>
          <p:grpSpPr bwMode="auto">
            <a:xfrm>
              <a:off x="2483922" y="548680"/>
              <a:ext cx="1295404" cy="1295667"/>
              <a:chOff x="2483922" y="548680"/>
              <a:chExt cx="1295404" cy="1295667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483922" y="548680"/>
                <a:ext cx="1295404" cy="1295667"/>
              </a:xfrm>
              <a:prstGeom prst="ellips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5" name="TextBox 10"/>
              <p:cNvSpPr txBox="1">
                <a:spLocks noChangeArrowheads="1"/>
              </p:cNvSpPr>
              <p:nvPr/>
            </p:nvSpPr>
            <p:spPr bwMode="auto">
              <a:xfrm>
                <a:off x="2915816" y="980728"/>
                <a:ext cx="432048" cy="430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endParaRPr lang="zh-CN" altLang="en-US" sz="15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5" name="Group 16"/>
            <p:cNvGrpSpPr/>
            <p:nvPr/>
          </p:nvGrpSpPr>
          <p:grpSpPr bwMode="auto">
            <a:xfrm>
              <a:off x="4068252" y="693173"/>
              <a:ext cx="1223966" cy="1151175"/>
              <a:chOff x="4068252" y="693173"/>
              <a:chExt cx="1223966" cy="1151175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4068252" y="693173"/>
                <a:ext cx="1223966" cy="115117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3" name="TextBox 11"/>
              <p:cNvSpPr txBox="1">
                <a:spLocks noChangeArrowheads="1"/>
              </p:cNvSpPr>
              <p:nvPr/>
            </p:nvSpPr>
            <p:spPr bwMode="auto">
              <a:xfrm>
                <a:off x="4499992" y="1052735"/>
                <a:ext cx="432048" cy="430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</a:t>
                </a:r>
                <a:endParaRPr lang="zh-CN" altLang="en-US" sz="15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6" name="Group 15"/>
            <p:cNvGrpSpPr/>
            <p:nvPr/>
          </p:nvGrpSpPr>
          <p:grpSpPr bwMode="auto">
            <a:xfrm>
              <a:off x="5436682" y="764625"/>
              <a:ext cx="1439867" cy="1079723"/>
              <a:chOff x="5436682" y="764625"/>
              <a:chExt cx="1439867" cy="1079723"/>
            </a:xfrm>
          </p:grpSpPr>
          <p:sp>
            <p:nvSpPr>
              <p:cNvPr id="8" name="Isosceles Triangle 7"/>
              <p:cNvSpPr/>
              <p:nvPr/>
            </p:nvSpPr>
            <p:spPr>
              <a:xfrm>
                <a:off x="5436682" y="764625"/>
                <a:ext cx="1439867" cy="1079723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1" name="TextBox 12"/>
              <p:cNvSpPr txBox="1">
                <a:spLocks noChangeArrowheads="1"/>
              </p:cNvSpPr>
              <p:nvPr/>
            </p:nvSpPr>
            <p:spPr bwMode="auto">
              <a:xfrm>
                <a:off x="5940152" y="1116595"/>
                <a:ext cx="432049" cy="430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</a:t>
                </a:r>
                <a:endPara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7" name="Group 14"/>
            <p:cNvGrpSpPr/>
            <p:nvPr/>
          </p:nvGrpSpPr>
          <p:grpSpPr bwMode="auto">
            <a:xfrm>
              <a:off x="6876548" y="620133"/>
              <a:ext cx="1439868" cy="1368707"/>
              <a:chOff x="6876548" y="620133"/>
              <a:chExt cx="1439868" cy="1368707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6876548" y="620133"/>
                <a:ext cx="1439868" cy="136870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79" name="TextBox 13"/>
              <p:cNvSpPr txBox="1">
                <a:spLocks noChangeArrowheads="1"/>
              </p:cNvSpPr>
              <p:nvPr/>
            </p:nvSpPr>
            <p:spPr bwMode="auto">
              <a:xfrm>
                <a:off x="7452320" y="1095127"/>
                <a:ext cx="432050" cy="4309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5</a:t>
                </a:r>
                <a:endParaRPr lang="zh-CN" altLang="en-US" sz="15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255372" y="1820184"/>
            <a:ext cx="356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该图形是否为红色三角形？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Group 25"/>
          <p:cNvGrpSpPr/>
          <p:nvPr/>
        </p:nvGrpSpPr>
        <p:grpSpPr bwMode="auto">
          <a:xfrm>
            <a:off x="877961" y="2252380"/>
            <a:ext cx="1727597" cy="624136"/>
            <a:chOff x="756256" y="4005064"/>
            <a:chExt cx="2303576" cy="832134"/>
          </a:xfrm>
        </p:grpSpPr>
        <p:sp>
          <p:nvSpPr>
            <p:cNvPr id="35871" name="TextBox 21"/>
            <p:cNvSpPr txBox="1">
              <a:spLocks noChangeArrowheads="1"/>
            </p:cNvSpPr>
            <p:nvPr/>
          </p:nvSpPr>
          <p:spPr bwMode="auto">
            <a:xfrm>
              <a:off x="756256" y="4005064"/>
              <a:ext cx="2303576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颜色 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==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红色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872" name="TextBox 22"/>
            <p:cNvSpPr txBox="1">
              <a:spLocks noChangeArrowheads="1"/>
            </p:cNvSpPr>
            <p:nvPr/>
          </p:nvSpPr>
          <p:spPr bwMode="auto">
            <a:xfrm>
              <a:off x="1475578" y="4437111"/>
              <a:ext cx="360040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Group 26"/>
          <p:cNvGrpSpPr/>
          <p:nvPr/>
        </p:nvGrpSpPr>
        <p:grpSpPr bwMode="auto">
          <a:xfrm>
            <a:off x="2818760" y="2258580"/>
            <a:ext cx="2538228" cy="677920"/>
            <a:chOff x="4499992" y="3933056"/>
            <a:chExt cx="3384902" cy="904382"/>
          </a:xfrm>
        </p:grpSpPr>
        <p:sp>
          <p:nvSpPr>
            <p:cNvPr id="35869" name="TextBox 23"/>
            <p:cNvSpPr txBox="1">
              <a:spLocks noChangeArrowheads="1"/>
            </p:cNvSpPr>
            <p:nvPr/>
          </p:nvSpPr>
          <p:spPr bwMode="auto">
            <a:xfrm>
              <a:off x="4499992" y="3933056"/>
              <a:ext cx="3384902" cy="40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形状 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== 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三角形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870" name="TextBox 24"/>
            <p:cNvSpPr txBox="1">
              <a:spLocks noChangeArrowheads="1"/>
            </p:cNvSpPr>
            <p:nvPr/>
          </p:nvSpPr>
          <p:spPr bwMode="auto">
            <a:xfrm>
              <a:off x="5076158" y="4437112"/>
              <a:ext cx="360040" cy="40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</a:t>
              </a:r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281521" y="2252380"/>
            <a:ext cx="6477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661341" y="2953659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1417388" y="295365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3252775" y="295365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09510" y="295365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661341" y="3332277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417388" y="333227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252775" y="333227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009510" y="333227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61341" y="3688274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1417388" y="368827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3252775" y="368827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4009510" y="368827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61341" y="4034746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417388" y="4034746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252775" y="4034746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009510" y="4034746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661341" y="4369311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417388" y="4369311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3252775" y="4369311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4009510" y="4369311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51143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逻辑运算示例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3" name="Group 6"/>
          <p:cNvGraphicFramePr>
            <a:graphicFrameLocks noGrp="1"/>
          </p:cNvGraphicFramePr>
          <p:nvPr/>
        </p:nvGraphicFramePr>
        <p:xfrm>
          <a:off x="5526663" y="2571750"/>
          <a:ext cx="3468291" cy="1714500"/>
        </p:xfrm>
        <a:graphic>
          <a:graphicData uri="http://schemas.openxmlformats.org/drawingml/2006/table">
            <a:tbl>
              <a:tblPr/>
              <a:tblGrid>
                <a:gridCol w="1132284"/>
                <a:gridCol w="1062038"/>
                <a:gridCol w="1273969"/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and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B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" name="TextBox 24"/>
          <p:cNvSpPr txBox="1">
            <a:spLocks noChangeArrowheads="1"/>
          </p:cNvSpPr>
          <p:nvPr/>
        </p:nvSpPr>
        <p:spPr bwMode="auto">
          <a:xfrm>
            <a:off x="3694929" y="2625620"/>
            <a:ext cx="99343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and B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37" grpId="0"/>
      <p:bldP spid="38" grpId="0"/>
      <p:bldP spid="39" grpId="0"/>
      <p:bldP spid="40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/>
          <p:nvPr/>
        </p:nvGrpSpPr>
        <p:grpSpPr bwMode="auto">
          <a:xfrm>
            <a:off x="350064" y="807734"/>
            <a:ext cx="4374431" cy="1079897"/>
            <a:chOff x="899592" y="548680"/>
            <a:chExt cx="7416824" cy="1440160"/>
          </a:xfrm>
        </p:grpSpPr>
        <p:grpSp>
          <p:nvGrpSpPr>
            <p:cNvPr id="35873" name="Group 20"/>
            <p:cNvGrpSpPr/>
            <p:nvPr/>
          </p:nvGrpSpPr>
          <p:grpSpPr bwMode="auto">
            <a:xfrm>
              <a:off x="899592" y="693173"/>
              <a:ext cx="1439867" cy="1079723"/>
              <a:chOff x="899592" y="693173"/>
              <a:chExt cx="1439867" cy="1079723"/>
            </a:xfrm>
          </p:grpSpPr>
          <p:sp>
            <p:nvSpPr>
              <p:cNvPr id="3" name="Isosceles Triangle 2"/>
              <p:cNvSpPr/>
              <p:nvPr/>
            </p:nvSpPr>
            <p:spPr>
              <a:xfrm>
                <a:off x="899592" y="693173"/>
                <a:ext cx="1439867" cy="1079723"/>
              </a:xfrm>
              <a:prstGeom prst="triangl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7" name="TextBox 8"/>
              <p:cNvSpPr txBox="1">
                <a:spLocks noChangeArrowheads="1"/>
              </p:cNvSpPr>
              <p:nvPr/>
            </p:nvSpPr>
            <p:spPr bwMode="auto">
              <a:xfrm>
                <a:off x="1242367" y="1196752"/>
                <a:ext cx="665338" cy="288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8" name="TextBox 9"/>
              <p:cNvSpPr txBox="1">
                <a:spLocks noChangeArrowheads="1"/>
              </p:cNvSpPr>
              <p:nvPr/>
            </p:nvSpPr>
            <p:spPr bwMode="auto">
              <a:xfrm>
                <a:off x="1403647" y="1052737"/>
                <a:ext cx="432049" cy="400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</a:t>
                </a: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4" name="Group 17"/>
            <p:cNvGrpSpPr/>
            <p:nvPr/>
          </p:nvGrpSpPr>
          <p:grpSpPr bwMode="auto">
            <a:xfrm>
              <a:off x="2483922" y="548680"/>
              <a:ext cx="1295404" cy="1295667"/>
              <a:chOff x="2483922" y="548680"/>
              <a:chExt cx="1295404" cy="1295667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483922" y="548680"/>
                <a:ext cx="1295404" cy="1295667"/>
              </a:xfrm>
              <a:prstGeom prst="ellips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5" name="TextBox 10"/>
              <p:cNvSpPr txBox="1">
                <a:spLocks noChangeArrowheads="1"/>
              </p:cNvSpPr>
              <p:nvPr/>
            </p:nvSpPr>
            <p:spPr bwMode="auto">
              <a:xfrm>
                <a:off x="2915817" y="980728"/>
                <a:ext cx="432048" cy="400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5" name="Group 16"/>
            <p:cNvGrpSpPr/>
            <p:nvPr/>
          </p:nvGrpSpPr>
          <p:grpSpPr bwMode="auto">
            <a:xfrm>
              <a:off x="4068252" y="693173"/>
              <a:ext cx="1223966" cy="1151175"/>
              <a:chOff x="4068252" y="693173"/>
              <a:chExt cx="1223966" cy="1151175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4068252" y="693173"/>
                <a:ext cx="1223966" cy="115117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3" name="TextBox 11"/>
              <p:cNvSpPr txBox="1">
                <a:spLocks noChangeArrowheads="1"/>
              </p:cNvSpPr>
              <p:nvPr/>
            </p:nvSpPr>
            <p:spPr bwMode="auto">
              <a:xfrm>
                <a:off x="4499991" y="1052735"/>
                <a:ext cx="432049" cy="400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</a:t>
                </a: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6" name="Group 15"/>
            <p:cNvGrpSpPr/>
            <p:nvPr/>
          </p:nvGrpSpPr>
          <p:grpSpPr bwMode="auto">
            <a:xfrm>
              <a:off x="5436682" y="764625"/>
              <a:ext cx="1439867" cy="1079723"/>
              <a:chOff x="5436682" y="764625"/>
              <a:chExt cx="1439867" cy="1079723"/>
            </a:xfrm>
          </p:grpSpPr>
          <p:sp>
            <p:nvSpPr>
              <p:cNvPr id="8" name="Isosceles Triangle 7"/>
              <p:cNvSpPr/>
              <p:nvPr/>
            </p:nvSpPr>
            <p:spPr>
              <a:xfrm>
                <a:off x="5436682" y="764625"/>
                <a:ext cx="1439867" cy="1079723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1" name="TextBox 12"/>
              <p:cNvSpPr txBox="1">
                <a:spLocks noChangeArrowheads="1"/>
              </p:cNvSpPr>
              <p:nvPr/>
            </p:nvSpPr>
            <p:spPr bwMode="auto">
              <a:xfrm>
                <a:off x="5940152" y="1116595"/>
                <a:ext cx="432049" cy="400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</a:t>
                </a:r>
                <a:endPara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7" name="Group 14"/>
            <p:cNvGrpSpPr/>
            <p:nvPr/>
          </p:nvGrpSpPr>
          <p:grpSpPr bwMode="auto">
            <a:xfrm>
              <a:off x="6876548" y="620133"/>
              <a:ext cx="1439868" cy="1368707"/>
              <a:chOff x="6876548" y="620133"/>
              <a:chExt cx="1439868" cy="1368707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6876548" y="620133"/>
                <a:ext cx="1439868" cy="136870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79" name="TextBox 13"/>
              <p:cNvSpPr txBox="1">
                <a:spLocks noChangeArrowheads="1"/>
              </p:cNvSpPr>
              <p:nvPr/>
            </p:nvSpPr>
            <p:spPr bwMode="auto">
              <a:xfrm>
                <a:off x="7452319" y="1095127"/>
                <a:ext cx="432049" cy="400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5</a:t>
                </a: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035614" y="1901227"/>
            <a:ext cx="356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该图形是否为红色或三角形？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Group 25"/>
          <p:cNvGrpSpPr/>
          <p:nvPr/>
        </p:nvGrpSpPr>
        <p:grpSpPr bwMode="auto">
          <a:xfrm>
            <a:off x="873689" y="2333427"/>
            <a:ext cx="1727597" cy="624137"/>
            <a:chOff x="756256" y="4005064"/>
            <a:chExt cx="2303576" cy="832136"/>
          </a:xfrm>
        </p:grpSpPr>
        <p:sp>
          <p:nvSpPr>
            <p:cNvPr id="35871" name="TextBox 21"/>
            <p:cNvSpPr txBox="1">
              <a:spLocks noChangeArrowheads="1"/>
            </p:cNvSpPr>
            <p:nvPr/>
          </p:nvSpPr>
          <p:spPr bwMode="auto">
            <a:xfrm>
              <a:off x="756256" y="4005064"/>
              <a:ext cx="2303576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颜色 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==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红色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872" name="TextBox 22"/>
            <p:cNvSpPr txBox="1">
              <a:spLocks noChangeArrowheads="1"/>
            </p:cNvSpPr>
            <p:nvPr/>
          </p:nvSpPr>
          <p:spPr bwMode="auto">
            <a:xfrm>
              <a:off x="1260262" y="4437113"/>
              <a:ext cx="360040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Group 26"/>
          <p:cNvGrpSpPr/>
          <p:nvPr/>
        </p:nvGrpSpPr>
        <p:grpSpPr bwMode="auto">
          <a:xfrm>
            <a:off x="2493811" y="2333419"/>
            <a:ext cx="2538228" cy="677920"/>
            <a:chOff x="4499992" y="3933056"/>
            <a:chExt cx="3384902" cy="904382"/>
          </a:xfrm>
        </p:grpSpPr>
        <p:sp>
          <p:nvSpPr>
            <p:cNvPr id="35869" name="TextBox 23"/>
            <p:cNvSpPr txBox="1">
              <a:spLocks noChangeArrowheads="1"/>
            </p:cNvSpPr>
            <p:nvPr/>
          </p:nvSpPr>
          <p:spPr bwMode="auto">
            <a:xfrm>
              <a:off x="4499992" y="3933056"/>
              <a:ext cx="3384902" cy="40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形状 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== 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三角形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870" name="TextBox 24"/>
            <p:cNvSpPr txBox="1">
              <a:spLocks noChangeArrowheads="1"/>
            </p:cNvSpPr>
            <p:nvPr/>
          </p:nvSpPr>
          <p:spPr bwMode="auto">
            <a:xfrm>
              <a:off x="4932116" y="4437112"/>
              <a:ext cx="360040" cy="40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</a:t>
              </a:r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115769" y="2333423"/>
            <a:ext cx="6477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495589" y="3034702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1251636" y="3034702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816993" y="3034702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951974" y="3034702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95589" y="3413320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251636" y="3413320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2816993" y="3413320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951974" y="3413320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95589" y="3769317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1251636" y="376931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2816993" y="376931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3951974" y="376931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495589" y="4115789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251636" y="411578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2816993" y="411578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3951974" y="411578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95589" y="4450354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251636" y="445035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2816993" y="445035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3951974" y="445035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0894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逻辑运算示例</a:t>
            </a:r>
            <a:endParaRPr 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TextBox 24"/>
          <p:cNvSpPr txBox="1">
            <a:spLocks noChangeArrowheads="1"/>
          </p:cNvSpPr>
          <p:nvPr/>
        </p:nvSpPr>
        <p:spPr bwMode="auto">
          <a:xfrm>
            <a:off x="3694929" y="2625620"/>
            <a:ext cx="99343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or B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4" name="Group 86"/>
          <p:cNvGraphicFramePr>
            <a:graphicFrameLocks noGrp="1"/>
          </p:cNvGraphicFramePr>
          <p:nvPr/>
        </p:nvGraphicFramePr>
        <p:xfrm>
          <a:off x="5126846" y="2711257"/>
          <a:ext cx="3469500" cy="1714500"/>
        </p:xfrm>
        <a:graphic>
          <a:graphicData uri="http://schemas.openxmlformats.org/drawingml/2006/table">
            <a:tbl>
              <a:tblPr/>
              <a:tblGrid>
                <a:gridCol w="1133035"/>
                <a:gridCol w="1062639"/>
                <a:gridCol w="1273826"/>
              </a:tblGrid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or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anose="05050102010706020507" pitchFamily="18" charset="2"/>
                        </a:rPr>
                        <a:t>B</a:t>
                      </a:r>
                      <a:endParaRPr kumimoji="1" lang="en-US" altLang="zh-CN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37" grpId="0"/>
      <p:bldP spid="38" grpId="0"/>
      <p:bldP spid="39" grpId="0"/>
      <p:bldP spid="40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"/>
          <p:cNvGrpSpPr/>
          <p:nvPr/>
        </p:nvGrpSpPr>
        <p:grpSpPr bwMode="auto">
          <a:xfrm>
            <a:off x="1709738" y="935630"/>
            <a:ext cx="5562600" cy="1079897"/>
            <a:chOff x="899592" y="548680"/>
            <a:chExt cx="7416824" cy="1440160"/>
          </a:xfrm>
        </p:grpSpPr>
        <p:grpSp>
          <p:nvGrpSpPr>
            <p:cNvPr id="35873" name="Group 20"/>
            <p:cNvGrpSpPr/>
            <p:nvPr/>
          </p:nvGrpSpPr>
          <p:grpSpPr bwMode="auto">
            <a:xfrm>
              <a:off x="899592" y="693173"/>
              <a:ext cx="1439867" cy="1079723"/>
              <a:chOff x="899592" y="693173"/>
              <a:chExt cx="1439867" cy="1079723"/>
            </a:xfrm>
          </p:grpSpPr>
          <p:sp>
            <p:nvSpPr>
              <p:cNvPr id="3" name="Isosceles Triangle 2"/>
              <p:cNvSpPr/>
              <p:nvPr/>
            </p:nvSpPr>
            <p:spPr>
              <a:xfrm>
                <a:off x="899592" y="693173"/>
                <a:ext cx="1439867" cy="1079723"/>
              </a:xfrm>
              <a:prstGeom prst="triangl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7" name="TextBox 8"/>
              <p:cNvSpPr txBox="1">
                <a:spLocks noChangeArrowheads="1"/>
              </p:cNvSpPr>
              <p:nvPr/>
            </p:nvSpPr>
            <p:spPr bwMode="auto">
              <a:xfrm>
                <a:off x="1292149" y="1196752"/>
                <a:ext cx="615555" cy="288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8" name="TextBox 9"/>
              <p:cNvSpPr txBox="1">
                <a:spLocks noChangeArrowheads="1"/>
              </p:cNvSpPr>
              <p:nvPr/>
            </p:nvSpPr>
            <p:spPr bwMode="auto">
              <a:xfrm>
                <a:off x="1403648" y="1052737"/>
                <a:ext cx="432048" cy="492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</a:t>
                </a:r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4" name="Group 17"/>
            <p:cNvGrpSpPr/>
            <p:nvPr/>
          </p:nvGrpSpPr>
          <p:grpSpPr bwMode="auto">
            <a:xfrm>
              <a:off x="2483922" y="548680"/>
              <a:ext cx="1295404" cy="1295667"/>
              <a:chOff x="2483922" y="548680"/>
              <a:chExt cx="1295404" cy="1295667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2483922" y="548680"/>
                <a:ext cx="1295404" cy="1295667"/>
              </a:xfrm>
              <a:prstGeom prst="ellipse">
                <a:avLst/>
              </a:prstGeom>
              <a:solidFill>
                <a:srgbClr val="1F4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5" name="TextBox 10"/>
              <p:cNvSpPr txBox="1">
                <a:spLocks noChangeArrowheads="1"/>
              </p:cNvSpPr>
              <p:nvPr/>
            </p:nvSpPr>
            <p:spPr bwMode="auto">
              <a:xfrm>
                <a:off x="2915815" y="980728"/>
                <a:ext cx="432048" cy="492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</a:t>
                </a:r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5" name="Group 16"/>
            <p:cNvGrpSpPr/>
            <p:nvPr/>
          </p:nvGrpSpPr>
          <p:grpSpPr bwMode="auto">
            <a:xfrm>
              <a:off x="4068252" y="693173"/>
              <a:ext cx="1223966" cy="1151175"/>
              <a:chOff x="4068252" y="693173"/>
              <a:chExt cx="1223966" cy="1151175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4068252" y="693173"/>
                <a:ext cx="1223966" cy="1151175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3" name="TextBox 11"/>
              <p:cNvSpPr txBox="1">
                <a:spLocks noChangeArrowheads="1"/>
              </p:cNvSpPr>
              <p:nvPr/>
            </p:nvSpPr>
            <p:spPr bwMode="auto">
              <a:xfrm>
                <a:off x="4499992" y="1052735"/>
                <a:ext cx="432048" cy="492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3</a:t>
                </a:r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6" name="Group 15"/>
            <p:cNvGrpSpPr/>
            <p:nvPr/>
          </p:nvGrpSpPr>
          <p:grpSpPr bwMode="auto">
            <a:xfrm>
              <a:off x="5436682" y="764625"/>
              <a:ext cx="1439867" cy="1079723"/>
              <a:chOff x="5436682" y="764625"/>
              <a:chExt cx="1439867" cy="1079723"/>
            </a:xfrm>
          </p:grpSpPr>
          <p:sp>
            <p:nvSpPr>
              <p:cNvPr id="8" name="Isosceles Triangle 7"/>
              <p:cNvSpPr/>
              <p:nvPr/>
            </p:nvSpPr>
            <p:spPr>
              <a:xfrm>
                <a:off x="5436682" y="764625"/>
                <a:ext cx="1439867" cy="1079723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81" name="TextBox 12"/>
              <p:cNvSpPr txBox="1">
                <a:spLocks noChangeArrowheads="1"/>
              </p:cNvSpPr>
              <p:nvPr/>
            </p:nvSpPr>
            <p:spPr bwMode="auto">
              <a:xfrm>
                <a:off x="5940152" y="1116595"/>
                <a:ext cx="432049" cy="492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</a:t>
                </a:r>
                <a:endPara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5877" name="Group 14"/>
            <p:cNvGrpSpPr/>
            <p:nvPr/>
          </p:nvGrpSpPr>
          <p:grpSpPr bwMode="auto">
            <a:xfrm>
              <a:off x="6876548" y="620133"/>
              <a:ext cx="1439868" cy="1368707"/>
              <a:chOff x="6876548" y="620133"/>
              <a:chExt cx="1439868" cy="1368707"/>
            </a:xfrm>
          </p:grpSpPr>
          <p:sp>
            <p:nvSpPr>
              <p:cNvPr id="7" name="Diamond 6"/>
              <p:cNvSpPr/>
              <p:nvPr/>
            </p:nvSpPr>
            <p:spPr>
              <a:xfrm>
                <a:off x="6876548" y="620133"/>
                <a:ext cx="1439868" cy="136870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5879" name="TextBox 13"/>
              <p:cNvSpPr txBox="1">
                <a:spLocks noChangeArrowheads="1"/>
              </p:cNvSpPr>
              <p:nvPr/>
            </p:nvSpPr>
            <p:spPr bwMode="auto">
              <a:xfrm>
                <a:off x="7452320" y="1095127"/>
                <a:ext cx="432049" cy="492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5</a:t>
                </a:r>
                <a:endPara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547813" y="2009828"/>
            <a:ext cx="356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该图形是否</a:t>
            </a:r>
            <a:r>
              <a:rPr lang="en-US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红色？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3" name="Group 25"/>
          <p:cNvGrpSpPr/>
          <p:nvPr/>
        </p:nvGrpSpPr>
        <p:grpSpPr bwMode="auto">
          <a:xfrm>
            <a:off x="2736000" y="2414138"/>
            <a:ext cx="2268197" cy="624137"/>
            <a:chOff x="756256" y="4005064"/>
            <a:chExt cx="3024410" cy="832136"/>
          </a:xfrm>
        </p:grpSpPr>
        <p:sp>
          <p:nvSpPr>
            <p:cNvPr id="35871" name="TextBox 21"/>
            <p:cNvSpPr txBox="1">
              <a:spLocks noChangeArrowheads="1"/>
            </p:cNvSpPr>
            <p:nvPr/>
          </p:nvSpPr>
          <p:spPr bwMode="auto">
            <a:xfrm>
              <a:off x="756256" y="4005064"/>
              <a:ext cx="3024410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not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颜色 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==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红色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872" name="TextBox 22"/>
            <p:cNvSpPr txBox="1">
              <a:spLocks noChangeArrowheads="1"/>
            </p:cNvSpPr>
            <p:nvPr/>
          </p:nvSpPr>
          <p:spPr bwMode="auto">
            <a:xfrm>
              <a:off x="1804359" y="4437113"/>
              <a:ext cx="360040" cy="400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</a:t>
              </a:r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764580" y="3123347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3520627" y="3123347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222539" y="3092372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764580" y="3501965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3520627" y="3501965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222539" y="3470991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2764580" y="3857962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3520627" y="3857962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4222539" y="3826988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2764580" y="4204434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520627" y="4204434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222539" y="4173460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2764580" y="4538999"/>
            <a:ext cx="3238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3520627" y="4538999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4222539" y="4508025"/>
            <a:ext cx="4321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逻辑运算示例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TextBox 22"/>
          <p:cNvSpPr txBox="1">
            <a:spLocks noChangeArrowheads="1"/>
          </p:cNvSpPr>
          <p:nvPr/>
        </p:nvSpPr>
        <p:spPr bwMode="auto">
          <a:xfrm>
            <a:off x="4021521" y="2753022"/>
            <a:ext cx="89295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A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1" name="Group 84"/>
          <p:cNvGraphicFramePr>
            <a:graphicFrameLocks noGrp="1"/>
          </p:cNvGraphicFramePr>
          <p:nvPr/>
        </p:nvGraphicFramePr>
        <p:xfrm>
          <a:off x="5310188" y="2798758"/>
          <a:ext cx="1962150" cy="1485900"/>
        </p:xfrm>
        <a:graphic>
          <a:graphicData uri="http://schemas.openxmlformats.org/drawingml/2006/table">
            <a:tbl>
              <a:tblPr/>
              <a:tblGrid>
                <a:gridCol w="914400"/>
                <a:gridCol w="10477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</a:t>
                      </a:r>
                      <a:endParaRPr kumimoji="1" lang="en-US" altLang="zh-CN" sz="1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Symbol" panose="05050102010706020507" pitchFamily="18" charset="2"/>
                        </a:rPr>
                        <a:t>not A</a:t>
                      </a:r>
                      <a:endParaRPr kumimoji="1" lang="en-US" altLang="zh-CN" sz="18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  <p:bldP spid="38" grpId="0"/>
      <p:bldP spid="40" grpId="0"/>
      <p:bldP spid="45" grpId="0"/>
      <p:bldP spid="46" grpId="0"/>
      <p:bldP spid="48" grpId="0"/>
      <p:bldP spid="49" grpId="0"/>
      <p:bldP spid="50" grpId="0"/>
      <p:bldP spid="52" grpId="0"/>
      <p:bldP spid="57" grpId="0"/>
      <p:bldP spid="58" grpId="0"/>
      <p:bldP spid="60" grpId="0"/>
      <p:bldP spid="61" grpId="0"/>
      <p:bldP spid="62" grpId="0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逻辑运算示例：判断闰年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9056" y="881104"/>
            <a:ext cx="4709424" cy="3714750"/>
          </a:xfrm>
        </p:spPr>
        <p:txBody>
          <a:bodyPr/>
          <a:lstStyle/>
          <a:p>
            <a:pPr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如果年份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能被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整除但是不能被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整除，或者能被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整除，则是闰年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2014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1900</a:t>
            </a:r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年不是闰年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年是闰年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317" name="Picture 7" descr="http://t0.gstatic.com/images?q=tbn:ANd9GcShj8F78W_JgWBrf4JeJ5AAEts7MF88jPwzzp6Q_2hqkkFShRA&amp;t=1&amp;usg=__Hk1GcGaICeBZj4vkoF4pKkajbOk=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444883" y="805278"/>
            <a:ext cx="979918" cy="1129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18519" y="2198478"/>
            <a:ext cx="3791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((y % 4 == 0) and (y % 100 != 0)) 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 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(y % 400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0)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70" y="2198478"/>
            <a:ext cx="4114830" cy="226220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trike="sngStrike" dirty="0"/>
              <a:t>运算符</a:t>
            </a:r>
            <a:r>
              <a:rPr lang="zh-CN" altLang="zh-CN" strike="sngStrike" dirty="0"/>
              <a:t>优先级</a:t>
            </a:r>
            <a:endParaRPr lang="zh-CN" altLang="en-US" strike="sngStrik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500" dirty="0"/>
              <a:t>下面两个表达式</a:t>
            </a:r>
            <a:endParaRPr lang="en-US" altLang="zh-CN" sz="1500" dirty="0"/>
          </a:p>
          <a:p>
            <a:pPr lvl="1"/>
            <a:r>
              <a:rPr lang="en-US" altLang="zh-CN" sz="1350" dirty="0"/>
              <a:t>2</a:t>
            </a:r>
            <a:r>
              <a:rPr lang="zh-CN" altLang="en-US" sz="1350" dirty="0"/>
              <a:t> </a:t>
            </a:r>
            <a:r>
              <a:rPr lang="en-US" altLang="zh-CN" sz="1350" dirty="0"/>
              <a:t>* 1 + 3       </a:t>
            </a:r>
            <a:r>
              <a:rPr lang="zh-CN" altLang="en-US" sz="1350" dirty="0"/>
              <a:t>先乘后加</a:t>
            </a:r>
            <a:endParaRPr lang="en-US" altLang="zh-CN" sz="1350" dirty="0"/>
          </a:p>
          <a:p>
            <a:pPr lvl="1"/>
            <a:r>
              <a:rPr lang="en-US" altLang="zh-CN" sz="1350" dirty="0"/>
              <a:t>2</a:t>
            </a:r>
            <a:r>
              <a:rPr lang="zh-CN" altLang="en-US" sz="1350" dirty="0"/>
              <a:t> * </a:t>
            </a:r>
            <a:r>
              <a:rPr lang="en-US" altLang="zh-CN" sz="1350" dirty="0"/>
              <a:t>(1+3)</a:t>
            </a:r>
            <a:r>
              <a:rPr lang="zh-CN" altLang="en-US" sz="1350" dirty="0"/>
              <a:t>       先加后乘</a:t>
            </a:r>
            <a:endParaRPr lang="en-US" altLang="zh-CN" sz="1350" dirty="0"/>
          </a:p>
          <a:p>
            <a:endParaRPr lang="en-US" altLang="zh-CN" sz="1500" dirty="0"/>
          </a:p>
          <a:p>
            <a:r>
              <a:rPr lang="zh-CN" altLang="en-US" sz="1500" dirty="0">
                <a:solidFill>
                  <a:srgbClr val="FF0000"/>
                </a:solidFill>
              </a:rPr>
              <a:t>括号（）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1"/>
            <a:r>
              <a:rPr lang="zh-CN" altLang="en-US" sz="1350" dirty="0"/>
              <a:t>改变了语言内在的默认优先级</a:t>
            </a:r>
            <a:endParaRPr lang="en-US" altLang="zh-CN" sz="1350" dirty="0"/>
          </a:p>
          <a:p>
            <a:pPr lvl="1"/>
            <a:r>
              <a:rPr lang="zh-CN" altLang="en-US" sz="1350" dirty="0"/>
              <a:t>具有最高优先级</a:t>
            </a:r>
            <a:endParaRPr lang="en-US" altLang="zh-CN" sz="1350" dirty="0"/>
          </a:p>
          <a:p>
            <a:pPr marL="457200" lvl="1" indent="0">
              <a:buNone/>
            </a:pPr>
            <a:endParaRPr lang="en-US" altLang="zh-CN" sz="1350" dirty="0"/>
          </a:p>
          <a:p>
            <a:r>
              <a:rPr lang="zh-CN" altLang="en-US" sz="1500" dirty="0"/>
              <a:t>嵌套括号按照由内而外结合</a:t>
            </a:r>
            <a:endParaRPr lang="en-US" altLang="zh-CN" sz="1500" dirty="0"/>
          </a:p>
          <a:p>
            <a:pPr lvl="1"/>
            <a:r>
              <a:rPr lang="en-US" altLang="zh-CN" sz="1350" dirty="0"/>
              <a:t>(2 * (1 + 2))**2 == 36</a:t>
            </a:r>
            <a:endParaRPr lang="en-US" altLang="zh-CN" sz="1350" dirty="0"/>
          </a:p>
          <a:p>
            <a:pPr lvl="1"/>
            <a:r>
              <a:rPr lang="en-US" altLang="zh-CN" sz="1350" dirty="0"/>
              <a:t>2 * (1 + 2)**2 == 18</a:t>
            </a:r>
            <a:endParaRPr lang="en-US" altLang="zh-CN" sz="1350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4572000" y="946371"/>
            <a:ext cx="4344820" cy="29100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500" dirty="0"/>
              <a:t>优先级顺序：</a:t>
            </a:r>
            <a:endParaRPr lang="en-US" altLang="zh-CN" sz="1500" dirty="0"/>
          </a:p>
          <a:p>
            <a:r>
              <a:rPr lang="zh-CN" altLang="en-US" sz="1500" dirty="0"/>
              <a:t>括号</a:t>
            </a:r>
            <a:r>
              <a:rPr lang="zh-CN" altLang="en-US" sz="1500" dirty="0">
                <a:sym typeface="Wingdings" panose="05000000000000000000" pitchFamily="2" charset="2"/>
              </a:rPr>
              <a:t>：</a:t>
            </a:r>
            <a:r>
              <a:rPr lang="en-US" altLang="zh-CN" sz="1500" dirty="0">
                <a:solidFill>
                  <a:srgbClr val="FF0000"/>
                </a:solidFill>
                <a:sym typeface="Wingdings" panose="05000000000000000000" pitchFamily="2" charset="2"/>
              </a:rPr>
              <a:t>( )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一元运算：</a:t>
            </a:r>
            <a:r>
              <a:rPr lang="en-US" altLang="zh-CN" sz="1500" dirty="0">
                <a:solidFill>
                  <a:srgbClr val="FF0000"/>
                </a:solidFill>
              </a:rPr>
              <a:t>+ 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-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幂次：</a:t>
            </a:r>
            <a:r>
              <a:rPr lang="zh-CN" altLang="en-US" sz="1500" dirty="0">
                <a:solidFill>
                  <a:srgbClr val="FF0000"/>
                </a:solidFill>
              </a:rPr>
              <a:t>**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算术运算：</a:t>
            </a:r>
            <a:r>
              <a:rPr lang="zh-CN" altLang="en-US" sz="1500" dirty="0">
                <a:solidFill>
                  <a:srgbClr val="FF0000"/>
                </a:solidFill>
              </a:rPr>
              <a:t>* ，</a:t>
            </a:r>
            <a:r>
              <a:rPr lang="en-US" altLang="zh-CN" sz="1500" dirty="0">
                <a:solidFill>
                  <a:srgbClr val="FF0000"/>
                </a:solidFill>
              </a:rPr>
              <a:t>/ 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%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//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算术运算：</a:t>
            </a:r>
            <a:r>
              <a:rPr lang="en-US" altLang="zh-CN" sz="1500" dirty="0">
                <a:solidFill>
                  <a:srgbClr val="FF0000"/>
                </a:solidFill>
              </a:rPr>
              <a:t>+ 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-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比较运算：</a:t>
            </a:r>
            <a:r>
              <a:rPr lang="en-US" altLang="zh-CN" sz="1500" dirty="0">
                <a:solidFill>
                  <a:srgbClr val="FF0000"/>
                </a:solidFill>
              </a:rPr>
              <a:t>== 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 !=</a:t>
            </a:r>
            <a:r>
              <a:rPr lang="zh-CN" altLang="en-US" sz="1500" dirty="0">
                <a:solidFill>
                  <a:srgbClr val="FF0000"/>
                </a:solidFill>
              </a:rPr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  &lt;&gt;   &lt;=   &gt;=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逻辑非：</a:t>
            </a:r>
            <a:r>
              <a:rPr lang="en-US" altLang="zh-CN" sz="1500" dirty="0">
                <a:solidFill>
                  <a:srgbClr val="FF0000"/>
                </a:solidFill>
              </a:rPr>
              <a:t>not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逻辑与：</a:t>
            </a:r>
            <a:r>
              <a:rPr lang="en-US" altLang="zh-CN" sz="1500" dirty="0">
                <a:solidFill>
                  <a:srgbClr val="FF0000"/>
                </a:solidFill>
              </a:rPr>
              <a:t>and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逻辑或：</a:t>
            </a:r>
            <a:r>
              <a:rPr lang="en-US" altLang="zh-CN" sz="1500" dirty="0">
                <a:solidFill>
                  <a:srgbClr val="FF0000"/>
                </a:solidFill>
              </a:rPr>
              <a:t>or</a:t>
            </a:r>
            <a:endParaRPr lang="en-US" altLang="zh-CN" sz="1500" dirty="0">
              <a:solidFill>
                <a:srgbClr val="FF0000"/>
              </a:solidFill>
            </a:endParaRPr>
          </a:p>
          <a:p>
            <a:r>
              <a:rPr lang="zh-CN" altLang="en-US" sz="1500" dirty="0"/>
              <a:t>赋值运算：</a:t>
            </a:r>
            <a:r>
              <a:rPr lang="en-US" altLang="zh-CN" sz="1500" dirty="0">
                <a:solidFill>
                  <a:srgbClr val="FF0000"/>
                </a:solidFill>
              </a:rPr>
              <a:t>=,</a:t>
            </a:r>
            <a:r>
              <a:rPr lang="zh-CN" altLang="en-US" sz="1500" dirty="0">
                <a:solidFill>
                  <a:srgbClr val="FF0000"/>
                </a:solidFill>
              </a:rPr>
              <a:t> *</a:t>
            </a:r>
            <a:r>
              <a:rPr lang="en-US" altLang="zh-CN" sz="1500" dirty="0">
                <a:solidFill>
                  <a:srgbClr val="FF0000"/>
                </a:solidFill>
              </a:rPr>
              <a:t>=,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/=,+=,-=,%=,//=</a:t>
            </a:r>
            <a:endParaRPr lang="zh-CN" altLang="en-US" sz="1500" dirty="0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 hidden="1"/>
          <p:cNvSpPr/>
          <p:nvPr>
            <p:custDataLst>
              <p:tags r:id="rId1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altLang="zh-CN" sz="2800" dirty="0"/>
          </a:p>
          <a:p>
            <a:pPr lvl="1"/>
            <a:endParaRPr lang="en-US" altLang="zh-CN" sz="2800" dirty="0"/>
          </a:p>
          <a:p>
            <a:r>
              <a:rPr lang="en-US" altLang="zh-CN" sz="2800" dirty="0"/>
              <a:t>2 ** 2 ** 3 </a:t>
            </a:r>
            <a:r>
              <a:rPr lang="zh-CN" altLang="en-US" sz="2800" dirty="0"/>
              <a:t>的结果是</a:t>
            </a:r>
            <a:r>
              <a:rPr lang="zh-CN" altLang="en-US" sz="2800" dirty="0">
                <a:solidFill>
                  <a:srgbClr val="639EF4"/>
                </a:solidFill>
              </a:rPr>
              <a:t> </a:t>
            </a:r>
            <a:r>
              <a:rPr lang="en-US" altLang="zh-CN" sz="2800" dirty="0">
                <a:solidFill>
                  <a:srgbClr val="639EF4"/>
                </a:solidFill>
              </a:rPr>
              <a:t>[</a:t>
            </a:r>
            <a:r>
              <a:rPr lang="zh-CN" altLang="en-US" sz="2800" dirty="0">
                <a:solidFill>
                  <a:srgbClr val="639EF4"/>
                </a:solidFill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zh-CN" altLang="en-US" sz="2800" dirty="0">
                <a:solidFill>
                  <a:srgbClr val="000000"/>
                </a:solidFill>
              </a:rPr>
              <a:t>。</a:t>
            </a:r>
            <a:endParaRPr lang="en-US" altLang="zh-CN" sz="2800" dirty="0"/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4295537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 hidden="1"/>
          <p:cNvSpPr txBox="1"/>
          <p:nvPr>
            <p:custDataLst>
              <p:tags r:id="rId5"/>
            </p:custDataLst>
          </p:nvPr>
        </p:nvSpPr>
        <p:spPr>
          <a:xfrm>
            <a:off x="9613900" y="4658499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 hidden="1"/>
          <p:cNvSpPr txBox="1"/>
          <p:nvPr>
            <p:custDataLst>
              <p:tags r:id="rId6"/>
            </p:custDataLst>
          </p:nvPr>
        </p:nvSpPr>
        <p:spPr>
          <a:xfrm>
            <a:off x="9779000" y="1270000"/>
            <a:ext cx="237236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256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 hidden="1"/>
          <p:cNvGrpSpPr/>
          <p:nvPr>
            <p:custDataLst>
              <p:tags r:id="rId7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16" name="RemarkBack" hidden="1"/>
            <p:cNvSpPr/>
            <p:nvPr>
              <p:custDataLst>
                <p:tags r:id="rId8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 hidden="1"/>
            <p:cNvSpPr/>
            <p:nvPr>
              <p:custDataLst>
                <p:tags r:id="rId9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 hidden="1"/>
            <p:cNvSpPr txBox="1"/>
            <p:nvPr>
              <p:custDataLst>
                <p:tags r:id="rId10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914400" y="2750333"/>
            <a:ext cx="77271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解决办法：多加括号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!!!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2**(2**3)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(2**2)**3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1041" y="2735706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02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数字及基本操作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字符串及其操作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26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430741" cy="3937000"/>
          </a:xfrm>
        </p:spPr>
        <p:txBody>
          <a:bodyPr/>
          <a:lstStyle/>
          <a:p>
            <a:r>
              <a:rPr lang="zh-CN" altLang="en-US" dirty="0"/>
              <a:t>字符串是用双引号</a:t>
            </a:r>
            <a:r>
              <a:rPr lang="en-US" altLang="zh-CN" dirty="0"/>
              <a:t>""</a:t>
            </a:r>
            <a:r>
              <a:rPr lang="zh-CN" altLang="en-US" dirty="0"/>
              <a:t>或者单引号</a:t>
            </a:r>
            <a:r>
              <a:rPr lang="en-US" altLang="zh-CN" dirty="0"/>
              <a:t>''</a:t>
            </a:r>
            <a:r>
              <a:rPr lang="zh-CN" altLang="en-US" dirty="0"/>
              <a:t>括起来的一个或多个字符。</a:t>
            </a:r>
            <a:endParaRPr lang="zh-CN" altLang="en-US" dirty="0"/>
          </a:p>
          <a:p>
            <a:r>
              <a:rPr lang="zh-CN" altLang="en-US" dirty="0"/>
              <a:t>字符串可以保存在变量中，也可以单独存在</a:t>
            </a:r>
            <a:endParaRPr lang="zh-CN" altLang="en-US" dirty="0"/>
          </a:p>
          <a:p>
            <a:r>
              <a:rPr lang="zh-CN" altLang="en-US" dirty="0"/>
              <a:t>可以用</a:t>
            </a:r>
            <a:r>
              <a:rPr lang="en-US" altLang="zh-CN" dirty="0"/>
              <a:t>type()</a:t>
            </a:r>
            <a:r>
              <a:rPr lang="zh-CN" altLang="en-US" dirty="0"/>
              <a:t>函数测试一个字符串的类型</a:t>
            </a:r>
            <a:endParaRPr lang="zh-CN" altLang="en-US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en-US" altLang="zh-CN" dirty="0"/>
              <a:t>Python</a:t>
            </a:r>
            <a:r>
              <a:rPr lang="zh-CN" altLang="en-US" dirty="0"/>
              <a:t>语言转义符：</a:t>
            </a:r>
            <a:r>
              <a:rPr lang="en-US" altLang="zh-CN" dirty="0"/>
              <a:t>\</a:t>
            </a:r>
            <a:endParaRPr lang="en-US" altLang="zh-CN" dirty="0"/>
          </a:p>
          <a:p>
            <a:pPr lvl="1"/>
            <a:r>
              <a:rPr lang="zh-CN" altLang="en-US" dirty="0"/>
              <a:t>输出带有引号的字符串，可以使用转义符</a:t>
            </a:r>
            <a:endParaRPr lang="zh-CN" altLang="en-US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\\</a:t>
            </a:r>
            <a:r>
              <a:rPr lang="zh-CN" altLang="en-US" dirty="0"/>
              <a:t>输出带有转移符的字符串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\n</a:t>
            </a:r>
            <a:r>
              <a:rPr lang="zh-CN" altLang="en-US" dirty="0"/>
              <a:t>输出带有换行符号的字符串</a:t>
            </a:r>
            <a:endParaRPr lang="en-US" altLang="zh-CN" dirty="0"/>
          </a:p>
          <a:p>
            <a:pPr lvl="1"/>
            <a:r>
              <a:rPr lang="en-US" altLang="zh-CN" dirty="0"/>
              <a:t>\t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941" y="137006"/>
            <a:ext cx="2589666" cy="2395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602" y="2779698"/>
            <a:ext cx="2257191" cy="1814848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字符串索引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819150"/>
            <a:ext cx="5245555" cy="393700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字符串是一个字符序列：字符串最左端位置标记为</a:t>
            </a:r>
            <a:r>
              <a:rPr lang="en-US" altLang="zh-CN" sz="1600" dirty="0"/>
              <a:t>0</a:t>
            </a:r>
            <a:r>
              <a:rPr lang="zh-CN" altLang="en-US" sz="1600" dirty="0"/>
              <a:t>，依次增加</a:t>
            </a:r>
            <a:endParaRPr lang="en-US" altLang="zh-CN" sz="1600" dirty="0"/>
          </a:p>
          <a:p>
            <a:r>
              <a:rPr lang="zh-CN" altLang="en-US" sz="1600" dirty="0"/>
              <a:t>字符串中的编号叫做“索引”</a:t>
            </a:r>
            <a:endParaRPr lang="en-US" altLang="zh-CN" sz="1600" dirty="0"/>
          </a:p>
          <a:p>
            <a:endParaRPr lang="zh-CN" altLang="en-US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单个索引辅助访问字符串中的特定位置，如：读取特定位置上的字符</a:t>
            </a:r>
            <a:endParaRPr lang="en-US" altLang="zh-CN" sz="1600" dirty="0"/>
          </a:p>
          <a:p>
            <a:pPr lvl="1"/>
            <a:r>
              <a:rPr lang="en-US" altLang="zh-CN" sz="1400" dirty="0"/>
              <a:t>Python</a:t>
            </a:r>
            <a:r>
              <a:rPr lang="zh-CN" altLang="en-US" sz="1400" dirty="0"/>
              <a:t>中字符串索引从</a:t>
            </a:r>
            <a:r>
              <a:rPr lang="en-US" altLang="zh-CN" sz="1400" dirty="0"/>
              <a:t>0</a:t>
            </a:r>
            <a:r>
              <a:rPr lang="zh-CN" altLang="en-US" sz="1400" dirty="0"/>
              <a:t>开始，一个长度为</a:t>
            </a:r>
            <a:r>
              <a:rPr lang="en-US" altLang="zh-CN" sz="1400" dirty="0"/>
              <a:t>L</a:t>
            </a:r>
            <a:r>
              <a:rPr lang="zh-CN" altLang="en-US" sz="1400" dirty="0"/>
              <a:t>的字符串最后一个字符的位置是</a:t>
            </a:r>
            <a:r>
              <a:rPr lang="en-US" altLang="zh-CN" sz="1400" dirty="0"/>
              <a:t>L-1</a:t>
            </a:r>
            <a:endParaRPr lang="en-US" altLang="zh-CN" sz="1400" dirty="0"/>
          </a:p>
          <a:p>
            <a:pPr lvl="1"/>
            <a:r>
              <a:rPr lang="en-US" altLang="zh-CN" sz="1400" dirty="0"/>
              <a:t>Python</a:t>
            </a:r>
            <a:r>
              <a:rPr lang="zh-CN" altLang="en-US" sz="1400" dirty="0"/>
              <a:t>同时允许使用负数从字符串右边末尾向左边进行反向索引，最右侧索引值是</a:t>
            </a:r>
            <a:r>
              <a:rPr lang="en-US" altLang="zh-CN" sz="1400" dirty="0"/>
              <a:t>-1</a:t>
            </a:r>
            <a:endParaRPr lang="en-US" altLang="zh-CN" sz="1400" dirty="0"/>
          </a:p>
          <a:p>
            <a:endParaRPr lang="zh-CN" altLang="en-US" sz="1600" dirty="0"/>
          </a:p>
          <a:p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24" y="1780801"/>
            <a:ext cx="4042365" cy="8734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665" y="1780801"/>
            <a:ext cx="2471756" cy="295753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字符串的范围索引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171" y="819150"/>
            <a:ext cx="5208104" cy="3937000"/>
          </a:xfrm>
        </p:spPr>
        <p:txBody>
          <a:bodyPr/>
          <a:lstStyle/>
          <a:p>
            <a:r>
              <a:rPr lang="zh-CN" altLang="en-US" dirty="0"/>
              <a:t>可以通过两个索引值确定一个位置范围，返回这个范围的</a:t>
            </a:r>
            <a:r>
              <a:rPr lang="zh-CN" altLang="en-US" b="1" dirty="0"/>
              <a:t>子串</a:t>
            </a:r>
            <a:endParaRPr lang="zh-CN" altLang="en-US" dirty="0"/>
          </a:p>
          <a:p>
            <a:pPr lvl="1"/>
            <a:r>
              <a:rPr lang="zh-CN" altLang="en-US" dirty="0"/>
              <a:t>格式：</a:t>
            </a:r>
            <a:r>
              <a:rPr lang="en-US" altLang="zh-CN" dirty="0"/>
              <a:t>&lt;string&gt;[&lt;start&gt;:&lt;end&gt;]</a:t>
            </a:r>
            <a:endParaRPr lang="en-US" altLang="zh-CN" dirty="0"/>
          </a:p>
          <a:p>
            <a:pPr lvl="1"/>
            <a:r>
              <a:rPr lang="en-US" altLang="zh-CN" dirty="0"/>
              <a:t>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都是整数型数值，这个子序列从索引</a:t>
            </a:r>
            <a:r>
              <a:rPr lang="en-US" altLang="zh-CN" dirty="0"/>
              <a:t>start</a:t>
            </a:r>
            <a:r>
              <a:rPr lang="zh-CN" altLang="en-US" dirty="0"/>
              <a:t>开始直到索引</a:t>
            </a:r>
            <a:r>
              <a:rPr lang="en-US" altLang="zh-CN" dirty="0"/>
              <a:t>end</a:t>
            </a:r>
            <a:r>
              <a:rPr lang="zh-CN" altLang="en-US" dirty="0"/>
              <a:t>结束，但</a:t>
            </a:r>
            <a:r>
              <a:rPr lang="zh-CN" altLang="en-US" b="1" dirty="0"/>
              <a:t>不包括</a:t>
            </a:r>
            <a:r>
              <a:rPr lang="en-US" altLang="zh-CN" b="1" dirty="0"/>
              <a:t>end</a:t>
            </a:r>
            <a:r>
              <a:rPr lang="zh-CN" altLang="en-US" b="1" dirty="0"/>
              <a:t>位置</a:t>
            </a:r>
            <a:endParaRPr lang="en-US" altLang="zh-CN" b="1" dirty="0"/>
          </a:p>
          <a:p>
            <a:r>
              <a:rPr lang="zh-CN" altLang="en-US" dirty="0"/>
              <a:t>注意</a:t>
            </a:r>
            <a:r>
              <a:rPr lang="zh-CN" altLang="en-US" dirty="0">
                <a:solidFill>
                  <a:srgbClr val="FF0000"/>
                </a:solidFill>
              </a:rPr>
              <a:t>：当</a:t>
            </a:r>
            <a:r>
              <a:rPr lang="en-US" altLang="zh-CN" dirty="0">
                <a:solidFill>
                  <a:srgbClr val="FF0000"/>
                </a:solidFill>
              </a:rPr>
              <a:t>&lt;start&gt;</a:t>
            </a:r>
            <a:r>
              <a:rPr lang="zh-CN" altLang="en-US" dirty="0">
                <a:solidFill>
                  <a:srgbClr val="FF0000"/>
                </a:solidFill>
              </a:rPr>
              <a:t>位于</a:t>
            </a:r>
            <a:r>
              <a:rPr lang="en-US" altLang="zh-CN" dirty="0">
                <a:solidFill>
                  <a:srgbClr val="FF0000"/>
                </a:solidFill>
              </a:rPr>
              <a:t>&lt;end&gt;</a:t>
            </a:r>
            <a:r>
              <a:rPr lang="zh-CN" altLang="en-US" dirty="0">
                <a:solidFill>
                  <a:srgbClr val="FF0000"/>
                </a:solidFill>
              </a:rPr>
              <a:t>后面，返回空字符串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275" y="813600"/>
            <a:ext cx="3631958" cy="19740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208104" cy="3937000"/>
          </a:xfrm>
        </p:spPr>
        <p:txBody>
          <a:bodyPr/>
          <a:lstStyle/>
          <a:p>
            <a:r>
              <a:rPr lang="zh-CN" altLang="en-US" dirty="0"/>
              <a:t>字符串之间可以通过</a:t>
            </a:r>
            <a:r>
              <a:rPr lang="en-US" altLang="zh-CN" dirty="0"/>
              <a:t>+</a:t>
            </a:r>
            <a:r>
              <a:rPr lang="zh-CN" altLang="en-US" dirty="0"/>
              <a:t>或*进行连接</a:t>
            </a:r>
            <a:endParaRPr lang="zh-CN" altLang="en-US" dirty="0"/>
          </a:p>
          <a:p>
            <a:pPr lvl="1"/>
            <a:r>
              <a:rPr lang="zh-CN" altLang="en-US" dirty="0"/>
              <a:t>加法操作</a:t>
            </a:r>
            <a:r>
              <a:rPr lang="en-US" altLang="zh-CN" dirty="0"/>
              <a:t>(+)</a:t>
            </a:r>
            <a:r>
              <a:rPr lang="zh-CN" altLang="en-US" dirty="0"/>
              <a:t>将两个字符串连接成为一个新的字符串</a:t>
            </a:r>
            <a:endParaRPr lang="zh-CN" altLang="en-US" dirty="0"/>
          </a:p>
          <a:p>
            <a:pPr lvl="1"/>
            <a:r>
              <a:rPr lang="zh-CN" altLang="en-US" dirty="0"/>
              <a:t>乘法操作</a:t>
            </a:r>
            <a:r>
              <a:rPr lang="en-US" altLang="zh-CN" dirty="0"/>
              <a:t>(*)</a:t>
            </a:r>
            <a:r>
              <a:rPr lang="zh-CN" altLang="en-US" dirty="0"/>
              <a:t>生成一个由其本身字符串重复连接而成的字符串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len</a:t>
            </a:r>
            <a:r>
              <a:rPr lang="en-US" altLang="zh-CN" dirty="0"/>
              <a:t>:</a:t>
            </a:r>
            <a:r>
              <a:rPr lang="zh-CN" altLang="en-US" dirty="0"/>
              <a:t> 求字符串长度</a:t>
            </a:r>
            <a:endParaRPr lang="en-US" altLang="zh-CN" dirty="0"/>
          </a:p>
          <a:p>
            <a:pPr lvl="1"/>
            <a:r>
              <a:rPr lang="zh-CN" altLang="en-US" dirty="0"/>
              <a:t>英文：字母数</a:t>
            </a:r>
            <a:r>
              <a:rPr lang="en-US" altLang="zh-CN" dirty="0"/>
              <a:t>(</a:t>
            </a:r>
            <a:r>
              <a:rPr lang="zh-CN" altLang="en-US" dirty="0"/>
              <a:t>包括空格）</a:t>
            </a:r>
            <a:endParaRPr lang="en-US" altLang="zh-CN" dirty="0"/>
          </a:p>
          <a:p>
            <a:pPr lvl="1"/>
            <a:r>
              <a:rPr lang="zh-CN" altLang="en-US" dirty="0"/>
              <a:t>中文：汉字数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str: </a:t>
            </a:r>
            <a:r>
              <a:rPr lang="zh-CN" altLang="en-US" dirty="0"/>
              <a:t>把其他类型的数据转为字符串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433" y="342900"/>
            <a:ext cx="2482038" cy="174071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433" y="2162627"/>
            <a:ext cx="2836367" cy="10877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563" y="3306372"/>
            <a:ext cx="2257247" cy="140183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说明第一行结果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123.00123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和第二行结果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1230.00123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是如何计算出来的。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4295537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96" y="2148119"/>
            <a:ext cx="3457804" cy="2147418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9613900" y="4658499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2573020" cy="1938992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第一行：数字加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123 + 0.00123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第二行：字符串加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123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+ “0.00123” 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16" name="RemarkBack"/>
            <p:cNvSpPr/>
            <p:nvPr>
              <p:custDataLst>
                <p:tags r:id="rId9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0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1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" name="RemarkBack"/>
          <p:cNvSpPr/>
          <p:nvPr>
            <p:custDataLst>
              <p:tags r:id="rId12"/>
            </p:custDataLst>
          </p:nvPr>
        </p:nvSpPr>
        <p:spPr>
          <a:xfrm>
            <a:off x="9537700" y="12700"/>
            <a:ext cx="285496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3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4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442668" cy="39370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常见字符串操作</a:t>
            </a:r>
            <a:endParaRPr lang="en-US" altLang="zh-CN" dirty="0"/>
          </a:p>
          <a:p>
            <a:pPr lvl="1"/>
            <a:r>
              <a:rPr lang="zh-CN" altLang="en-US" dirty="0"/>
              <a:t>注意：字符串操作并不改变原来的字符串，生产一个新的字符串</a:t>
            </a:r>
            <a:endParaRPr lang="en-US" altLang="zh-CN" dirty="0"/>
          </a:p>
          <a:p>
            <a:r>
              <a:rPr lang="zh-CN" altLang="en-US" dirty="0"/>
              <a:t>举例</a:t>
            </a:r>
            <a:r>
              <a:rPr lang="en-US" altLang="zh-CN" dirty="0"/>
              <a:t>1</a:t>
            </a:r>
            <a:r>
              <a:rPr lang="zh-CN" altLang="en-US" dirty="0"/>
              <a:t>：替换和变成大写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举例</a:t>
            </a:r>
            <a:r>
              <a:rPr lang="en-US" altLang="zh-CN" dirty="0"/>
              <a:t>2</a:t>
            </a:r>
            <a:r>
              <a:rPr lang="zh-CN" altLang="en-US" dirty="0"/>
              <a:t>：可以通过</a:t>
            </a:r>
            <a:r>
              <a:rPr lang="en-US" altLang="zh-CN" dirty="0"/>
              <a:t>for</a:t>
            </a:r>
            <a:r>
              <a:rPr lang="zh-CN" altLang="en-US" dirty="0"/>
              <a:t>和</a:t>
            </a:r>
            <a:r>
              <a:rPr lang="en-US" altLang="zh-CN" dirty="0"/>
              <a:t>in</a:t>
            </a:r>
            <a:r>
              <a:rPr lang="zh-CN" altLang="en-US" dirty="0"/>
              <a:t>组成的循环来遍历字符串中每个字符：</a:t>
            </a:r>
            <a:endParaRPr lang="zh-CN" altLang="en-US" dirty="0"/>
          </a:p>
          <a:p>
            <a:pPr marL="457200" lvl="1" indent="0">
              <a:buNone/>
            </a:pPr>
            <a:r>
              <a:rPr lang="en-US" altLang="zh-CN" dirty="0"/>
              <a:t>for&lt;var&gt;in&lt;string&gt;: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操作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868" y="3275525"/>
            <a:ext cx="2127556" cy="1526191"/>
          </a:xfrm>
          <a:prstGeom prst="rect">
            <a:avLst/>
          </a:prstGeom>
        </p:spPr>
      </p:pic>
      <p:pic>
        <p:nvPicPr>
          <p:cNvPr id="7" name="图片 6" descr="电子教案3-1 基本数据类型.pdf - Adobe Acrobat Reader DC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0" t="34396" r="32713" b="2918"/>
          <a:stretch>
            <a:fillRect/>
          </a:stretch>
        </p:blipFill>
        <p:spPr>
          <a:xfrm>
            <a:off x="5740842" y="341784"/>
            <a:ext cx="3085106" cy="22299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9" y="2082840"/>
            <a:ext cx="2324302" cy="127261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字符串格式化处理</a:t>
            </a:r>
            <a:r>
              <a:rPr lang="en-US" altLang="zh-CN" dirty="0"/>
              <a:t>format()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160397" cy="393700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常见于生产格式化的文本，比如：系统日志信息等</a:t>
            </a:r>
            <a:endParaRPr lang="en-US" altLang="zh-CN" sz="1600" dirty="0"/>
          </a:p>
          <a:p>
            <a:r>
              <a:rPr lang="zh-CN" altLang="en-US" sz="1600" dirty="0"/>
              <a:t>基本语法格式：</a:t>
            </a:r>
            <a:r>
              <a:rPr lang="en-US" altLang="zh-CN" sz="1600" dirty="0"/>
              <a:t>&lt;</a:t>
            </a:r>
            <a:r>
              <a:rPr lang="zh-CN" altLang="en-US" sz="1600" dirty="0"/>
              <a:t>模板字符串</a:t>
            </a:r>
            <a:r>
              <a:rPr lang="en-US" altLang="zh-CN" sz="1600" dirty="0"/>
              <a:t>&gt;.format(&lt;</a:t>
            </a:r>
            <a:r>
              <a:rPr lang="zh-CN" altLang="en-US" sz="1600" dirty="0"/>
              <a:t>逗号分隔的参数</a:t>
            </a:r>
            <a:r>
              <a:rPr lang="en-US" altLang="zh-CN" sz="1600" dirty="0"/>
              <a:t>&gt;)</a:t>
            </a:r>
            <a:endParaRPr lang="en-US" altLang="zh-CN" sz="1600" dirty="0"/>
          </a:p>
          <a:p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95" y="1760839"/>
            <a:ext cx="4419669" cy="10890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95" y="3055356"/>
            <a:ext cx="4401667" cy="7930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909" y="1744439"/>
            <a:ext cx="3666432" cy="1132719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更加高级的用法：格式控制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540" y="819150"/>
            <a:ext cx="8714629" cy="3937000"/>
          </a:xfrm>
        </p:spPr>
        <p:txBody>
          <a:bodyPr/>
          <a:lstStyle/>
          <a:p>
            <a:r>
              <a:rPr lang="zh-CN" altLang="en-US" dirty="0"/>
              <a:t>槽的内部样式如下：</a:t>
            </a:r>
            <a:r>
              <a:rPr lang="en-US" altLang="zh-CN" dirty="0"/>
              <a:t>{&lt;</a:t>
            </a:r>
            <a:r>
              <a:rPr lang="zh-CN" altLang="en-US" dirty="0"/>
              <a:t>参数序号</a:t>
            </a:r>
            <a:r>
              <a:rPr lang="en-US" altLang="zh-CN" dirty="0"/>
              <a:t>&gt;: &lt;</a:t>
            </a:r>
            <a:r>
              <a:rPr lang="zh-CN" altLang="en-US" dirty="0"/>
              <a:t>格式控制标记</a:t>
            </a:r>
            <a:r>
              <a:rPr lang="en-US" altLang="zh-CN" dirty="0"/>
              <a:t>&gt;} </a:t>
            </a:r>
            <a:endParaRPr lang="en-US" altLang="zh-CN" dirty="0"/>
          </a:p>
          <a:p>
            <a:pPr lvl="1"/>
            <a:r>
              <a:rPr lang="zh-CN" altLang="en-US" dirty="0"/>
              <a:t>参数序号表示从第几个参数中取值</a:t>
            </a:r>
            <a:endParaRPr lang="en-US" altLang="zh-CN" dirty="0"/>
          </a:p>
          <a:p>
            <a:pPr lvl="1"/>
            <a:r>
              <a:rPr lang="zh-CN" altLang="en-US" dirty="0"/>
              <a:t>格式控制标记用来控制参数显示时的格式，包括：</a:t>
            </a:r>
            <a:endParaRPr lang="en-US" altLang="zh-CN" dirty="0"/>
          </a:p>
          <a:p>
            <a:pPr lvl="2"/>
            <a:r>
              <a:rPr lang="en-US" altLang="zh-CN" dirty="0"/>
              <a:t>&lt;</a:t>
            </a:r>
            <a:r>
              <a:rPr lang="zh-CN" altLang="en-US" dirty="0"/>
              <a:t>填充</a:t>
            </a:r>
            <a:r>
              <a:rPr lang="en-US" altLang="zh-CN" dirty="0"/>
              <a:t>&gt;&lt;</a:t>
            </a:r>
            <a:r>
              <a:rPr lang="zh-CN" altLang="en-US" dirty="0"/>
              <a:t>对齐</a:t>
            </a:r>
            <a:r>
              <a:rPr lang="en-US" altLang="zh-CN" dirty="0"/>
              <a:t>&gt;&lt;</a:t>
            </a:r>
            <a:r>
              <a:rPr lang="zh-CN" altLang="en-US" dirty="0"/>
              <a:t>宽度</a:t>
            </a:r>
            <a:r>
              <a:rPr lang="en-US" altLang="zh-CN" dirty="0"/>
              <a:t>&gt;,&lt;.</a:t>
            </a:r>
            <a:r>
              <a:rPr lang="zh-CN" altLang="en-US" dirty="0"/>
              <a:t>精度</a:t>
            </a:r>
            <a:r>
              <a:rPr lang="en-US" altLang="zh-CN" dirty="0"/>
              <a:t>&gt;&lt;</a:t>
            </a:r>
            <a:r>
              <a:rPr lang="zh-CN" altLang="en-US" dirty="0"/>
              <a:t>类型</a:t>
            </a:r>
            <a:r>
              <a:rPr lang="en-US" altLang="zh-CN" dirty="0"/>
              <a:t>&gt;6</a:t>
            </a:r>
            <a:r>
              <a:rPr lang="zh-CN" altLang="en-US" dirty="0"/>
              <a:t>个字段</a:t>
            </a:r>
            <a:endParaRPr lang="en-US" altLang="zh-CN" dirty="0"/>
          </a:p>
          <a:p>
            <a:pPr lvl="2"/>
            <a:r>
              <a:rPr lang="zh-CN" altLang="en-US" dirty="0"/>
              <a:t>字段都是可选的，可以组合使用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31" y="2469850"/>
            <a:ext cx="4933783" cy="145794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54" y="2476428"/>
            <a:ext cx="3906914" cy="86312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字符串使用实例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问题：输入一个月份数字，返回对应月份名称缩写</a:t>
            </a:r>
            <a:endParaRPr lang="en-US" altLang="zh-CN" dirty="0"/>
          </a:p>
          <a:p>
            <a:pPr lvl="1"/>
            <a:r>
              <a:rPr lang="zh-CN" altLang="en-US" dirty="0"/>
              <a:t>输入：输入一个表示月份的数字</a:t>
            </a:r>
            <a:r>
              <a:rPr lang="en-US" altLang="zh-CN" dirty="0"/>
              <a:t>(1-12)</a:t>
            </a:r>
            <a:endParaRPr lang="en-US" altLang="zh-CN" dirty="0"/>
          </a:p>
          <a:p>
            <a:pPr lvl="1"/>
            <a:r>
              <a:rPr lang="zh-CN" altLang="en-US" dirty="0"/>
              <a:t>处理：利用字符串基本操作实现该功能</a:t>
            </a:r>
            <a:endParaRPr lang="zh-CN" altLang="en-US" dirty="0"/>
          </a:p>
          <a:p>
            <a:pPr lvl="1"/>
            <a:r>
              <a:rPr lang="zh-CN" altLang="en-US" dirty="0"/>
              <a:t>输出：输入数字对应月份名称的缩写 </a:t>
            </a:r>
            <a:r>
              <a:rPr lang="en-US" altLang="zh-CN" dirty="0"/>
              <a:t>(</a:t>
            </a:r>
            <a:r>
              <a:rPr lang="zh-CN" altLang="en-US" dirty="0"/>
              <a:t>如：</a:t>
            </a:r>
            <a:r>
              <a:rPr lang="en-US" altLang="zh-CN" dirty="0"/>
              <a:t>1 -&gt; Jan)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设计思路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将所有的月份名称缩写存储在一个字符串中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在字符串中截取适当的子串来查找特定月份</a:t>
            </a:r>
            <a:endParaRPr lang="zh-CN" altLang="en-US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找出在哪里切割子串</a:t>
            </a:r>
            <a:endParaRPr lang="en-US" altLang="zh-CN" dirty="0"/>
          </a:p>
          <a:p>
            <a:pPr lvl="2"/>
            <a:r>
              <a:rPr lang="zh-CN" altLang="en-US" dirty="0"/>
              <a:t>每个月份的缩写都由</a:t>
            </a:r>
            <a:r>
              <a:rPr lang="en-US" altLang="zh-CN" dirty="0"/>
              <a:t>3</a:t>
            </a:r>
            <a:r>
              <a:rPr lang="zh-CN" altLang="en-US" dirty="0"/>
              <a:t>个字母组成</a:t>
            </a:r>
            <a:endParaRPr lang="en-US" altLang="zh-CN" dirty="0"/>
          </a:p>
          <a:p>
            <a:pPr lvl="2"/>
            <a:r>
              <a:rPr lang="zh-CN" altLang="en-US" dirty="0"/>
              <a:t>如果</a:t>
            </a:r>
            <a:r>
              <a:rPr lang="en-US" altLang="zh-CN" dirty="0"/>
              <a:t>pos</a:t>
            </a:r>
            <a:r>
              <a:rPr lang="zh-CN" altLang="en-US" dirty="0"/>
              <a:t>表示一个月份的第一个字母，则</a:t>
            </a:r>
            <a:r>
              <a:rPr lang="en-US" altLang="zh-CN" dirty="0"/>
              <a:t>months[pos:pos+3]</a:t>
            </a:r>
            <a:r>
              <a:rPr lang="zh-CN" altLang="en-US" dirty="0"/>
              <a:t>表示这个月份的缩写</a:t>
            </a:r>
            <a:endParaRPr lang="en-US" altLang="zh-CN" dirty="0"/>
          </a:p>
          <a:p>
            <a:pPr lvl="2"/>
            <a:r>
              <a:rPr lang="en-US" altLang="zh-CN" dirty="0" err="1"/>
              <a:t>monthAbbrev</a:t>
            </a:r>
            <a:r>
              <a:rPr lang="en-US" altLang="zh-CN" dirty="0"/>
              <a:t> = months[pos:pos+3]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608" y="2982457"/>
            <a:ext cx="4917852" cy="18447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字符串使用实例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月份与字符串初始位置关系： </a:t>
            </a:r>
            <a:r>
              <a:rPr lang="en-US" altLang="zh-CN" dirty="0"/>
              <a:t>(n – 1) * 3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编写程序</a:t>
            </a:r>
            <a:endParaRPr lang="zh-CN" altLang="en-US" dirty="0"/>
          </a:p>
        </p:txBody>
      </p:sp>
      <p:pic>
        <p:nvPicPr>
          <p:cNvPr id="9" name="内容占位符 4" descr="电子教案3-1 基本数据类型.pdf - Adobe Acrobat Reader DC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0" t="38874" r="42817" b="28711"/>
          <a:stretch>
            <a:fillRect/>
          </a:stretch>
        </p:blipFill>
        <p:spPr>
          <a:xfrm>
            <a:off x="946339" y="1257193"/>
            <a:ext cx="2528381" cy="127408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39" y="3083206"/>
            <a:ext cx="3605239" cy="1781188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字符串使用实例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034793" cy="3937000"/>
          </a:xfrm>
        </p:spPr>
        <p:txBody>
          <a:bodyPr/>
          <a:lstStyle/>
          <a:p>
            <a:r>
              <a:rPr lang="zh-CN" altLang="en-US" dirty="0"/>
              <a:t>任务：简单的非刷新文本进度条</a:t>
            </a:r>
            <a:endParaRPr lang="zh-CN" altLang="en-US" dirty="0"/>
          </a:p>
          <a:p>
            <a:r>
              <a:rPr lang="zh-CN" altLang="en-US" dirty="0"/>
              <a:t>设计思路：</a:t>
            </a:r>
            <a:endParaRPr lang="en-US" altLang="zh-CN" dirty="0"/>
          </a:p>
          <a:p>
            <a:pPr lvl="1"/>
            <a:r>
              <a:rPr lang="zh-CN" altLang="en-US" dirty="0"/>
              <a:t>利用</a:t>
            </a:r>
            <a:r>
              <a:rPr lang="en-US" altLang="zh-CN" dirty="0"/>
              <a:t>print()</a:t>
            </a:r>
            <a:r>
              <a:rPr lang="zh-CN" altLang="en-US" dirty="0"/>
              <a:t>函数实现</a:t>
            </a:r>
            <a:endParaRPr lang="en-US" altLang="zh-CN" dirty="0"/>
          </a:p>
          <a:p>
            <a:pPr lvl="1"/>
            <a:r>
              <a:rPr lang="zh-CN" altLang="en-US" dirty="0"/>
              <a:t>按照任务执行百分比将整个任务划分为</a:t>
            </a:r>
            <a:r>
              <a:rPr lang="en-US" altLang="zh-CN" dirty="0"/>
              <a:t>100</a:t>
            </a:r>
            <a:r>
              <a:rPr lang="zh-CN" altLang="en-US" dirty="0"/>
              <a:t>个单位，每执行</a:t>
            </a:r>
            <a:r>
              <a:rPr lang="en-US" altLang="zh-CN" dirty="0"/>
              <a:t>N%</a:t>
            </a:r>
            <a:r>
              <a:rPr lang="zh-CN" altLang="en-US" dirty="0"/>
              <a:t>输出一次进度条。</a:t>
            </a:r>
            <a:endParaRPr lang="en-US" altLang="zh-CN" dirty="0"/>
          </a:p>
          <a:p>
            <a:pPr lvl="1"/>
            <a:r>
              <a:rPr lang="zh-CN" altLang="en-US" dirty="0"/>
              <a:t>每一行输出包含进度百分比，代表已完成的部分</a:t>
            </a:r>
            <a:r>
              <a:rPr lang="en-US" altLang="zh-CN" dirty="0"/>
              <a:t>(**)</a:t>
            </a:r>
            <a:r>
              <a:rPr lang="zh-CN" altLang="en-US" dirty="0"/>
              <a:t>和未完成的部分</a:t>
            </a:r>
            <a:r>
              <a:rPr lang="en-US" altLang="zh-CN" dirty="0"/>
              <a:t>(..)</a:t>
            </a:r>
            <a:r>
              <a:rPr lang="zh-CN" altLang="en-US" dirty="0"/>
              <a:t>的两种字符，以及一个跟随完成度前进的小箭头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395" y="3269558"/>
            <a:ext cx="5905543" cy="55245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字符串使用实例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819150"/>
            <a:ext cx="5303274" cy="3937000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scale=10</a:t>
            </a:r>
            <a:r>
              <a:rPr lang="zh-CN" altLang="en-US" sz="1800" dirty="0"/>
              <a:t>：分成</a:t>
            </a:r>
            <a:r>
              <a:rPr lang="en-US" altLang="zh-CN" sz="1800" dirty="0"/>
              <a:t>10</a:t>
            </a:r>
            <a:r>
              <a:rPr lang="zh-CN" altLang="en-US" sz="1800" dirty="0"/>
              <a:t>段执行，每一段提升</a:t>
            </a:r>
            <a:r>
              <a:rPr lang="en-US" altLang="zh-CN" sz="1800" dirty="0"/>
              <a:t>10%</a:t>
            </a:r>
            <a:endParaRPr lang="en-US" altLang="zh-CN" sz="1800" dirty="0"/>
          </a:p>
          <a:p>
            <a:r>
              <a:rPr lang="zh-CN" altLang="en-US" sz="1800" dirty="0"/>
              <a:t>每一个循环画出一个进度条</a:t>
            </a:r>
            <a:endParaRPr lang="en-US" altLang="zh-CN" sz="1800" dirty="0"/>
          </a:p>
          <a:p>
            <a:pPr lvl="1"/>
            <a:r>
              <a:rPr lang="en-US" altLang="zh-CN" sz="1600" dirty="0" err="1"/>
              <a:t>i</a:t>
            </a:r>
            <a:r>
              <a:rPr lang="zh-CN" altLang="en-US" sz="1600" dirty="0"/>
              <a:t>：当前的轮数的进度，</a:t>
            </a:r>
            <a:r>
              <a:rPr lang="en-US" altLang="zh-CN" sz="1600" dirty="0"/>
              <a:t>0</a:t>
            </a:r>
            <a:r>
              <a:rPr lang="zh-CN" altLang="en-US" sz="1600" dirty="0"/>
              <a:t>，</a:t>
            </a:r>
            <a:r>
              <a:rPr lang="en-US" altLang="zh-CN" sz="1600" dirty="0"/>
              <a:t>1</a:t>
            </a:r>
            <a:r>
              <a:rPr lang="zh-CN" altLang="en-US" sz="1600" dirty="0"/>
              <a:t>，</a:t>
            </a:r>
            <a:r>
              <a:rPr lang="en-US" altLang="zh-CN" sz="1600" dirty="0"/>
              <a:t>2, …, 10</a:t>
            </a:r>
            <a:endParaRPr lang="en-US" altLang="zh-CN" sz="1600" dirty="0"/>
          </a:p>
          <a:p>
            <a:pPr lvl="1"/>
            <a:r>
              <a:rPr lang="en-US" altLang="zh-CN" sz="1600" dirty="0"/>
              <a:t>a: </a:t>
            </a:r>
            <a:r>
              <a:rPr lang="zh-CN" altLang="en-US" sz="1600" dirty="0"/>
              <a:t>把字符串</a:t>
            </a:r>
            <a:r>
              <a:rPr lang="en-US" altLang="zh-CN" sz="1600" dirty="0"/>
              <a:t>“**”</a:t>
            </a:r>
            <a:r>
              <a:rPr lang="zh-CN" altLang="en-US" sz="1600" dirty="0"/>
              <a:t>重复</a:t>
            </a:r>
            <a:r>
              <a:rPr lang="en-US" altLang="zh-CN" sz="1600" dirty="0" err="1"/>
              <a:t>i</a:t>
            </a:r>
            <a:r>
              <a:rPr lang="zh-CN" altLang="en-US" sz="1600" dirty="0"/>
              <a:t>次，表示完成的进度</a:t>
            </a:r>
            <a:endParaRPr lang="en-US" altLang="zh-CN" sz="1600" dirty="0"/>
          </a:p>
          <a:p>
            <a:pPr lvl="1"/>
            <a:r>
              <a:rPr lang="en-US" altLang="zh-CN" sz="1600" dirty="0"/>
              <a:t>b: </a:t>
            </a:r>
            <a:r>
              <a:rPr lang="zh-CN" altLang="en-US" sz="1600" dirty="0"/>
              <a:t>把字符串 </a:t>
            </a:r>
            <a:r>
              <a:rPr lang="en-US" altLang="zh-CN" sz="1600" dirty="0"/>
              <a:t>“..”</a:t>
            </a:r>
            <a:r>
              <a:rPr lang="zh-CN" altLang="en-US" sz="1600" dirty="0"/>
              <a:t>重复</a:t>
            </a:r>
            <a:r>
              <a:rPr lang="en-US" altLang="zh-CN" sz="1600" dirty="0"/>
              <a:t>scale –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</a:t>
            </a:r>
            <a:r>
              <a:rPr lang="zh-CN" altLang="en-US" sz="1600" dirty="0"/>
              <a:t>次，表示未完成的进度</a:t>
            </a:r>
            <a:endParaRPr lang="en-US" altLang="zh-CN" sz="1600" dirty="0"/>
          </a:p>
          <a:p>
            <a:pPr lvl="1"/>
            <a:r>
              <a:rPr lang="en-US" altLang="zh-CN" sz="1600" dirty="0"/>
              <a:t>c: </a:t>
            </a:r>
            <a:r>
              <a:rPr lang="zh-CN" altLang="en-US" sz="1600" dirty="0"/>
              <a:t>当前进度度百分比，</a:t>
            </a:r>
            <a:r>
              <a:rPr lang="en-US" altLang="zh-CN" sz="1600" dirty="0"/>
              <a:t>scale = 10</a:t>
            </a:r>
            <a:r>
              <a:rPr lang="zh-CN" altLang="en-US" sz="1600" dirty="0"/>
              <a:t>时候，就是</a:t>
            </a:r>
            <a:r>
              <a:rPr lang="en-US" altLang="zh-CN" sz="1600" dirty="0" err="1"/>
              <a:t>i</a:t>
            </a:r>
            <a:r>
              <a:rPr lang="zh-CN" altLang="en-US" sz="1600" dirty="0"/>
              <a:t>*</a:t>
            </a:r>
            <a:r>
              <a:rPr lang="en-US" altLang="zh-CN" sz="1600" dirty="0"/>
              <a:t>10</a:t>
            </a:r>
            <a:endParaRPr lang="en-US" altLang="zh-CN" sz="1600" dirty="0"/>
          </a:p>
          <a:p>
            <a:pPr lvl="1"/>
            <a:r>
              <a:rPr lang="zh-CN" altLang="en-US" sz="1600" dirty="0"/>
              <a:t>通过字符串格式化画得到进度条字符串</a:t>
            </a:r>
            <a:endParaRPr lang="en-US" altLang="zh-CN" sz="16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zh-CN" altLang="en-US" sz="1800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474" y="767466"/>
            <a:ext cx="3276429" cy="393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进度条单行动态刷新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461581" cy="393700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了解“回车”和“换行”字符</a:t>
            </a:r>
            <a:endParaRPr lang="en-US" altLang="zh-CN" sz="1600" dirty="0"/>
          </a:p>
          <a:p>
            <a:pPr lvl="1"/>
            <a:r>
              <a:rPr lang="zh-CN" altLang="en-US" sz="1400" dirty="0"/>
              <a:t>回车</a:t>
            </a:r>
            <a:r>
              <a:rPr lang="en-US" altLang="zh-CN" sz="1400" dirty="0">
                <a:solidFill>
                  <a:srgbClr val="FF0000"/>
                </a:solidFill>
              </a:rPr>
              <a:t>&lt;\r&gt;</a:t>
            </a:r>
            <a:r>
              <a:rPr lang="en-US" altLang="zh-CN" sz="1400" dirty="0"/>
              <a:t>(carriage return)</a:t>
            </a:r>
            <a:r>
              <a:rPr lang="zh-CN" altLang="en-US" sz="1400" dirty="0"/>
              <a:t>：把打印头定位到左边界（打印头重新放在这一行的开始）。</a:t>
            </a:r>
            <a:endParaRPr lang="en-US" altLang="zh-CN" sz="1400" dirty="0"/>
          </a:p>
          <a:p>
            <a:pPr lvl="1"/>
            <a:r>
              <a:rPr lang="zh-CN" altLang="en-US" sz="1400" dirty="0"/>
              <a:t>换行</a:t>
            </a:r>
            <a:r>
              <a:rPr lang="en-US" altLang="zh-CN" sz="1400" dirty="0">
                <a:solidFill>
                  <a:srgbClr val="FF0000"/>
                </a:solidFill>
              </a:rPr>
              <a:t>&lt;\n&gt;</a:t>
            </a:r>
            <a:r>
              <a:rPr lang="en-US" altLang="zh-CN" sz="1400" dirty="0"/>
              <a:t>(line feed)</a:t>
            </a:r>
            <a:r>
              <a:rPr lang="zh-CN" altLang="en-US" sz="1400" dirty="0"/>
              <a:t>：把纸向下移一行。</a:t>
            </a:r>
            <a:endParaRPr lang="en-US" altLang="zh-CN" sz="1400" dirty="0"/>
          </a:p>
          <a:p>
            <a:endParaRPr lang="en-US" altLang="zh-CN" sz="1600" dirty="0"/>
          </a:p>
          <a:p>
            <a:r>
              <a:rPr lang="en-US" altLang="zh-CN" sz="1600" dirty="0"/>
              <a:t>Unix</a:t>
            </a:r>
            <a:r>
              <a:rPr lang="zh-CN" altLang="en-US" sz="1600" dirty="0"/>
              <a:t>系统：每行结尾只有</a:t>
            </a:r>
            <a:r>
              <a:rPr lang="en-US" altLang="zh-CN" sz="1600" dirty="0"/>
              <a:t>"&lt;</a:t>
            </a:r>
            <a:r>
              <a:rPr lang="zh-CN" altLang="en-US" sz="1600" dirty="0"/>
              <a:t>换行</a:t>
            </a:r>
            <a:r>
              <a:rPr lang="en-US" altLang="zh-CN" sz="1600" dirty="0"/>
              <a:t>&gt;"</a:t>
            </a:r>
            <a:r>
              <a:rPr lang="zh-CN" altLang="en-US" sz="1600" dirty="0"/>
              <a:t>，即</a:t>
            </a:r>
            <a:r>
              <a:rPr lang="en-US" altLang="zh-CN" sz="1600" dirty="0"/>
              <a:t>"\n"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r>
              <a:rPr lang="en-US" altLang="zh-CN" sz="1600" dirty="0"/>
              <a:t>Windows</a:t>
            </a:r>
            <a:r>
              <a:rPr lang="zh-CN" altLang="en-US" sz="1600" dirty="0"/>
              <a:t>：每行结尾是</a:t>
            </a:r>
            <a:r>
              <a:rPr lang="en-US" altLang="zh-CN" sz="1600" dirty="0"/>
              <a:t>"&lt;</a:t>
            </a:r>
            <a:r>
              <a:rPr lang="zh-CN" altLang="en-US" sz="1600" dirty="0"/>
              <a:t>回车</a:t>
            </a:r>
            <a:r>
              <a:rPr lang="en-US" altLang="zh-CN" sz="1600" dirty="0"/>
              <a:t>&gt;&lt;</a:t>
            </a:r>
            <a:r>
              <a:rPr lang="zh-CN" altLang="en-US" sz="1600" dirty="0"/>
              <a:t>换行</a:t>
            </a:r>
            <a:r>
              <a:rPr lang="en-US" altLang="zh-CN" sz="1600" dirty="0"/>
              <a:t>&gt;"</a:t>
            </a:r>
            <a:r>
              <a:rPr lang="zh-CN" altLang="en-US" sz="1600" dirty="0"/>
              <a:t>，即</a:t>
            </a:r>
            <a:r>
              <a:rPr lang="en-US" altLang="zh-CN" sz="1600" dirty="0"/>
              <a:t>"\r\n"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r>
              <a:rPr lang="en-US" altLang="zh-CN" sz="1600" dirty="0"/>
              <a:t>Mac</a:t>
            </a:r>
            <a:r>
              <a:rPr lang="zh-CN" altLang="en-US" sz="1600" dirty="0"/>
              <a:t>：每行结尾是</a:t>
            </a:r>
            <a:r>
              <a:rPr lang="en-US" altLang="zh-CN" sz="1600" dirty="0"/>
              <a:t>"&lt;</a:t>
            </a:r>
            <a:r>
              <a:rPr lang="zh-CN" altLang="en-US" sz="1600" dirty="0"/>
              <a:t>回车</a:t>
            </a:r>
            <a:r>
              <a:rPr lang="en-US" altLang="zh-CN" sz="1600" dirty="0"/>
              <a:t>&gt;"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如何单行刷新？</a:t>
            </a:r>
            <a:endParaRPr lang="en-US" altLang="zh-CN" sz="1600" dirty="0"/>
          </a:p>
          <a:p>
            <a:pPr lvl="1"/>
            <a:r>
              <a:rPr lang="zh-CN" altLang="en-US" sz="1400" dirty="0"/>
              <a:t>只回车，不换行</a:t>
            </a:r>
            <a:endParaRPr lang="en-US" altLang="zh-CN" sz="1400" dirty="0"/>
          </a:p>
          <a:p>
            <a:pPr lvl="1"/>
            <a:r>
              <a:rPr lang="zh-CN" altLang="en-US" sz="1400" dirty="0"/>
              <a:t>用后打印的内容覆盖原来的内容</a:t>
            </a:r>
            <a:endParaRPr lang="zh-CN" altLang="en-US" sz="1400" dirty="0"/>
          </a:p>
        </p:txBody>
      </p:sp>
      <p:pic>
        <p:nvPicPr>
          <p:cNvPr id="1026" name="Picture 2" descr="针式打印机打印头图片(第1页) - 一起扣扣网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089" y="3081130"/>
            <a:ext cx="3168242" cy="185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这台穿越时光的打字机，流淌着50 年的工业之美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089" y="688471"/>
            <a:ext cx="2948382" cy="221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试一下效果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819150"/>
            <a:ext cx="4362275" cy="3937000"/>
          </a:xfrm>
        </p:spPr>
        <p:txBody>
          <a:bodyPr/>
          <a:lstStyle/>
          <a:p>
            <a:r>
              <a:rPr lang="da-DK" altLang="zh-CN" dirty="0"/>
              <a:t>print("\r{:3}%".format(i), end="")</a:t>
            </a:r>
            <a:endParaRPr lang="da-DK" altLang="zh-CN" dirty="0"/>
          </a:p>
          <a:p>
            <a:pPr lvl="1"/>
            <a:r>
              <a:rPr lang="da-DK" altLang="zh-CN" dirty="0"/>
              <a:t>\r</a:t>
            </a:r>
            <a:r>
              <a:rPr lang="zh-CN" altLang="en-US" dirty="0"/>
              <a:t>：回到最左列开始打印</a:t>
            </a:r>
            <a:endParaRPr lang="en-US" altLang="zh-CN" dirty="0"/>
          </a:p>
          <a:p>
            <a:pPr lvl="1"/>
            <a:r>
              <a:rPr lang="en-US" altLang="zh-CN" dirty="0"/>
              <a:t>end=“”: print</a:t>
            </a:r>
            <a:r>
              <a:rPr lang="zh-CN" altLang="en-US" dirty="0"/>
              <a:t>函数不打印</a:t>
            </a:r>
            <a:r>
              <a:rPr lang="en-US" altLang="zh-CN" dirty="0"/>
              <a:t>\n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注意：如果后打印的字符串比之前的字符串短，不能覆盖的部分将任然保留在屏幕上</a:t>
            </a:r>
            <a:endParaRPr lang="zh-CN" altLang="en-US" dirty="0"/>
          </a:p>
        </p:txBody>
      </p:sp>
      <p:pic>
        <p:nvPicPr>
          <p:cNvPr id="7" name="内容占位符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826" y="785341"/>
            <a:ext cx="4176743" cy="1362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826" y="2723402"/>
            <a:ext cx="3827534" cy="1307508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9525000" y="0"/>
            <a:ext cx="2880360" cy="51435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4999"/>
            <a:ext cx="4051879" cy="36605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改动图示的程序，实现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进度条单行动态刷新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4295537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4" name="内容占位符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279" y="541417"/>
            <a:ext cx="3276429" cy="39370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9613900" y="4342116"/>
            <a:ext cx="2702560" cy="646331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9525000" y="1270000"/>
            <a:ext cx="2880360" cy="58477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print(“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\r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%{0:^3.0f}[{1}-&gt;{2}]”. format(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c,a,b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)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, end=“”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微软雅黑" panose="020B0503020204020204" pitchFamily="34" charset="-122"/>
              </a:rPr>
              <a:t>)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2854960" cy="647700"/>
            <a:chOff x="9537700" y="0"/>
            <a:chExt cx="2854960" cy="647700"/>
          </a:xfrm>
        </p:grpSpPr>
        <p:sp>
          <p:nvSpPr>
            <p:cNvPr id="16" name="RemarkBack"/>
            <p:cNvSpPr/>
            <p:nvPr>
              <p:custDataLst>
                <p:tags r:id="rId9"/>
              </p:custDataLst>
            </p:nvPr>
          </p:nvSpPr>
          <p:spPr>
            <a:xfrm>
              <a:off x="9537700" y="12700"/>
              <a:ext cx="285496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Block"/>
            <p:cNvSpPr/>
            <p:nvPr>
              <p:custDataLst>
                <p:tags r:id="rId10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RemarkTitleText"/>
            <p:cNvSpPr txBox="1"/>
            <p:nvPr>
              <p:custDataLst>
                <p:tags r:id="rId11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" name="RemarkBack"/>
          <p:cNvSpPr/>
          <p:nvPr>
            <p:custDataLst>
              <p:tags r:id="rId12"/>
            </p:custDataLst>
          </p:nvPr>
        </p:nvSpPr>
        <p:spPr>
          <a:xfrm>
            <a:off x="9537700" y="12700"/>
            <a:ext cx="285496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3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4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练习与思考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练习：三天打鱼两天晒网</a:t>
            </a:r>
            <a:endParaRPr lang="en-US" altLang="zh-CN" dirty="0"/>
          </a:p>
          <a:p>
            <a:pPr lvl="1"/>
            <a:r>
              <a:rPr lang="zh-CN" altLang="en-US" dirty="0"/>
              <a:t>如果好好学习时能力值相比前一天提高</a:t>
            </a:r>
            <a:r>
              <a:rPr lang="en-US" altLang="zh-CN" dirty="0"/>
              <a:t>1‰</a:t>
            </a:r>
            <a:r>
              <a:rPr lang="zh-CN" altLang="en-US" dirty="0"/>
              <a:t>，当放任时相比前一天下降</a:t>
            </a:r>
            <a:r>
              <a:rPr lang="en-US" altLang="zh-CN" dirty="0"/>
              <a:t>0.8‰</a:t>
            </a:r>
            <a:endParaRPr lang="en-US" altLang="zh-CN" dirty="0"/>
          </a:p>
          <a:p>
            <a:pPr lvl="1"/>
            <a:r>
              <a:rPr lang="zh-CN" altLang="en-US" dirty="0"/>
              <a:t>写出程序，计算好好学习</a:t>
            </a:r>
            <a:r>
              <a:rPr lang="en-US" altLang="zh-CN" dirty="0"/>
              <a:t>3</a:t>
            </a:r>
            <a:r>
              <a:rPr lang="zh-CN" altLang="en-US" dirty="0"/>
              <a:t>天然后放任</a:t>
            </a:r>
            <a:r>
              <a:rPr lang="en-US" altLang="zh-CN" dirty="0"/>
              <a:t>2</a:t>
            </a:r>
            <a:r>
              <a:rPr lang="zh-CN" altLang="en-US" dirty="0"/>
              <a:t>天，学习</a:t>
            </a:r>
            <a:r>
              <a:rPr lang="en-US" altLang="zh-CN" dirty="0"/>
              <a:t>365</a:t>
            </a:r>
            <a:r>
              <a:rPr lang="zh-CN" altLang="en-US" dirty="0"/>
              <a:t>天后的能力值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思考：关于数的进制</a:t>
            </a:r>
            <a:endParaRPr lang="en-US" altLang="zh-CN" dirty="0"/>
          </a:p>
          <a:p>
            <a:pPr lvl="1"/>
            <a:r>
              <a:rPr lang="zh-CN" altLang="en-US" dirty="0"/>
              <a:t>为什么一个整数能被</a:t>
            </a:r>
            <a:r>
              <a:rPr lang="en-US" altLang="zh-CN" dirty="0"/>
              <a:t>3</a:t>
            </a:r>
            <a:r>
              <a:rPr lang="zh-CN" altLang="en-US" dirty="0"/>
              <a:t>整除，则它所有数位上数字之和也能被</a:t>
            </a:r>
            <a:r>
              <a:rPr lang="en-US" altLang="zh-CN" dirty="0"/>
              <a:t>3</a:t>
            </a:r>
            <a:r>
              <a:rPr lang="zh-CN" altLang="en-US" dirty="0"/>
              <a:t>整除？</a:t>
            </a:r>
            <a:endParaRPr lang="en-US" altLang="zh-CN" dirty="0"/>
          </a:p>
          <a:p>
            <a:pPr lvl="1"/>
            <a:r>
              <a:rPr lang="zh-CN" altLang="en-US" dirty="0"/>
              <a:t>还有那些数字具有这样的特点？</a:t>
            </a:r>
            <a:endParaRPr lang="en-US" altLang="zh-CN" dirty="0"/>
          </a:p>
          <a:p>
            <a:pPr lvl="1"/>
            <a:r>
              <a:rPr lang="en-US" altLang="zh-CN" dirty="0"/>
              <a:t>8</a:t>
            </a:r>
            <a:r>
              <a:rPr lang="zh-CN" altLang="en-US" dirty="0"/>
              <a:t>进制和</a:t>
            </a:r>
            <a:r>
              <a:rPr lang="en-US" altLang="zh-CN" dirty="0"/>
              <a:t>16</a:t>
            </a:r>
            <a:r>
              <a:rPr lang="zh-CN" altLang="en-US" dirty="0"/>
              <a:t>进制表达的整数，是否也存在这样的数字？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tags/tag1.xml><?xml version="1.0" encoding="utf-8"?>
<p:tagLst xmlns:p="http://schemas.openxmlformats.org/presentationml/2006/main">
  <p:tag name="RAINPROBLEM" val="ProblemRemarkBoard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p="http://schemas.openxmlformats.org/presentationml/2006/main">
  <p:tag name="PROBLEMREMARKTITLE" val="ProblemRemarkBoardTip"/>
</p:tagLst>
</file>

<file path=ppt/tags/tag10.xml><?xml version="1.0" encoding="utf-8"?>
<p:tagLst xmlns:p="http://schemas.openxmlformats.org/presentationml/2006/main">
  <p:tag name="RAINPROBLEM" val="ProblemRemark"/>
</p:tagLst>
</file>

<file path=ppt/tags/tag11.xml><?xml version="1.0" encoding="utf-8"?>
<p:tagLst xmlns:p="http://schemas.openxmlformats.org/presentationml/2006/main">
  <p:tag name="PROBLEMREMARKTITLE" val="ProblemRemarkBoardTitle"/>
</p:tagLst>
</file>

<file path=ppt/tags/tag12.xml><?xml version="1.0" encoding="utf-8"?>
<p:tagLst xmlns:p="http://schemas.openxmlformats.org/presentationml/2006/main">
  <p:tag name="PROBLEMREMARKTITLE" val="ProblemRemarkBoardTitle"/>
</p:tagLst>
</file>

<file path=ppt/tags/tag13.xml><?xml version="1.0" encoding="utf-8"?>
<p:tagLst xmlns:p="http://schemas.openxmlformats.org/presentationml/2006/main">
  <p:tag name="PROBLEMREMARKTITLE" val="ProblemRemarkBoardTitle"/>
</p:tagLst>
</file>

<file path=ppt/tags/tag14.xml><?xml version="1.0" encoding="utf-8"?>
<p:tagLst xmlns:p="http://schemas.openxmlformats.org/presentationml/2006/main">
  <p:tag name="PROBLEMREMARKTITLE" val="ProblemRemarkBoardTitle"/>
</p:tagLst>
</file>

<file path=ppt/tags/tag15.xml><?xml version="1.0" encoding="utf-8"?>
<p:tagLst xmlns:p="http://schemas.openxmlformats.org/presentationml/2006/main">
  <p:tag name="PROBLEMREMARKTITLE" val="ProblemRemarkBoardTitle"/>
</p:tagLst>
</file>

<file path=ppt/tags/tag16.xml><?xml version="1.0" encoding="utf-8"?>
<p:tagLst xmlns:p="http://schemas.openxmlformats.org/presentationml/2006/main">
  <p:tag name="PROBLEMREMARKTITLE" val="ProblemRemarkBoardTitle"/>
</p:tagLst>
</file>

<file path=ppt/tags/tag17.xml><?xml version="1.0" encoding="utf-8"?>
<p:tagLst xmlns:p="http://schemas.openxmlformats.org/presentationml/2006/main">
  <p:tag name="PROBLEMREMARKTITLE" val="ProblemRemarkBoardTitle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" val="ProblemSetting"/>
  <p:tag name="RAINPROBLEMTYPE" val="MultipleChoice"/>
</p:tagLst>
</file>

<file path=ppt/tags/tag24.xml><?xml version="1.0" encoding="utf-8"?>
<p:tagLst xmlns:p="http://schemas.openxmlformats.org/presentationml/2006/main">
  <p:tag name="RAINPROBLEM" val="MultipleChoice"/>
  <p:tag name="PROBLEMSCORE" val="1.0"/>
  <p:tag name="PROBLEMHASREMARK" val="True"/>
  <p:tag name="PROBLEMREMARK" val="2703763826271496729576234682033435790799558162689208984375&#10;&#10;&#10;10714368571740915734427767689504050118656"/>
</p:tagLst>
</file>

<file path=ppt/tags/tag25.xml><?xml version="1.0" encoding="utf-8"?>
<p:tagLst xmlns:p="http://schemas.openxmlformats.org/presentationml/2006/main">
  <p:tag name="RAINPROBLEM" val="ProblemRemarkBoard"/>
</p:tagLst>
</file>

<file path=ppt/tags/tag26.xml><?xml version="1.0" encoding="utf-8"?>
<p:tagLst xmlns:p="http://schemas.openxmlformats.org/presentationml/2006/main">
  <p:tag name="RAINPROBLEM" val="ProblemBody"/>
</p:tagLst>
</file>

<file path=ppt/tags/tag27.xml><?xml version="1.0" encoding="utf-8"?>
<p:tagLst xmlns:p="http://schemas.openxmlformats.org/presentationml/2006/main">
  <p:tag name="RAINPROBLEM" val="ProblemSubmit"/>
  <p:tag name="RAINPROBLEMTYPE" val="FillBlank"/>
</p:tagLst>
</file>

<file path=ppt/tags/tag28.xml><?xml version="1.0" encoding="utf-8"?>
<p:tagLst xmlns:p="http://schemas.openxmlformats.org/presentationml/2006/main">
  <p:tag name="PRODUCTVERSIONTIP3" val="PRODUCTVERSIONTIP3"/>
</p:tagLst>
</file>

<file path=ppt/tags/tag29.xml><?xml version="1.0" encoding="utf-8"?>
<p:tagLst xmlns:p="http://schemas.openxmlformats.org/presentationml/2006/main">
  <p:tag name="PROBLEMREMARKTITLE" val="ProblemRemarkBoardTip"/>
</p:tagLst>
</file>

<file path=ppt/tags/tag30.xml><?xml version="1.0" encoding="utf-8"?>
<p:tagLst xmlns:p="http://schemas.openxmlformats.org/presentationml/2006/main">
  <p:tag name="RAINPROBLEM" val="ProblemRemark"/>
</p:tagLst>
</file>

<file path=ppt/tags/tag31.xml><?xml version="1.0" encoding="utf-8"?>
<p:tagLst xmlns:p="http://schemas.openxmlformats.org/presentationml/2006/main">
  <p:tag name="PROBLEMREMARKTITLE" val="ProblemRemarkBoardTitle"/>
</p:tagLst>
</file>

<file path=ppt/tags/tag32.xml><?xml version="1.0" encoding="utf-8"?>
<p:tagLst xmlns:p="http://schemas.openxmlformats.org/presentationml/2006/main">
  <p:tag name="PROBLEMREMARKTITLE" val="ProblemRemarkBoardTitle"/>
</p:tagLst>
</file>

<file path=ppt/tags/tag33.xml><?xml version="1.0" encoding="utf-8"?>
<p:tagLst xmlns:p="http://schemas.openxmlformats.org/presentationml/2006/main">
  <p:tag name="PROBLEMREMARKTITLE" val="ProblemRemarkBoardTitle"/>
</p:tagLst>
</file>

<file path=ppt/tags/tag34.xml><?xml version="1.0" encoding="utf-8"?>
<p:tagLst xmlns:p="http://schemas.openxmlformats.org/presentationml/2006/main">
  <p:tag name="PROBLEMREMARKTITLE" val="ProblemRemarkBoardTitle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" val="ProblemSetting"/>
  <p:tag name="RAINPROBLEMTYPE" val="FillBlank"/>
</p:tagLst>
</file>

<file path=ppt/tags/tag41.xml><?xml version="1.0" encoding="utf-8"?>
<p:tagLst xmlns:p="http://schemas.openxmlformats.org/presentationml/2006/main">
  <p:tag name="RAINPROBLEM" val="FillBlank"/>
  <p:tag name="PROBLEMREMARK" val="256"/>
  <p:tag name="PROBLEMHASREMARK" val="False"/>
  <p:tag name="PROBLEMBLANKKEYWORD" val="填空"/>
  <p:tag name="PROBLEMSCORE" val="1.0"/>
  <p:tag name="PROBLEMBLANK" val="[{&quot;Num&quot;:1,&quot;Score&quot;:1.0,&quot;Answers&quot;:[&quot;256&quot;],&quot;CaseSensitive&quot;:false,&quot;FuzzyMatch&quot;:false}]"/>
</p:tagLst>
</file>

<file path=ppt/tags/tag42.xml><?xml version="1.0" encoding="utf-8"?>
<p:tagLst xmlns:p="http://schemas.openxmlformats.org/presentationml/2006/main">
  <p:tag name="RAINPROBLEM" val="ProblemRemarkBoard"/>
</p:tagLst>
</file>

<file path=ppt/tags/tag43.xml><?xml version="1.0" encoding="utf-8"?>
<p:tagLst xmlns:p="http://schemas.openxmlformats.org/presentationml/2006/main">
  <p:tag name="RAINPROBLEM" val="ProblemBody"/>
</p:tagLst>
</file>

<file path=ppt/tags/tag44.xml><?xml version="1.0" encoding="utf-8"?>
<p:tagLst xmlns:p="http://schemas.openxmlformats.org/presentationml/2006/main">
  <p:tag name="RAINPROBLEM" val="ProblemSubmit"/>
  <p:tag name="RAINPROBLEMTYPE" val="ShortAnswer"/>
</p:tagLst>
</file>

<file path=ppt/tags/tag45.xml><?xml version="1.0" encoding="utf-8"?>
<p:tagLst xmlns:p="http://schemas.openxmlformats.org/presentationml/2006/main">
  <p:tag name="PRODUCTVERSIONTIP" val="PRODUCTVERSIONTIP"/>
</p:tagLst>
</file>

<file path=ppt/tags/tag46.xml><?xml version="1.0" encoding="utf-8"?>
<p:tagLst xmlns:p="http://schemas.openxmlformats.org/presentationml/2006/main">
  <p:tag name="PROBLEMREMARKTITLE" val="ProblemRemarkBoardTip"/>
</p:tagLst>
</file>

<file path=ppt/tags/tag47.xml><?xml version="1.0" encoding="utf-8"?>
<p:tagLst xmlns:p="http://schemas.openxmlformats.org/presentationml/2006/main">
  <p:tag name="RAINPROBLEM" val="ProblemRemark"/>
</p:tagLst>
</file>

<file path=ppt/tags/tag48.xml><?xml version="1.0" encoding="utf-8"?>
<p:tagLst xmlns:p="http://schemas.openxmlformats.org/presentationml/2006/main">
  <p:tag name="PROBLEMREMARKTITLE" val="ProblemRemarkBoardTitle"/>
</p:tagLst>
</file>

<file path=ppt/tags/tag49.xml><?xml version="1.0" encoding="utf-8"?>
<p:tagLst xmlns:p="http://schemas.openxmlformats.org/presentationml/2006/main">
  <p:tag name="PROBLEMREMARKTITLE" val="ProblemRemarkBoardTitle"/>
</p:tagLst>
</file>

<file path=ppt/tags/tag50.xml><?xml version="1.0" encoding="utf-8"?>
<p:tagLst xmlns:p="http://schemas.openxmlformats.org/presentationml/2006/main">
  <p:tag name="PROBLEMREMARKTITLE" val="ProblemRemarkBoardTitle"/>
</p:tagLst>
</file>

<file path=ppt/tags/tag51.xml><?xml version="1.0" encoding="utf-8"?>
<p:tagLst xmlns:p="http://schemas.openxmlformats.org/presentationml/2006/main">
  <p:tag name="PROBLEMREMARKTITLE" val="ProblemRemarkBoardTitle"/>
</p:tagLst>
</file>

<file path=ppt/tags/tag52.xml><?xml version="1.0" encoding="utf-8"?>
<p:tagLst xmlns:p="http://schemas.openxmlformats.org/presentationml/2006/main">
  <p:tag name="PROBLEMREMARKTITLE" val="ProblemRemarkBoardTitle"/>
</p:tagLst>
</file>

<file path=ppt/tags/tag53.xml><?xml version="1.0" encoding="utf-8"?>
<p:tagLst xmlns:p="http://schemas.openxmlformats.org/presentationml/2006/main">
  <p:tag name="PROBLEMREMARKTITLE" val="ProblemRemarkBoardTitle"/>
</p:tagLst>
</file>

<file path=ppt/tags/tag54.xml><?xml version="1.0" encoding="utf-8"?>
<p:tagLst xmlns:p="http://schemas.openxmlformats.org/presentationml/2006/main">
  <p:tag name="PROBLEMREMARKTITLE" val="ProblemRemarkBoardTitle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" val="ProblemSetting"/>
  <p:tag name="RAINPROBLEMTYPE" val="ShortAnswer"/>
</p:tagLst>
</file>

<file path=ppt/tags/tag61.xml><?xml version="1.0" encoding="utf-8"?>
<p:tagLst xmlns:p="http://schemas.openxmlformats.org/presentationml/2006/main">
  <p:tag name="RAINPROBLEM" val="ShortAnswer"/>
  <p:tag name="PROBLEMSCORE" val="10.0"/>
  <p:tag name="PROBLEMHASREMARK" val="True"/>
  <p:tag name="PROBLEMREMARK" val="第一行：数字加&#10;123 + 0.00123&#10;&#10;第二行：字符串加&#10;“123” + “0.00123” "/>
  <p:tag name="PROBLEMVOICEALLOWED" val="False"/>
</p:tagLst>
</file>

<file path=ppt/tags/tag62.xml><?xml version="1.0" encoding="utf-8"?>
<p:tagLst xmlns:p="http://schemas.openxmlformats.org/presentationml/2006/main">
  <p:tag name="RAINPROBLEM" val="ProblemRemarkBoard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Submit"/>
  <p:tag name="RAINPROBLEMTYPE" val="ShortAnswer"/>
</p:tagLst>
</file>

<file path=ppt/tags/tag65.xml><?xml version="1.0" encoding="utf-8"?>
<p:tagLst xmlns:p="http://schemas.openxmlformats.org/presentationml/2006/main">
  <p:tag name="PRODUCTVERSIONTIP" val="PRODUCTVERSIONTIP"/>
</p:tagLst>
</file>

<file path=ppt/tags/tag66.xml><?xml version="1.0" encoding="utf-8"?>
<p:tagLst xmlns:p="http://schemas.openxmlformats.org/presentationml/2006/main">
  <p:tag name="PROBLEMREMARKTITLE" val="ProblemRemarkBoardTip"/>
</p:tagLst>
</file>

<file path=ppt/tags/tag67.xml><?xml version="1.0" encoding="utf-8"?>
<p:tagLst xmlns:p="http://schemas.openxmlformats.org/presentationml/2006/main">
  <p:tag name="RAINPROBLEM" val="ProblemRemark"/>
</p:tagLst>
</file>

<file path=ppt/tags/tag68.xml><?xml version="1.0" encoding="utf-8"?>
<p:tagLst xmlns:p="http://schemas.openxmlformats.org/presentationml/2006/main">
  <p:tag name="PROBLEMREMARKTITLE" val="ProblemRemarkBoardTitle"/>
</p:tagLst>
</file>

<file path=ppt/tags/tag69.xml><?xml version="1.0" encoding="utf-8"?>
<p:tagLst xmlns:p="http://schemas.openxmlformats.org/presentationml/2006/main">
  <p:tag name="PROBLEMREMARKTITLE" val="ProblemRemarkBoardTitle"/>
</p:tagLst>
</file>

<file path=ppt/tags/tag70.xml><?xml version="1.0" encoding="utf-8"?>
<p:tagLst xmlns:p="http://schemas.openxmlformats.org/presentationml/2006/main">
  <p:tag name="PROBLEMREMARKTITLE" val="ProblemRemarkBoardTitle"/>
</p:tagLst>
</file>

<file path=ppt/tags/tag71.xml><?xml version="1.0" encoding="utf-8"?>
<p:tagLst xmlns:p="http://schemas.openxmlformats.org/presentationml/2006/main">
  <p:tag name="PROBLEMREMARKTITLE" val="ProblemRemarkBoardTitle"/>
</p:tagLst>
</file>

<file path=ppt/tags/tag72.xml><?xml version="1.0" encoding="utf-8"?>
<p:tagLst xmlns:p="http://schemas.openxmlformats.org/presentationml/2006/main">
  <p:tag name="PROBLEMREMARKTITLE" val="ProblemRemarkBoardTitle"/>
</p:tagLst>
</file>

<file path=ppt/tags/tag73.xml><?xml version="1.0" encoding="utf-8"?>
<p:tagLst xmlns:p="http://schemas.openxmlformats.org/presentationml/2006/main">
  <p:tag name="PROBLEMREMARKTITLE" val="ProblemRemarkBoardTitle"/>
</p:tagLst>
</file>

<file path=ppt/tags/tag74.xml><?xml version="1.0" encoding="utf-8"?>
<p:tagLst xmlns:p="http://schemas.openxmlformats.org/presentationml/2006/main">
  <p:tag name="PROBLEMREMARKTITLE" val="ProblemRemarkBoardTitle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ShortAnswer"/>
</p:tagLst>
</file>

<file path=ppt/tags/tag81.xml><?xml version="1.0" encoding="utf-8"?>
<p:tagLst xmlns:p="http://schemas.openxmlformats.org/presentationml/2006/main">
  <p:tag name="RAINPROBLEM" val="ShortAnswer"/>
  <p:tag name="PROBLEMSCORE" val="10.0"/>
  <p:tag name="PROBLEMHASREMARK" val="True"/>
  <p:tag name="PROBLEMREMARK" val="print(“\r%{0:^3.0f}[{1}-&gt;{2}]”. format(c,a,b), end=“”)"/>
  <p:tag name="PROBLEMVOICEALLOWED" val="False"/>
</p:tagLst>
</file>

<file path=ppt/tags/tag82.xml><?xml version="1.0" encoding="utf-8"?>
<p:tagLst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5552</Words>
  <Application>WPS 演示</Application>
  <PresentationFormat>全屏显示(16:9)</PresentationFormat>
  <Paragraphs>839</Paragraphs>
  <Slides>47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方正超粗黑简体</vt:lpstr>
      <vt:lpstr>方正兰亭细黑_GBK</vt:lpstr>
      <vt:lpstr>黑体</vt:lpstr>
      <vt:lpstr>Calibri</vt:lpstr>
      <vt:lpstr>Arial Unicode MS</vt:lpstr>
      <vt:lpstr>Cambria Math</vt:lpstr>
      <vt:lpstr>隶书</vt:lpstr>
      <vt:lpstr>Symbol</vt:lpstr>
      <vt:lpstr>Times New Roman</vt:lpstr>
      <vt:lpstr>Symbol</vt:lpstr>
      <vt:lpstr>Wingdings</vt:lpstr>
      <vt:lpstr>方正兰亭细黑_GBK</vt:lpstr>
      <vt:lpstr>方正超粗黑简体</vt:lpstr>
      <vt:lpstr>方正超粗黑_GBK</vt:lpstr>
      <vt:lpstr>方正兰亭黑_GBK</vt:lpstr>
      <vt:lpstr>清风素材 https://12sc.taobao.com/</vt:lpstr>
      <vt:lpstr>PowerPoint 演示文稿</vt:lpstr>
      <vt:lpstr>上次课回顾：初识Python</vt:lpstr>
      <vt:lpstr>PowerPoint 演示文稿</vt:lpstr>
      <vt:lpstr>Python中的数字</vt:lpstr>
      <vt:lpstr>整数</vt:lpstr>
      <vt:lpstr>PowerPoint 演示文稿</vt:lpstr>
      <vt:lpstr>不懂Python v.s. 懂Python</vt:lpstr>
      <vt:lpstr>其它整数表示的例子</vt:lpstr>
      <vt:lpstr>浮点数</vt:lpstr>
      <vt:lpstr>浮点数的表示形式</vt:lpstr>
      <vt:lpstr>PowerPoint 演示文稿</vt:lpstr>
      <vt:lpstr>复数</vt:lpstr>
      <vt:lpstr>数字类型的操作</vt:lpstr>
      <vt:lpstr>二元操作符号对应的增强赋值操作符</vt:lpstr>
      <vt:lpstr>数字类型的关系</vt:lpstr>
      <vt:lpstr>数值的类型判断与转换</vt:lpstr>
      <vt:lpstr>数值运算函数</vt:lpstr>
      <vt:lpstr>math库</vt:lpstr>
      <vt:lpstr>math库中的函数</vt:lpstr>
      <vt:lpstr>math库中的函数</vt:lpstr>
      <vt:lpstr>示例：DayDayUp365</vt:lpstr>
      <vt:lpstr>关系运算符（Relational Operators）</vt:lpstr>
      <vt:lpstr>逻辑运算符（Logical Operators）</vt:lpstr>
      <vt:lpstr>逻辑运算示例</vt:lpstr>
      <vt:lpstr>逻辑运算示例</vt:lpstr>
      <vt:lpstr>逻辑运算示例</vt:lpstr>
      <vt:lpstr>逻辑运算示例：判断闰年</vt:lpstr>
      <vt:lpstr>运算符优先级</vt:lpstr>
      <vt:lpstr>PowerPoint 演示文稿</vt:lpstr>
      <vt:lpstr>PowerPoint 演示文稿</vt:lpstr>
      <vt:lpstr>字符串类型</vt:lpstr>
      <vt:lpstr>字符串索引</vt:lpstr>
      <vt:lpstr>字符串的范围索引</vt:lpstr>
      <vt:lpstr>字符串运算</vt:lpstr>
      <vt:lpstr>PowerPoint 演示文稿</vt:lpstr>
      <vt:lpstr>字符串操作</vt:lpstr>
      <vt:lpstr>字符串格式化处理format()</vt:lpstr>
      <vt:lpstr>更加高级的用法：格式控制</vt:lpstr>
      <vt:lpstr>字符串使用实例1</vt:lpstr>
      <vt:lpstr>字符串使用实例1</vt:lpstr>
      <vt:lpstr>字符串使用实例2</vt:lpstr>
      <vt:lpstr>字符串使用实例</vt:lpstr>
      <vt:lpstr>进度条单行动态刷新</vt:lpstr>
      <vt:lpstr>试一下效果</vt:lpstr>
      <vt:lpstr>PowerPoint 演示文稿</vt:lpstr>
      <vt:lpstr>练习与思考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WPS_1651474278</cp:lastModifiedBy>
  <cp:revision>383</cp:revision>
  <cp:lastPrinted>2020-09-27T08:24:00Z</cp:lastPrinted>
  <dcterms:created xsi:type="dcterms:W3CDTF">2015-01-23T04:02:00Z</dcterms:created>
  <dcterms:modified xsi:type="dcterms:W3CDTF">2026-03-09T15:42:35Z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0838468B2E3E4F828C96ADEDCE66C93B_12</vt:lpwstr>
  </property>
</Properties>
</file>