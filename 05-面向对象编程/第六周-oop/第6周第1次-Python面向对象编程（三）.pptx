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2" r:id="rId2"/>
  </p:sldMasterIdLst>
  <p:notesMasterIdLst>
    <p:notesMasterId r:id="rId29"/>
  </p:notesMasterIdLst>
  <p:sldIdLst>
    <p:sldId id="301" r:id="rId3"/>
    <p:sldId id="1201" r:id="rId4"/>
    <p:sldId id="1216" r:id="rId5"/>
    <p:sldId id="1217" r:id="rId6"/>
    <p:sldId id="1218" r:id="rId7"/>
    <p:sldId id="1219" r:id="rId8"/>
    <p:sldId id="1221" r:id="rId9"/>
    <p:sldId id="1220" r:id="rId10"/>
    <p:sldId id="1222" r:id="rId11"/>
    <p:sldId id="1223" r:id="rId12"/>
    <p:sldId id="1224" r:id="rId13"/>
    <p:sldId id="1225" r:id="rId14"/>
    <p:sldId id="1227" r:id="rId15"/>
    <p:sldId id="1226" r:id="rId16"/>
    <p:sldId id="1229" r:id="rId17"/>
    <p:sldId id="1228" r:id="rId18"/>
    <p:sldId id="1230" r:id="rId19"/>
    <p:sldId id="1232" r:id="rId20"/>
    <p:sldId id="1231" r:id="rId21"/>
    <p:sldId id="1234" r:id="rId22"/>
    <p:sldId id="1236" r:id="rId23"/>
    <p:sldId id="1237" r:id="rId24"/>
    <p:sldId id="1238" r:id="rId25"/>
    <p:sldId id="1239" r:id="rId26"/>
    <p:sldId id="1241" r:id="rId27"/>
    <p:sldId id="1240" r:id="rId2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0"/>
    <p:restoredTop sz="96291"/>
  </p:normalViewPr>
  <p:slideViewPr>
    <p:cSldViewPr snapToGrid="0" snapToObjects="1">
      <p:cViewPr varScale="1">
        <p:scale>
          <a:sx n="121" d="100"/>
          <a:sy n="121" d="100"/>
        </p:scale>
        <p:origin x="200" y="3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presProps" Target="presProps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FCF16A-4844-174D-8244-3C9BD3EC2EBC}" type="datetimeFigureOut">
              <a:rPr kumimoji="1" lang="zh-CN" altLang="en-US" smtClean="0"/>
              <a:t>2022/3/11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07A3C0-8EBB-1F47-A275-7FB6C32BB2A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491012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DEAE63-D6C4-437F-B8DA-DA689F991AA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622027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  <a:pPr/>
              <a:t>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053102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  <a:pPr/>
              <a:t>25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495569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E29252-7A77-AC48-8010-9BF097CD25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711BF64-6626-4642-AB9A-6CB49F9AA7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067CF7C-A087-494B-AEAA-B9FD0E40E3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D3621-CD5C-6C47-9FB8-67FB41906801}" type="datetimeFigureOut">
              <a:rPr kumimoji="1" lang="zh-CN" altLang="en-US" smtClean="0"/>
              <a:t>2022/3/11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3A023FF-BFC6-6C44-AD79-98089934A6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0E8E347-99C6-9446-A64B-D5DE256EA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D7C8A-545C-134A-B6DB-3CDD9CACB63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866550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1B5BBB-445F-4C44-A387-66AC8B57A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672B301-C56A-D849-A43E-C4147A1027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454CC25-75F4-134F-96D5-9FC153309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D3621-CD5C-6C47-9FB8-67FB41906801}" type="datetimeFigureOut">
              <a:rPr kumimoji="1" lang="zh-CN" altLang="en-US" smtClean="0"/>
              <a:t>2022/3/11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AA4F724-48B7-3E41-A3EC-002154A1F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4918382-225F-1A4A-B57C-024C61F5C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D7C8A-545C-134A-B6DB-3CDD9CACB63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972967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ABB9FA-F69F-C144-9FAC-4239EBE0EC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15C4B81-0E3C-7948-8F37-2AA90430CA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08BA65D-1B05-E747-A191-B4ED03C24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D3621-CD5C-6C47-9FB8-67FB41906801}" type="datetimeFigureOut">
              <a:rPr kumimoji="1" lang="zh-CN" altLang="en-US" smtClean="0"/>
              <a:t>2022/3/11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5AADD1F-B6A7-FF4D-BBB2-07598CD8D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DAD06D6-24D5-0143-BFDE-582B18276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D7C8A-545C-134A-B6DB-3CDD9CACB63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578491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329D77-B9F0-4446-BEED-D15DD24179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4E5C760-8A67-FF42-B812-37FCD15C21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6C1ED89-473E-6542-BC13-CA74FFDCC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165AF29-EB3C-BA45-8B33-9B56F3AEB8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D3621-CD5C-6C47-9FB8-67FB41906801}" type="datetimeFigureOut">
              <a:rPr kumimoji="1" lang="zh-CN" altLang="en-US" smtClean="0"/>
              <a:t>2022/3/11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F286D0C-26F4-1C4C-8F0C-DA371941DF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72E618C-2EA9-BA45-92D7-B51DC9F96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D7C8A-545C-134A-B6DB-3CDD9CACB63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540062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6903F1-069C-1D43-81CE-E759A674D7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E57C179-7361-D240-89AC-3125B46EC0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FB93F81-ACDF-EF41-91E2-34A5D3C3BB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2CEB679-4BDC-574A-9CD1-10915F3CDA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8F2445E-DF26-7040-9D73-A8639FC7B7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2514E5A-9CFA-DC48-B327-25C031E43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D3621-CD5C-6C47-9FB8-67FB41906801}" type="datetimeFigureOut">
              <a:rPr kumimoji="1" lang="zh-CN" altLang="en-US" smtClean="0"/>
              <a:t>2022/3/11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6891F55-FA1D-9843-A9DE-0F33139FC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8D6A2BD-A441-E849-8306-CF26F7B0E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D7C8A-545C-134A-B6DB-3CDD9CACB63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147561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8C3136-8D07-5D46-94BD-5BE1FDD46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2502FE2-58FB-8940-9E7B-46AEACD895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D3621-CD5C-6C47-9FB8-67FB41906801}" type="datetimeFigureOut">
              <a:rPr kumimoji="1" lang="zh-CN" altLang="en-US" smtClean="0"/>
              <a:t>2022/3/11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A8DD3A6-94A3-9143-9D24-A2DB793B6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5189F46-69FC-C643-A6A1-16D82FB87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D7C8A-545C-134A-B6DB-3CDD9CACB63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78229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6C9B199-FCC5-B047-990F-7D887D604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D3621-CD5C-6C47-9FB8-67FB41906801}" type="datetimeFigureOut">
              <a:rPr kumimoji="1" lang="zh-CN" altLang="en-US" smtClean="0"/>
              <a:t>2022/3/11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DED3CA8-47A7-DC4E-A71B-61F2B2038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93AF1DD-CD60-D74F-8FC4-080A410DE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D7C8A-545C-134A-B6DB-3CDD9CACB63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712146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66AA13-77AA-4B4F-937D-DA40F8DD2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D6170A0-497B-6E42-90BB-3A511F850B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CEA1040-6D35-CE47-AED6-D87191E9BF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A975EFA-FE23-4143-B331-ACC91331F8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D3621-CD5C-6C47-9FB8-67FB41906801}" type="datetimeFigureOut">
              <a:rPr kumimoji="1" lang="zh-CN" altLang="en-US" smtClean="0"/>
              <a:t>2022/3/11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697AE0C-14FE-E042-AEFE-32B0D0A9B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80EAD16-2864-AA43-9629-3EACDE48D1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D7C8A-545C-134A-B6DB-3CDD9CACB63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686941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559E19-9E8E-B54C-99C2-F1A5594F50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9F159BA-9137-1544-921D-81FE0B14D0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B6B3026-8CB4-4D40-A3F3-BDDA24F062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F1D0E42-1E84-4447-88B2-9EB9F0BE4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D3621-CD5C-6C47-9FB8-67FB41906801}" type="datetimeFigureOut">
              <a:rPr kumimoji="1" lang="zh-CN" altLang="en-US" smtClean="0"/>
              <a:t>2022/3/11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84A45A2-40AB-CC41-BB44-41BE2748B3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FB22101-434D-1040-A77C-40705B465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D7C8A-545C-134A-B6DB-3CDD9CACB63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0571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F72EF5-00BF-1B4F-A95D-589E37E615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24D6803-036C-6E43-BC45-F51F9C565E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30763C3-04EC-864E-8A82-E12F19A86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D3621-CD5C-6C47-9FB8-67FB41906801}" type="datetimeFigureOut">
              <a:rPr kumimoji="1" lang="zh-CN" altLang="en-US" smtClean="0"/>
              <a:t>2022/3/11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1456958-EA7D-B548-B4D2-1E79C15254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431121C-B810-D745-9473-C5660C37B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D7C8A-545C-134A-B6DB-3CDD9CACB63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972651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861BD3E-E4F2-A442-95D4-098305D77A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126CF61-23C5-5145-BC7E-AD67C65B89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42731F-CD1C-3241-A3EE-0B5097546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D3621-CD5C-6C47-9FB8-67FB41906801}" type="datetimeFigureOut">
              <a:rPr kumimoji="1" lang="zh-CN" altLang="en-US" smtClean="0"/>
              <a:t>2022/3/11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886EAC9-873F-D847-878A-D1940E0BA5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5FF3C84-860C-2043-B85E-DBF3597F8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D7C8A-545C-134A-B6DB-3CDD9CACB63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464914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8264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 advTm="0">
        <p:blinds dir="vert"/>
      </p:transition>
    </mc:Choice>
    <mc:Fallback xmlns="">
      <p:transition spd="slow" advClick="0" advTm="0">
        <p:blinds dir="vert"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E9E4D-0BE1-4AAA-A57B-DA425863F4AF}" type="datetimeFigureOut">
              <a:rPr lang="zh-CN" altLang="en-US" smtClean="0"/>
              <a:t>2022/3/11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3CF4CA7-7AAC-4C45-88E6-57EAF6DA16C9}"/>
              </a:ext>
            </a:extLst>
          </p:cNvPr>
          <p:cNvSpPr/>
          <p:nvPr userDrawn="1"/>
        </p:nvSpPr>
        <p:spPr>
          <a:xfrm>
            <a:off x="0" y="6447344"/>
            <a:ext cx="12192000" cy="410369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84" tIns="60941" rIns="121884" bIns="60941" rtlCol="0" anchor="ctr"/>
          <a:lstStyle/>
          <a:p>
            <a:pPr algn="ctr"/>
            <a:endParaRPr lang="zh-CN" altLang="en-US" sz="2400"/>
          </a:p>
        </p:txBody>
      </p:sp>
    </p:spTree>
    <p:extLst>
      <p:ext uri="{BB962C8B-B14F-4D97-AF65-F5344CB8AC3E}">
        <p14:creationId xmlns:p14="http://schemas.microsoft.com/office/powerpoint/2010/main" val="1551979470"/>
      </p:ext>
    </p:extLst>
  </p:cSld>
  <p:clrMapOvr>
    <a:masterClrMapping/>
  </p:clrMapOvr>
  <p:transition spd="slow">
    <p:pull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665163"/>
          </a:xfrm>
        </p:spPr>
        <p:txBody>
          <a:bodyPr>
            <a:noAutofit/>
          </a:bodyPr>
          <a:lstStyle>
            <a:lvl1pPr>
              <a:defRPr sz="3733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092200"/>
            <a:ext cx="10972800" cy="5249333"/>
          </a:xfrm>
        </p:spPr>
        <p:txBody>
          <a:bodyPr>
            <a:normAutofit/>
          </a:bodyPr>
          <a:lstStyle>
            <a:lvl1pPr>
              <a:defRPr sz="2667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2133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1867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867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1645901" y="5976408"/>
            <a:ext cx="546099" cy="365125"/>
          </a:xfrm>
        </p:spPr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0EDCEBCB-EE73-45D6-92CE-B2AE1D434CFB}"/>
              </a:ext>
            </a:extLst>
          </p:cNvPr>
          <p:cNvSpPr/>
          <p:nvPr userDrawn="1"/>
        </p:nvSpPr>
        <p:spPr>
          <a:xfrm>
            <a:off x="862508" y="358664"/>
            <a:ext cx="366369" cy="366369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</p:spTree>
    <p:extLst>
      <p:ext uri="{BB962C8B-B14F-4D97-AF65-F5344CB8AC3E}">
        <p14:creationId xmlns:p14="http://schemas.microsoft.com/office/powerpoint/2010/main" val="1966857485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E9E4D-0BE1-4AAA-A57B-DA425863F4AF}" type="datetimeFigureOut">
              <a:rPr lang="zh-CN" altLang="en-US" smtClean="0"/>
              <a:t>2022/3/11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7377764"/>
      </p:ext>
    </p:extLst>
  </p:cSld>
  <p:clrMapOvr>
    <a:masterClrMapping/>
  </p:clrMapOvr>
  <p:transition spd="slow">
    <p:pull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200151"/>
            <a:ext cx="5384800" cy="3394075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200151"/>
            <a:ext cx="5384800" cy="3394075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E9E4D-0BE1-4AAA-A57B-DA425863F4AF}" type="datetimeFigureOut">
              <a:rPr lang="zh-CN" altLang="en-US" smtClean="0"/>
              <a:t>2022/3/11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6002832"/>
      </p:ext>
    </p:extLst>
  </p:cSld>
  <p:clrMapOvr>
    <a:masterClrMapping/>
  </p:clrMapOvr>
  <p:transition spd="slow">
    <p:pull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E9E4D-0BE1-4AAA-A57B-DA425863F4AF}" type="datetimeFigureOut">
              <a:rPr lang="zh-CN" altLang="en-US" smtClean="0"/>
              <a:t>2022/3/11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9519458"/>
      </p:ext>
    </p:extLst>
  </p:cSld>
  <p:clrMapOvr>
    <a:masterClrMapping/>
  </p:clrMapOvr>
  <p:transition spd="slow">
    <p:pull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E9E4D-0BE1-4AAA-A57B-DA425863F4AF}" type="datetimeFigureOut">
              <a:rPr lang="zh-CN" altLang="en-US" smtClean="0"/>
              <a:t>2022/3/11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2654794"/>
      </p:ext>
    </p:extLst>
  </p:cSld>
  <p:clrMapOvr>
    <a:masterClrMapping/>
  </p:clrMapOvr>
  <p:transition spd="slow">
    <p:pull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E9E4D-0BE1-4AAA-A57B-DA425863F4AF}" type="datetimeFigureOut">
              <a:rPr lang="zh-CN" altLang="en-US" smtClean="0"/>
              <a:t>2022/3/11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529977"/>
      </p:ext>
    </p:extLst>
  </p:cSld>
  <p:clrMapOvr>
    <a:masterClrMapping/>
  </p:clrMapOvr>
  <p:transition spd="slow">
    <p:pull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2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2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E9E4D-0BE1-4AAA-A57B-DA425863F4AF}" type="datetimeFigureOut">
              <a:rPr lang="zh-CN" altLang="en-US" smtClean="0"/>
              <a:t>2022/3/11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5636107"/>
      </p:ext>
    </p:extLst>
  </p:cSld>
  <p:clrMapOvr>
    <a:masterClrMapping/>
  </p:clrMapOvr>
  <p:transition spd="slow">
    <p:pull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E9E4D-0BE1-4AAA-A57B-DA425863F4AF}" type="datetimeFigureOut">
              <a:rPr lang="zh-CN" altLang="en-US" smtClean="0"/>
              <a:t>2022/3/11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2741170"/>
      </p:ext>
    </p:extLst>
  </p:cSld>
  <p:clrMapOvr>
    <a:masterClrMapping/>
  </p:clrMapOvr>
  <p:transition spd="slow">
    <p:pull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E9E4D-0BE1-4AAA-A57B-DA425863F4AF}" type="datetimeFigureOut">
              <a:rPr lang="zh-CN" altLang="en-US" smtClean="0"/>
              <a:t>2022/3/11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6991490"/>
      </p:ext>
    </p:extLst>
  </p:cSld>
  <p:clrMapOvr>
    <a:masterClrMapping/>
  </p:clrMapOvr>
  <p:transition spd="slow">
    <p:pull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06375"/>
            <a:ext cx="2743200" cy="4387851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06375"/>
            <a:ext cx="8026400" cy="4387851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E9E4D-0BE1-4AAA-A57B-DA425863F4AF}" type="datetimeFigureOut">
              <a:rPr lang="zh-CN" altLang="en-US" smtClean="0"/>
              <a:t>2022/3/11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596442"/>
      </p:ext>
    </p:extLst>
  </p:cSld>
  <p:clrMapOvr>
    <a:masterClrMapping/>
  </p:clrMapOvr>
  <p:transition spd="slow">
    <p:pull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 userDrawn="1"/>
        </p:nvCxnSpPr>
        <p:spPr>
          <a:xfrm>
            <a:off x="687010" y="832153"/>
            <a:ext cx="4256863" cy="6983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 userDrawn="1"/>
        </p:nvCxnSpPr>
        <p:spPr>
          <a:xfrm>
            <a:off x="7248129" y="839135"/>
            <a:ext cx="4352873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693157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81728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 advTm="0">
        <p:blinds dir="vert"/>
      </p:transition>
    </mc:Choice>
    <mc:Fallback xmlns="">
      <p:transition spd="slow" advClick="0" advTm="0">
        <p:blinds dir="vert"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682138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 advTm="0">
        <p:blinds dir="vert"/>
      </p:transition>
    </mc:Choice>
    <mc:Fallback xmlns="">
      <p:transition spd="slow" advClick="0" advTm="0">
        <p:blinds dir="vert"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990207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 advTm="0">
        <p:blinds dir="vert"/>
      </p:transition>
    </mc:Choice>
    <mc:Fallback xmlns="">
      <p:transition spd="slow" advClick="0" advTm="0">
        <p:blinds dir="vert"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1_标题幻灯片">
    <p:bg>
      <p:bgPr>
        <a:pattFill prst="ltUpDiag">
          <a:fgClr>
            <a:schemeClr val="accent6">
              <a:lumMod val="8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6B1EA47-AA99-4F55-AEF3-3DA66267A0C2}"/>
              </a:ext>
            </a:extLst>
          </p:cNvPr>
          <p:cNvSpPr/>
          <p:nvPr userDrawn="1"/>
        </p:nvSpPr>
        <p:spPr>
          <a:xfrm>
            <a:off x="0" y="6447344"/>
            <a:ext cx="12192000" cy="410369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84" tIns="60941" rIns="121884" bIns="60941" rtlCol="0" anchor="ctr"/>
          <a:lstStyle/>
          <a:p>
            <a:pPr algn="ctr"/>
            <a:endParaRPr lang="zh-CN" altLang="en-US" sz="240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9470B42-93C0-4049-B9CB-A8EBAAC7803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0073" y="1"/>
            <a:ext cx="1419289" cy="1285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9565135"/>
      </p:ext>
    </p:extLst>
  </p:cSld>
  <p:clrMapOvr>
    <a:masterClrMapping/>
  </p:clrMapOvr>
  <p:transition spd="slow">
    <p:cover dir="rd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18" Type="http://schemas.openxmlformats.org/officeDocument/2006/relationships/image" Target="../media/image1.jpg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28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22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7207D97-B244-2744-BE03-88C0B84A95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CEA8388-3446-CE49-88BB-AFBAAA5443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CF91CF9-0ECD-7A43-94C4-24050547C4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5D3621-CD5C-6C47-9FB8-67FB41906801}" type="datetimeFigureOut">
              <a:rPr kumimoji="1" lang="zh-CN" altLang="en-US" smtClean="0"/>
              <a:t>2022/3/11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05169E3-76B6-634B-89A2-AC471F65ED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7249A7A-8BDA-8146-9B24-99C8B5F4BA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8D7C8A-545C-134A-B6DB-3CDD9CACB63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206612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8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1E9E4D-0BE1-4AAA-A57B-DA425863F4AF}" type="datetimeFigureOut">
              <a:rPr lang="zh-CN" altLang="en-US" smtClean="0"/>
              <a:t>2022/3/11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341F63DC-E866-4077-8215-C471E38E7305}"/>
              </a:ext>
            </a:extLst>
          </p:cNvPr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0073" y="1"/>
            <a:ext cx="1419289" cy="1285183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3FFCFCD4-6DCF-4A23-AD20-AF62BB293DA8}"/>
              </a:ext>
            </a:extLst>
          </p:cNvPr>
          <p:cNvSpPr/>
          <p:nvPr userDrawn="1"/>
        </p:nvSpPr>
        <p:spPr>
          <a:xfrm>
            <a:off x="0" y="6447344"/>
            <a:ext cx="12192000" cy="410369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84" tIns="60941" rIns="121884" bIns="60941" rtlCol="0" anchor="ctr"/>
          <a:lstStyle/>
          <a:p>
            <a:pPr algn="ctr"/>
            <a:endParaRPr lang="zh-CN" altLang="en-US" sz="2400"/>
          </a:p>
        </p:txBody>
      </p:sp>
    </p:spTree>
    <p:extLst>
      <p:ext uri="{BB962C8B-B14F-4D97-AF65-F5344CB8AC3E}">
        <p14:creationId xmlns:p14="http://schemas.microsoft.com/office/powerpoint/2010/main" val="558238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  <p:sldLayoutId id="2147483676" r:id="rId14"/>
    <p:sldLayoutId id="2147483677" r:id="rId15"/>
    <p:sldLayoutId id="2147483678" r:id="rId16"/>
  </p:sldLayoutIdLst>
  <p:transition spd="slow">
    <p:pull/>
  </p:transition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4.png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2745527"/>
            <a:ext cx="12192000" cy="1138831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84" tIns="60941" rIns="121884" bIns="60941" rtlCol="0" anchor="ctr"/>
          <a:lstStyle/>
          <a:p>
            <a:pPr algn="ctr" defTabSz="1219170"/>
            <a:endParaRPr lang="zh-CN" altLang="en-US" sz="2400">
              <a:solidFill>
                <a:prstClr val="white"/>
              </a:solidFill>
              <a:latin typeface="Calibri"/>
              <a:ea typeface="宋体" panose="02010600030101010101" pitchFamily="2" charset="-122"/>
            </a:endParaRPr>
          </a:p>
        </p:txBody>
      </p:sp>
      <p:pic>
        <p:nvPicPr>
          <p:cNvPr id="103" name="Picture 2" descr="C:\Users\Administrator\Desktop\微立体创业计划\001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7921" y="211600"/>
            <a:ext cx="2622992" cy="2622637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" name="Picture 3" descr="C:\Users\Administrator\Desktop\微立体创业计划\002.pn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8077" y="36098"/>
            <a:ext cx="2974047" cy="2973644"/>
          </a:xfrm>
          <a:prstGeom prst="rect">
            <a:avLst/>
          </a:prstGeom>
          <a:noFill/>
          <a:effectLst>
            <a:outerShdw blurRad="292100" dist="177800" dir="2460000" sx="99000" sy="99000" algn="l" rotWithShape="0">
              <a:prstClr val="black">
                <a:alpha val="39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5" name="Group 91"/>
          <p:cNvGrpSpPr>
            <a:grpSpLocks/>
          </p:cNvGrpSpPr>
          <p:nvPr/>
        </p:nvGrpSpPr>
        <p:grpSpPr bwMode="auto">
          <a:xfrm>
            <a:off x="2429809" y="4413122"/>
            <a:ext cx="520736" cy="791219"/>
            <a:chOff x="936" y="1480"/>
            <a:chExt cx="1589" cy="2415"/>
          </a:xfrm>
        </p:grpSpPr>
        <p:grpSp>
          <p:nvGrpSpPr>
            <p:cNvPr id="26" name="组合 33"/>
            <p:cNvGrpSpPr>
              <a:grpSpLocks/>
            </p:cNvGrpSpPr>
            <p:nvPr/>
          </p:nvGrpSpPr>
          <p:grpSpPr bwMode="auto">
            <a:xfrm>
              <a:off x="985" y="1582"/>
              <a:ext cx="1441" cy="2313"/>
              <a:chOff x="1754168" y="3653262"/>
              <a:chExt cx="1857599" cy="2987139"/>
            </a:xfrm>
          </p:grpSpPr>
          <p:sp>
            <p:nvSpPr>
              <p:cNvPr id="31" name="椭圆 30"/>
              <p:cNvSpPr/>
              <p:nvPr/>
            </p:nvSpPr>
            <p:spPr>
              <a:xfrm>
                <a:off x="1754168" y="3653262"/>
                <a:ext cx="1857599" cy="1857597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  <a:effectLst>
                <a:innerShdw blurRad="88900" dist="635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/>
              <a:p>
                <a:pPr algn="ctr" defTabSz="1219170">
                  <a:defRPr/>
                </a:pPr>
                <a:endParaRPr lang="zh-CN" altLang="en-US" sz="4000" dirty="0">
                  <a:solidFill>
                    <a:prstClr val="white"/>
                  </a:solidFill>
                  <a:latin typeface="Calibri"/>
                  <a:ea typeface="方正超粗黑简体" panose="03000509000000000000" pitchFamily="65" charset="-122"/>
                </a:endParaRPr>
              </a:p>
            </p:txBody>
          </p:sp>
          <p:sp>
            <p:nvSpPr>
              <p:cNvPr id="32" name="椭圆 31"/>
              <p:cNvSpPr/>
              <p:nvPr/>
            </p:nvSpPr>
            <p:spPr>
              <a:xfrm>
                <a:off x="1911556" y="3810650"/>
                <a:ext cx="1542822" cy="1542820"/>
              </a:xfrm>
              <a:prstGeom prst="ellipse">
                <a:avLst/>
              </a:prstGeom>
              <a:solidFill>
                <a:srgbClr val="C20100"/>
              </a:solidFill>
              <a:ln w="28575">
                <a:gradFill flip="none" rotWithShape="1">
                  <a:gsLst>
                    <a:gs pos="100000">
                      <a:srgbClr val="FFFFFF"/>
                    </a:gs>
                    <a:gs pos="0">
                      <a:srgbClr val="CECED0"/>
                    </a:gs>
                  </a:gsLst>
                  <a:lin ang="13500000" scaled="1"/>
                  <a:tileRect/>
                </a:gradFill>
              </a:ln>
              <a:effectLst>
                <a:outerShdw blurRad="190500" dist="88900" dir="2700000" algn="tl" rotWithShape="0">
                  <a:prstClr val="black">
                    <a:alpha val="3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defTabSz="1219170">
                  <a:defRPr/>
                </a:pPr>
                <a:endParaRPr lang="zh-CN" altLang="en-US" sz="2400">
                  <a:solidFill>
                    <a:prstClr val="white"/>
                  </a:solidFill>
                  <a:latin typeface="Calibri"/>
                  <a:ea typeface="宋体" panose="02010600030101010101" pitchFamily="2" charset="-122"/>
                </a:endParaRPr>
              </a:p>
            </p:txBody>
          </p:sp>
          <p:sp>
            <p:nvSpPr>
              <p:cNvPr id="33" name="椭圆 32"/>
              <p:cNvSpPr/>
              <p:nvPr/>
            </p:nvSpPr>
            <p:spPr>
              <a:xfrm>
                <a:off x="1890879" y="3789973"/>
                <a:ext cx="1584176" cy="1584174"/>
              </a:xfrm>
              <a:prstGeom prst="ellipse">
                <a:avLst/>
              </a:prstGeom>
              <a:solidFill>
                <a:srgbClr val="1A3F6C"/>
              </a:solidFill>
              <a:ln>
                <a:noFill/>
              </a:ln>
              <a:effectLst>
                <a:innerShdw blurRad="88900" dist="635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/>
              <a:p>
                <a:pPr algn="ctr" defTabSz="1219170">
                  <a:defRPr/>
                </a:pPr>
                <a:endParaRPr lang="zh-CN" altLang="en-US" sz="4000" dirty="0">
                  <a:solidFill>
                    <a:srgbClr val="0087CF"/>
                  </a:solidFill>
                  <a:latin typeface="Calibri"/>
                  <a:ea typeface="方正超粗黑简体" panose="03000509000000000000" pitchFamily="65" charset="-122"/>
                </a:endParaRPr>
              </a:p>
            </p:txBody>
          </p:sp>
          <p:sp>
            <p:nvSpPr>
              <p:cNvPr id="34" name="矩形 33"/>
              <p:cNvSpPr/>
              <p:nvPr/>
            </p:nvSpPr>
            <p:spPr>
              <a:xfrm>
                <a:off x="2318103" y="4093188"/>
                <a:ext cx="726661" cy="254721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algn="ctr" defTabSz="1219170"/>
                <a:endParaRPr lang="zh-CN" altLang="zh-CN" sz="3600" b="1">
                  <a:solidFill>
                    <a:srgbClr val="CA0098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  <p:grpSp>
          <p:nvGrpSpPr>
            <p:cNvPr id="27" name="组合 4"/>
            <p:cNvGrpSpPr>
              <a:grpSpLocks/>
            </p:cNvGrpSpPr>
            <p:nvPr/>
          </p:nvGrpSpPr>
          <p:grpSpPr bwMode="auto">
            <a:xfrm>
              <a:off x="936" y="1480"/>
              <a:ext cx="1589" cy="1588"/>
              <a:chOff x="3733576" y="3930057"/>
              <a:chExt cx="1801556" cy="1800152"/>
            </a:xfrm>
          </p:grpSpPr>
          <p:sp>
            <p:nvSpPr>
              <p:cNvPr id="28" name="椭圆 27"/>
              <p:cNvSpPr/>
              <p:nvPr/>
            </p:nvSpPr>
            <p:spPr>
              <a:xfrm>
                <a:off x="4003576" y="4200057"/>
                <a:ext cx="1260000" cy="1260000"/>
              </a:xfrm>
              <a:prstGeom prst="ellipse">
                <a:avLst/>
              </a:prstGeom>
              <a:noFill/>
              <a:ln>
                <a:gradFill flip="none" rotWithShape="1">
                  <a:gsLst>
                    <a:gs pos="100000">
                      <a:schemeClr val="bg1"/>
                    </a:gs>
                    <a:gs pos="0">
                      <a:schemeClr val="bg1">
                        <a:lumMod val="75000"/>
                      </a:schemeClr>
                    </a:gs>
                  </a:gsLst>
                  <a:lin ang="2700000" scaled="1"/>
                  <a:tileRect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defTabSz="1219170">
                  <a:defRPr/>
                </a:pPr>
                <a:endParaRPr lang="zh-CN" altLang="en-US" sz="2400">
                  <a:solidFill>
                    <a:prstClr val="white"/>
                  </a:solidFill>
                  <a:latin typeface="Calibri"/>
                  <a:ea typeface="宋体" panose="02010600030101010101" pitchFamily="2" charset="-122"/>
                </a:endParaRPr>
              </a:p>
            </p:txBody>
          </p:sp>
          <p:sp>
            <p:nvSpPr>
              <p:cNvPr id="29" name="任意多边形 6"/>
              <p:cNvSpPr/>
              <p:nvPr/>
            </p:nvSpPr>
            <p:spPr>
              <a:xfrm>
                <a:off x="3734710" y="3930057"/>
                <a:ext cx="1800422" cy="1800152"/>
              </a:xfrm>
              <a:custGeom>
                <a:avLst/>
                <a:gdLst>
                  <a:gd name="connsiteX0" fmla="*/ 900000 w 1800000"/>
                  <a:gd name="connsiteY0" fmla="*/ 0 h 1800000"/>
                  <a:gd name="connsiteX1" fmla="*/ 1800000 w 1800000"/>
                  <a:gd name="connsiteY1" fmla="*/ 900000 h 1800000"/>
                  <a:gd name="connsiteX2" fmla="*/ 900000 w 1800000"/>
                  <a:gd name="connsiteY2" fmla="*/ 1800000 h 1800000"/>
                  <a:gd name="connsiteX3" fmla="*/ 0 w 1800000"/>
                  <a:gd name="connsiteY3" fmla="*/ 900000 h 1800000"/>
                  <a:gd name="connsiteX4" fmla="*/ 900000 w 1800000"/>
                  <a:gd name="connsiteY4" fmla="*/ 0 h 1800000"/>
                  <a:gd name="connsiteX5" fmla="*/ 900000 w 1800000"/>
                  <a:gd name="connsiteY5" fmla="*/ 270000 h 1800000"/>
                  <a:gd name="connsiteX6" fmla="*/ 270000 w 1800000"/>
                  <a:gd name="connsiteY6" fmla="*/ 900000 h 1800000"/>
                  <a:gd name="connsiteX7" fmla="*/ 900000 w 1800000"/>
                  <a:gd name="connsiteY7" fmla="*/ 1530000 h 1800000"/>
                  <a:gd name="connsiteX8" fmla="*/ 1530000 w 1800000"/>
                  <a:gd name="connsiteY8" fmla="*/ 900000 h 1800000"/>
                  <a:gd name="connsiteX9" fmla="*/ 900000 w 1800000"/>
                  <a:gd name="connsiteY9" fmla="*/ 270000 h 180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00000" h="1800000">
                    <a:moveTo>
                      <a:pt x="900000" y="0"/>
                    </a:moveTo>
                    <a:cubicBezTo>
                      <a:pt x="1397056" y="0"/>
                      <a:pt x="1800000" y="402944"/>
                      <a:pt x="1800000" y="900000"/>
                    </a:cubicBezTo>
                    <a:cubicBezTo>
                      <a:pt x="1800000" y="1397056"/>
                      <a:pt x="1397056" y="1800000"/>
                      <a:pt x="900000" y="1800000"/>
                    </a:cubicBezTo>
                    <a:cubicBezTo>
                      <a:pt x="402944" y="1800000"/>
                      <a:pt x="0" y="1397056"/>
                      <a:pt x="0" y="900000"/>
                    </a:cubicBezTo>
                    <a:cubicBezTo>
                      <a:pt x="0" y="402944"/>
                      <a:pt x="402944" y="0"/>
                      <a:pt x="900000" y="0"/>
                    </a:cubicBezTo>
                    <a:close/>
                    <a:moveTo>
                      <a:pt x="900000" y="270000"/>
                    </a:moveTo>
                    <a:cubicBezTo>
                      <a:pt x="552061" y="270000"/>
                      <a:pt x="270000" y="552061"/>
                      <a:pt x="270000" y="900000"/>
                    </a:cubicBezTo>
                    <a:cubicBezTo>
                      <a:pt x="270000" y="1247939"/>
                      <a:pt x="552061" y="1530000"/>
                      <a:pt x="900000" y="1530000"/>
                    </a:cubicBezTo>
                    <a:cubicBezTo>
                      <a:pt x="1247939" y="1530000"/>
                      <a:pt x="1530000" y="1247939"/>
                      <a:pt x="1530000" y="900000"/>
                    </a:cubicBezTo>
                    <a:cubicBezTo>
                      <a:pt x="1530000" y="552061"/>
                      <a:pt x="1247939" y="270000"/>
                      <a:pt x="900000" y="270000"/>
                    </a:cubicBezTo>
                    <a:close/>
                  </a:path>
                </a:pathLst>
              </a:custGeom>
              <a:gradFill>
                <a:gsLst>
                  <a:gs pos="0">
                    <a:srgbClr val="F0F0F0"/>
                  </a:gs>
                  <a:gs pos="100000">
                    <a:srgbClr val="DBDBDB"/>
                  </a:gs>
                </a:gsLst>
                <a:lin ang="2700000" scaled="1"/>
              </a:gradFill>
              <a:ln>
                <a:noFill/>
              </a:ln>
              <a:effectLst>
                <a:outerShdw blurRad="88900" dist="635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defTabSz="1219170">
                  <a:defRPr/>
                </a:pPr>
                <a:endParaRPr lang="zh-CN" altLang="en-US" sz="2400">
                  <a:solidFill>
                    <a:prstClr val="white"/>
                  </a:solidFill>
                  <a:latin typeface="Calibri"/>
                  <a:ea typeface="宋体" panose="02010600030101010101" pitchFamily="2" charset="-122"/>
                </a:endParaRPr>
              </a:p>
            </p:txBody>
          </p:sp>
          <p:sp>
            <p:nvSpPr>
              <p:cNvPr id="30" name="椭圆 7"/>
              <p:cNvSpPr/>
              <p:nvPr/>
            </p:nvSpPr>
            <p:spPr>
              <a:xfrm>
                <a:off x="3733576" y="3930057"/>
                <a:ext cx="1800000" cy="1800000"/>
              </a:xfrm>
              <a:prstGeom prst="ellipse">
                <a:avLst/>
              </a:prstGeom>
              <a:noFill/>
              <a:ln>
                <a:gradFill flip="none" rotWithShape="1">
                  <a:gsLst>
                    <a:gs pos="0">
                      <a:schemeClr val="bg1"/>
                    </a:gs>
                    <a:gs pos="100000">
                      <a:schemeClr val="bg1">
                        <a:lumMod val="75000"/>
                      </a:schemeClr>
                    </a:gs>
                  </a:gsLst>
                  <a:lin ang="2700000" scaled="1"/>
                  <a:tileRect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defTabSz="1219170">
                  <a:defRPr/>
                </a:pPr>
                <a:endParaRPr lang="zh-CN" altLang="en-US" sz="2400">
                  <a:solidFill>
                    <a:prstClr val="white"/>
                  </a:solidFill>
                  <a:latin typeface="Calibri"/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2" name="TextBox 1"/>
          <p:cNvSpPr txBox="1"/>
          <p:nvPr/>
        </p:nvSpPr>
        <p:spPr>
          <a:xfrm>
            <a:off x="162872" y="2892184"/>
            <a:ext cx="11926753" cy="697525"/>
          </a:xfrm>
          <a:prstGeom prst="rect">
            <a:avLst/>
          </a:prstGeom>
          <a:noFill/>
        </p:spPr>
        <p:txBody>
          <a:bodyPr wrap="square" lIns="121884" tIns="60941" rIns="121884" bIns="60941" rtlCol="0">
            <a:spAutoFit/>
          </a:bodyPr>
          <a:lstStyle/>
          <a:p>
            <a:pPr algn="ctr" defTabSz="1219170"/>
            <a:r>
              <a:rPr lang="en-US" altLang="zh-CN" sz="3733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3733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人工智能与</a:t>
            </a:r>
            <a:r>
              <a:rPr lang="en-US" altLang="zh-CN" sz="3733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en-US" sz="3733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程序设计</a:t>
            </a:r>
            <a:r>
              <a:rPr lang="en-US" altLang="zh-CN" sz="3733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》— </a:t>
            </a:r>
            <a:r>
              <a:rPr lang="zh-CN" altLang="en-US" sz="3733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面向对象编程（三）</a:t>
            </a:r>
          </a:p>
        </p:txBody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BCD51C3F-89DD-1746-A9EC-2FE3C2C6AF11}"/>
              </a:ext>
            </a:extLst>
          </p:cNvPr>
          <p:cNvSpPr/>
          <p:nvPr/>
        </p:nvSpPr>
        <p:spPr>
          <a:xfrm>
            <a:off x="3132152" y="4413123"/>
            <a:ext cx="5225417" cy="545512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84" tIns="60941" rIns="121884" bIns="60941" rtlCol="0" anchor="ctr"/>
          <a:lstStyle/>
          <a:p>
            <a:pPr algn="ctr" defTabSz="1219170"/>
            <a:r>
              <a:rPr lang="zh-CN" altLang="en-US" sz="24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人工智能与</a:t>
            </a:r>
            <a:r>
              <a:rPr lang="en-US" altLang="zh-CN" sz="24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en-US" sz="24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程序设计 教研组</a:t>
            </a:r>
          </a:p>
        </p:txBody>
      </p:sp>
    </p:spTree>
    <p:extLst>
      <p:ext uri="{BB962C8B-B14F-4D97-AF65-F5344CB8AC3E}">
        <p14:creationId xmlns:p14="http://schemas.microsoft.com/office/powerpoint/2010/main" val="677344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24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9" dur="2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" presetClass="entr" presetSubtype="2" fill="hold" grpId="0" nodeType="withEffect">
                                  <p:stCondLst>
                                    <p:cond delay="1700"/>
                                  </p:stCondLst>
                                  <p:iterate type="lt">
                                    <p:tmPct val="23333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733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6233"/>
                            </p:stCondLst>
                            <p:childTnLst>
                              <p:par>
                                <p:cTn id="29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38889E-6 -6.17284E-7 L 0.42031 0.00093 " pathEditMode="relative" rAng="0" ptsTypes="AA">
                                      <p:cBhvr>
                                        <p:cTn id="30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007" y="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8233"/>
                            </p:stCondLst>
                            <p:childTnLst>
                              <p:par>
                                <p:cTn id="32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8733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2" grpId="0"/>
      <p:bldP spid="18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5039883" cy="6858000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sp>
        <p:nvSpPr>
          <p:cNvPr id="2" name="TextBox 1"/>
          <p:cNvSpPr txBox="1"/>
          <p:nvPr/>
        </p:nvSpPr>
        <p:spPr>
          <a:xfrm>
            <a:off x="5327915" y="210509"/>
            <a:ext cx="1553630" cy="9130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5333" dirty="0">
                <a:latin typeface="方正兰亭细黑_GBK" pitchFamily="2" charset="-122"/>
                <a:ea typeface="方正兰亭细黑_GBK" pitchFamily="2" charset="-122"/>
              </a:rPr>
              <a:t>回顾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6136" y="4071677"/>
            <a:ext cx="3597105" cy="8208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2667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人工智能与</a:t>
            </a:r>
            <a:endParaRPr lang="en-US" altLang="zh-CN" sz="2667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/>
            <a:r>
              <a:rPr lang="en-US" altLang="zh-CN" sz="2667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Python</a:t>
            </a:r>
            <a:r>
              <a:rPr lang="zh-CN" altLang="en-US" sz="2667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程序设计</a:t>
            </a:r>
          </a:p>
        </p:txBody>
      </p:sp>
      <p:grpSp>
        <p:nvGrpSpPr>
          <p:cNvPr id="33" name="组合 32"/>
          <p:cNvGrpSpPr/>
          <p:nvPr/>
        </p:nvGrpSpPr>
        <p:grpSpPr>
          <a:xfrm>
            <a:off x="1652537" y="1263123"/>
            <a:ext cx="1734808" cy="1734808"/>
            <a:chOff x="2262782" y="1446400"/>
            <a:chExt cx="1301106" cy="1301106"/>
          </a:xfrm>
        </p:grpSpPr>
        <p:sp>
          <p:nvSpPr>
            <p:cNvPr id="5" name="椭圆 4"/>
            <p:cNvSpPr/>
            <p:nvPr/>
          </p:nvSpPr>
          <p:spPr>
            <a:xfrm>
              <a:off x="2262782" y="1446400"/>
              <a:ext cx="1301106" cy="130110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20" name="KSO_Shape"/>
            <p:cNvSpPr>
              <a:spLocks/>
            </p:cNvSpPr>
            <p:nvPr/>
          </p:nvSpPr>
          <p:spPr bwMode="auto">
            <a:xfrm>
              <a:off x="2523120" y="1821416"/>
              <a:ext cx="836342" cy="574285"/>
            </a:xfrm>
            <a:custGeom>
              <a:avLst/>
              <a:gdLst>
                <a:gd name="T0" fmla="*/ 2147483646 w 112"/>
                <a:gd name="T1" fmla="*/ 2147483646 h 77"/>
                <a:gd name="T2" fmla="*/ 2147483646 w 112"/>
                <a:gd name="T3" fmla="*/ 2147483646 h 77"/>
                <a:gd name="T4" fmla="*/ 2147483646 w 112"/>
                <a:gd name="T5" fmla="*/ 2147483646 h 77"/>
                <a:gd name="T6" fmla="*/ 2147483646 w 112"/>
                <a:gd name="T7" fmla="*/ 2147483646 h 77"/>
                <a:gd name="T8" fmla="*/ 2147483646 w 112"/>
                <a:gd name="T9" fmla="*/ 2147483646 h 77"/>
                <a:gd name="T10" fmla="*/ 0 w 112"/>
                <a:gd name="T11" fmla="*/ 2147483646 h 77"/>
                <a:gd name="T12" fmla="*/ 2147483646 w 112"/>
                <a:gd name="T13" fmla="*/ 2147483646 h 77"/>
                <a:gd name="T14" fmla="*/ 2147483646 w 112"/>
                <a:gd name="T15" fmla="*/ 2147483646 h 77"/>
                <a:gd name="T16" fmla="*/ 2147483646 w 112"/>
                <a:gd name="T17" fmla="*/ 2147483646 h 77"/>
                <a:gd name="T18" fmla="*/ 2147483646 w 112"/>
                <a:gd name="T19" fmla="*/ 2147483646 h 77"/>
                <a:gd name="T20" fmla="*/ 2147483646 w 112"/>
                <a:gd name="T21" fmla="*/ 2147483646 h 77"/>
                <a:gd name="T22" fmla="*/ 2147483646 w 112"/>
                <a:gd name="T23" fmla="*/ 2147483646 h 77"/>
                <a:gd name="T24" fmla="*/ 2147483646 w 112"/>
                <a:gd name="T25" fmla="*/ 2147483646 h 77"/>
                <a:gd name="T26" fmla="*/ 2147483646 w 112"/>
                <a:gd name="T27" fmla="*/ 2147483646 h 77"/>
                <a:gd name="T28" fmla="*/ 2147483646 w 112"/>
                <a:gd name="T29" fmla="*/ 2147483646 h 77"/>
                <a:gd name="T30" fmla="*/ 2147483646 w 112"/>
                <a:gd name="T31" fmla="*/ 2147483646 h 77"/>
                <a:gd name="T32" fmla="*/ 2147483646 w 112"/>
                <a:gd name="T33" fmla="*/ 2147483646 h 77"/>
                <a:gd name="T34" fmla="*/ 2147483646 w 112"/>
                <a:gd name="T35" fmla="*/ 2147483646 h 77"/>
                <a:gd name="T36" fmla="*/ 2147483646 w 112"/>
                <a:gd name="T37" fmla="*/ 2147483646 h 77"/>
                <a:gd name="T38" fmla="*/ 2147483646 w 112"/>
                <a:gd name="T39" fmla="*/ 2147483646 h 77"/>
                <a:gd name="T40" fmla="*/ 2147483646 w 112"/>
                <a:gd name="T41" fmla="*/ 2147483646 h 77"/>
                <a:gd name="T42" fmla="*/ 2147483646 w 112"/>
                <a:gd name="T43" fmla="*/ 2147483646 h 77"/>
                <a:gd name="T44" fmla="*/ 2147483646 w 112"/>
                <a:gd name="T45" fmla="*/ 2147483646 h 77"/>
                <a:gd name="T46" fmla="*/ 2147483646 w 112"/>
                <a:gd name="T47" fmla="*/ 2147483646 h 77"/>
                <a:gd name="T48" fmla="*/ 2147483646 w 112"/>
                <a:gd name="T49" fmla="*/ 2147483646 h 77"/>
                <a:gd name="T50" fmla="*/ 2147483646 w 112"/>
                <a:gd name="T51" fmla="*/ 2147483646 h 77"/>
                <a:gd name="T52" fmla="*/ 2147483646 w 112"/>
                <a:gd name="T53" fmla="*/ 2147483646 h 77"/>
                <a:gd name="T54" fmla="*/ 2147483646 w 112"/>
                <a:gd name="T55" fmla="*/ 2147483646 h 77"/>
                <a:gd name="T56" fmla="*/ 2147483646 w 112"/>
                <a:gd name="T57" fmla="*/ 2147483646 h 77"/>
                <a:gd name="T58" fmla="*/ 2147483646 w 112"/>
                <a:gd name="T59" fmla="*/ 2147483646 h 77"/>
                <a:gd name="T60" fmla="*/ 2147483646 w 112"/>
                <a:gd name="T61" fmla="*/ 2147483646 h 77"/>
                <a:gd name="T62" fmla="*/ 2147483646 w 112"/>
                <a:gd name="T63" fmla="*/ 2147483646 h 77"/>
                <a:gd name="T64" fmla="*/ 2147483646 w 112"/>
                <a:gd name="T65" fmla="*/ 2147483646 h 77"/>
                <a:gd name="T66" fmla="*/ 2147483646 w 112"/>
                <a:gd name="T67" fmla="*/ 2147483646 h 77"/>
                <a:gd name="T68" fmla="*/ 2147483646 w 112"/>
                <a:gd name="T69" fmla="*/ 2147483646 h 77"/>
                <a:gd name="T70" fmla="*/ 2147483646 w 112"/>
                <a:gd name="T71" fmla="*/ 2147483646 h 77"/>
                <a:gd name="T72" fmla="*/ 2147483646 w 112"/>
                <a:gd name="T73" fmla="*/ 2147483646 h 77"/>
                <a:gd name="T74" fmla="*/ 2147483646 w 112"/>
                <a:gd name="T75" fmla="*/ 2147483646 h 77"/>
                <a:gd name="T76" fmla="*/ 2147483646 w 112"/>
                <a:gd name="T77" fmla="*/ 2147483646 h 77"/>
                <a:gd name="T78" fmla="*/ 2147483646 w 112"/>
                <a:gd name="T79" fmla="*/ 2147483646 h 77"/>
                <a:gd name="T80" fmla="*/ 2147483646 w 112"/>
                <a:gd name="T81" fmla="*/ 2147483646 h 77"/>
                <a:gd name="T82" fmla="*/ 2147483646 w 112"/>
                <a:gd name="T83" fmla="*/ 2147483646 h 77"/>
                <a:gd name="T84" fmla="*/ 2147483646 w 112"/>
                <a:gd name="T85" fmla="*/ 2147483646 h 77"/>
                <a:gd name="T86" fmla="*/ 2147483646 w 112"/>
                <a:gd name="T87" fmla="*/ 2147483646 h 77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112" h="77">
                  <a:moveTo>
                    <a:pt x="56" y="0"/>
                  </a:moveTo>
                  <a:cubicBezTo>
                    <a:pt x="62" y="0"/>
                    <a:pt x="66" y="4"/>
                    <a:pt x="66" y="10"/>
                  </a:cubicBezTo>
                  <a:cubicBezTo>
                    <a:pt x="66" y="15"/>
                    <a:pt x="62" y="20"/>
                    <a:pt x="56" y="20"/>
                  </a:cubicBezTo>
                  <a:cubicBezTo>
                    <a:pt x="51" y="20"/>
                    <a:pt x="46" y="15"/>
                    <a:pt x="46" y="10"/>
                  </a:cubicBezTo>
                  <a:cubicBezTo>
                    <a:pt x="46" y="4"/>
                    <a:pt x="51" y="0"/>
                    <a:pt x="56" y="0"/>
                  </a:cubicBezTo>
                  <a:close/>
                  <a:moveTo>
                    <a:pt x="15" y="49"/>
                  </a:moveTo>
                  <a:cubicBezTo>
                    <a:pt x="15" y="66"/>
                    <a:pt x="15" y="66"/>
                    <a:pt x="15" y="66"/>
                  </a:cubicBezTo>
                  <a:cubicBezTo>
                    <a:pt x="10" y="66"/>
                    <a:pt x="10" y="66"/>
                    <a:pt x="10" y="66"/>
                  </a:cubicBezTo>
                  <a:cubicBezTo>
                    <a:pt x="10" y="52"/>
                    <a:pt x="10" y="52"/>
                    <a:pt x="10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66"/>
                    <a:pt x="9" y="66"/>
                    <a:pt x="9" y="66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49"/>
                    <a:pt x="4" y="49"/>
                    <a:pt x="4" y="49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31"/>
                    <a:pt x="1" y="29"/>
                    <a:pt x="4" y="29"/>
                  </a:cubicBezTo>
                  <a:cubicBezTo>
                    <a:pt x="13" y="29"/>
                    <a:pt x="13" y="29"/>
                    <a:pt x="13" y="29"/>
                  </a:cubicBezTo>
                  <a:cubicBezTo>
                    <a:pt x="13" y="30"/>
                    <a:pt x="13" y="30"/>
                    <a:pt x="13" y="31"/>
                  </a:cubicBezTo>
                  <a:cubicBezTo>
                    <a:pt x="13" y="49"/>
                    <a:pt x="13" y="49"/>
                    <a:pt x="13" y="49"/>
                  </a:cubicBezTo>
                  <a:cubicBezTo>
                    <a:pt x="15" y="49"/>
                    <a:pt x="15" y="49"/>
                    <a:pt x="15" y="49"/>
                  </a:cubicBezTo>
                  <a:close/>
                  <a:moveTo>
                    <a:pt x="10" y="15"/>
                  </a:moveTo>
                  <a:cubicBezTo>
                    <a:pt x="13" y="15"/>
                    <a:pt x="16" y="18"/>
                    <a:pt x="16" y="22"/>
                  </a:cubicBezTo>
                  <a:cubicBezTo>
                    <a:pt x="16" y="23"/>
                    <a:pt x="16" y="24"/>
                    <a:pt x="15" y="25"/>
                  </a:cubicBezTo>
                  <a:cubicBezTo>
                    <a:pt x="15" y="26"/>
                    <a:pt x="15" y="26"/>
                    <a:pt x="14" y="26"/>
                  </a:cubicBezTo>
                  <a:cubicBezTo>
                    <a:pt x="13" y="27"/>
                    <a:pt x="12" y="28"/>
                    <a:pt x="10" y="28"/>
                  </a:cubicBezTo>
                  <a:cubicBezTo>
                    <a:pt x="6" y="28"/>
                    <a:pt x="3" y="25"/>
                    <a:pt x="3" y="22"/>
                  </a:cubicBezTo>
                  <a:cubicBezTo>
                    <a:pt x="3" y="18"/>
                    <a:pt x="6" y="15"/>
                    <a:pt x="10" y="15"/>
                  </a:cubicBezTo>
                  <a:close/>
                  <a:moveTo>
                    <a:pt x="96" y="49"/>
                  </a:moveTo>
                  <a:cubicBezTo>
                    <a:pt x="96" y="66"/>
                    <a:pt x="96" y="66"/>
                    <a:pt x="96" y="66"/>
                  </a:cubicBezTo>
                  <a:cubicBezTo>
                    <a:pt x="101" y="66"/>
                    <a:pt x="101" y="66"/>
                    <a:pt x="101" y="66"/>
                  </a:cubicBezTo>
                  <a:cubicBezTo>
                    <a:pt x="101" y="52"/>
                    <a:pt x="101" y="52"/>
                    <a:pt x="101" y="52"/>
                  </a:cubicBezTo>
                  <a:cubicBezTo>
                    <a:pt x="102" y="52"/>
                    <a:pt x="102" y="52"/>
                    <a:pt x="102" y="52"/>
                  </a:cubicBezTo>
                  <a:cubicBezTo>
                    <a:pt x="102" y="66"/>
                    <a:pt x="102" y="66"/>
                    <a:pt x="102" y="66"/>
                  </a:cubicBezTo>
                  <a:cubicBezTo>
                    <a:pt x="107" y="66"/>
                    <a:pt x="107" y="66"/>
                    <a:pt x="107" y="66"/>
                  </a:cubicBezTo>
                  <a:cubicBezTo>
                    <a:pt x="107" y="49"/>
                    <a:pt x="107" y="49"/>
                    <a:pt x="107" y="49"/>
                  </a:cubicBezTo>
                  <a:cubicBezTo>
                    <a:pt x="107" y="46"/>
                    <a:pt x="107" y="46"/>
                    <a:pt x="107" y="46"/>
                  </a:cubicBezTo>
                  <a:cubicBezTo>
                    <a:pt x="107" y="37"/>
                    <a:pt x="107" y="37"/>
                    <a:pt x="107" y="37"/>
                  </a:cubicBezTo>
                  <a:cubicBezTo>
                    <a:pt x="107" y="37"/>
                    <a:pt x="107" y="37"/>
                    <a:pt x="107" y="37"/>
                  </a:cubicBezTo>
                  <a:cubicBezTo>
                    <a:pt x="107" y="46"/>
                    <a:pt x="107" y="46"/>
                    <a:pt x="107" y="46"/>
                  </a:cubicBezTo>
                  <a:cubicBezTo>
                    <a:pt x="112" y="46"/>
                    <a:pt x="112" y="46"/>
                    <a:pt x="112" y="46"/>
                  </a:cubicBezTo>
                  <a:cubicBezTo>
                    <a:pt x="112" y="33"/>
                    <a:pt x="112" y="33"/>
                    <a:pt x="112" y="33"/>
                  </a:cubicBezTo>
                  <a:cubicBezTo>
                    <a:pt x="112" y="31"/>
                    <a:pt x="110" y="29"/>
                    <a:pt x="107" y="29"/>
                  </a:cubicBezTo>
                  <a:cubicBezTo>
                    <a:pt x="98" y="29"/>
                    <a:pt x="98" y="29"/>
                    <a:pt x="98" y="29"/>
                  </a:cubicBezTo>
                  <a:cubicBezTo>
                    <a:pt x="98" y="30"/>
                    <a:pt x="98" y="30"/>
                    <a:pt x="98" y="31"/>
                  </a:cubicBezTo>
                  <a:cubicBezTo>
                    <a:pt x="98" y="49"/>
                    <a:pt x="98" y="49"/>
                    <a:pt x="98" y="49"/>
                  </a:cubicBezTo>
                  <a:cubicBezTo>
                    <a:pt x="96" y="49"/>
                    <a:pt x="96" y="49"/>
                    <a:pt x="96" y="49"/>
                  </a:cubicBezTo>
                  <a:close/>
                  <a:moveTo>
                    <a:pt x="101" y="15"/>
                  </a:moveTo>
                  <a:cubicBezTo>
                    <a:pt x="98" y="15"/>
                    <a:pt x="95" y="18"/>
                    <a:pt x="95" y="22"/>
                  </a:cubicBezTo>
                  <a:cubicBezTo>
                    <a:pt x="95" y="23"/>
                    <a:pt x="95" y="24"/>
                    <a:pt x="96" y="25"/>
                  </a:cubicBezTo>
                  <a:cubicBezTo>
                    <a:pt x="96" y="26"/>
                    <a:pt x="97" y="26"/>
                    <a:pt x="97" y="26"/>
                  </a:cubicBezTo>
                  <a:cubicBezTo>
                    <a:pt x="98" y="27"/>
                    <a:pt x="100" y="28"/>
                    <a:pt x="101" y="28"/>
                  </a:cubicBezTo>
                  <a:cubicBezTo>
                    <a:pt x="105" y="28"/>
                    <a:pt x="108" y="25"/>
                    <a:pt x="108" y="22"/>
                  </a:cubicBezTo>
                  <a:cubicBezTo>
                    <a:pt x="108" y="18"/>
                    <a:pt x="105" y="15"/>
                    <a:pt x="101" y="15"/>
                  </a:cubicBezTo>
                  <a:close/>
                  <a:moveTo>
                    <a:pt x="75" y="51"/>
                  </a:moveTo>
                  <a:cubicBezTo>
                    <a:pt x="75" y="72"/>
                    <a:pt x="75" y="72"/>
                    <a:pt x="75" y="72"/>
                  </a:cubicBezTo>
                  <a:cubicBezTo>
                    <a:pt x="80" y="72"/>
                    <a:pt x="80" y="72"/>
                    <a:pt x="80" y="72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2" y="54"/>
                    <a:pt x="82" y="54"/>
                    <a:pt x="82" y="54"/>
                  </a:cubicBezTo>
                  <a:cubicBezTo>
                    <a:pt x="82" y="72"/>
                    <a:pt x="82" y="72"/>
                    <a:pt x="82" y="72"/>
                  </a:cubicBezTo>
                  <a:cubicBezTo>
                    <a:pt x="87" y="72"/>
                    <a:pt x="87" y="72"/>
                    <a:pt x="87" y="72"/>
                  </a:cubicBezTo>
                  <a:cubicBezTo>
                    <a:pt x="87" y="51"/>
                    <a:pt x="87" y="51"/>
                    <a:pt x="87" y="51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87" y="36"/>
                    <a:pt x="87" y="36"/>
                    <a:pt x="87" y="36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4" y="31"/>
                    <a:pt x="94" y="31"/>
                    <a:pt x="94" y="31"/>
                  </a:cubicBezTo>
                  <a:cubicBezTo>
                    <a:pt x="94" y="28"/>
                    <a:pt x="91" y="26"/>
                    <a:pt x="88" y="26"/>
                  </a:cubicBezTo>
                  <a:cubicBezTo>
                    <a:pt x="77" y="26"/>
                    <a:pt x="77" y="26"/>
                    <a:pt x="77" y="26"/>
                  </a:cubicBezTo>
                  <a:cubicBezTo>
                    <a:pt x="77" y="27"/>
                    <a:pt x="77" y="28"/>
                    <a:pt x="77" y="28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5" y="51"/>
                    <a:pt x="75" y="51"/>
                    <a:pt x="75" y="51"/>
                  </a:cubicBezTo>
                  <a:close/>
                  <a:moveTo>
                    <a:pt x="65" y="47"/>
                  </a:moveTo>
                  <a:cubicBezTo>
                    <a:pt x="65" y="32"/>
                    <a:pt x="65" y="32"/>
                    <a:pt x="65" y="32"/>
                  </a:cubicBezTo>
                  <a:cubicBezTo>
                    <a:pt x="64" y="32"/>
                    <a:pt x="64" y="32"/>
                    <a:pt x="64" y="32"/>
                  </a:cubicBezTo>
                  <a:cubicBezTo>
                    <a:pt x="64" y="47"/>
                    <a:pt x="64" y="47"/>
                    <a:pt x="64" y="47"/>
                  </a:cubicBezTo>
                  <a:cubicBezTo>
                    <a:pt x="64" y="50"/>
                    <a:pt x="64" y="50"/>
                    <a:pt x="64" y="50"/>
                  </a:cubicBezTo>
                  <a:cubicBezTo>
                    <a:pt x="64" y="77"/>
                    <a:pt x="64" y="77"/>
                    <a:pt x="64" y="77"/>
                  </a:cubicBezTo>
                  <a:cubicBezTo>
                    <a:pt x="57" y="77"/>
                    <a:pt x="57" y="77"/>
                    <a:pt x="57" y="77"/>
                  </a:cubicBezTo>
                  <a:cubicBezTo>
                    <a:pt x="57" y="55"/>
                    <a:pt x="57" y="55"/>
                    <a:pt x="57" y="55"/>
                  </a:cubicBezTo>
                  <a:cubicBezTo>
                    <a:pt x="55" y="55"/>
                    <a:pt x="55" y="55"/>
                    <a:pt x="55" y="55"/>
                  </a:cubicBezTo>
                  <a:cubicBezTo>
                    <a:pt x="55" y="77"/>
                    <a:pt x="55" y="77"/>
                    <a:pt x="55" y="77"/>
                  </a:cubicBezTo>
                  <a:cubicBezTo>
                    <a:pt x="48" y="77"/>
                    <a:pt x="48" y="77"/>
                    <a:pt x="48" y="77"/>
                  </a:cubicBezTo>
                  <a:cubicBezTo>
                    <a:pt x="48" y="50"/>
                    <a:pt x="48" y="50"/>
                    <a:pt x="48" y="50"/>
                  </a:cubicBezTo>
                  <a:cubicBezTo>
                    <a:pt x="48" y="47"/>
                    <a:pt x="48" y="47"/>
                    <a:pt x="48" y="47"/>
                  </a:cubicBezTo>
                  <a:cubicBezTo>
                    <a:pt x="48" y="32"/>
                    <a:pt x="48" y="32"/>
                    <a:pt x="48" y="32"/>
                  </a:cubicBezTo>
                  <a:cubicBezTo>
                    <a:pt x="47" y="32"/>
                    <a:pt x="47" y="32"/>
                    <a:pt x="47" y="32"/>
                  </a:cubicBezTo>
                  <a:cubicBezTo>
                    <a:pt x="47" y="47"/>
                    <a:pt x="47" y="47"/>
                    <a:pt x="47" y="47"/>
                  </a:cubicBezTo>
                  <a:cubicBezTo>
                    <a:pt x="41" y="47"/>
                    <a:pt x="41" y="47"/>
                    <a:pt x="41" y="47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1" y="24"/>
                    <a:pt x="44" y="21"/>
                    <a:pt x="47" y="21"/>
                  </a:cubicBezTo>
                  <a:cubicBezTo>
                    <a:pt x="66" y="21"/>
                    <a:pt x="46" y="21"/>
                    <a:pt x="65" y="21"/>
                  </a:cubicBezTo>
                  <a:cubicBezTo>
                    <a:pt x="69" y="21"/>
                    <a:pt x="71" y="24"/>
                    <a:pt x="71" y="27"/>
                  </a:cubicBezTo>
                  <a:cubicBezTo>
                    <a:pt x="71" y="47"/>
                    <a:pt x="71" y="47"/>
                    <a:pt x="71" y="47"/>
                  </a:cubicBezTo>
                  <a:cubicBezTo>
                    <a:pt x="70" y="47"/>
                    <a:pt x="68" y="47"/>
                    <a:pt x="65" y="47"/>
                  </a:cubicBezTo>
                  <a:close/>
                  <a:moveTo>
                    <a:pt x="37" y="51"/>
                  </a:moveTo>
                  <a:cubicBezTo>
                    <a:pt x="37" y="72"/>
                    <a:pt x="37" y="72"/>
                    <a:pt x="37" y="72"/>
                  </a:cubicBezTo>
                  <a:cubicBezTo>
                    <a:pt x="31" y="72"/>
                    <a:pt x="31" y="72"/>
                    <a:pt x="31" y="72"/>
                  </a:cubicBezTo>
                  <a:cubicBezTo>
                    <a:pt x="31" y="54"/>
                    <a:pt x="31" y="54"/>
                    <a:pt x="31" y="54"/>
                  </a:cubicBezTo>
                  <a:cubicBezTo>
                    <a:pt x="30" y="54"/>
                    <a:pt x="30" y="54"/>
                    <a:pt x="30" y="54"/>
                  </a:cubicBezTo>
                  <a:cubicBezTo>
                    <a:pt x="30" y="72"/>
                    <a:pt x="30" y="72"/>
                    <a:pt x="30" y="72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51"/>
                    <a:pt x="24" y="51"/>
                    <a:pt x="24" y="51"/>
                  </a:cubicBezTo>
                  <a:cubicBezTo>
                    <a:pt x="24" y="47"/>
                    <a:pt x="24" y="47"/>
                    <a:pt x="24" y="47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3" y="47"/>
                    <a:pt x="23" y="47"/>
                    <a:pt x="23" y="47"/>
                  </a:cubicBezTo>
                  <a:cubicBezTo>
                    <a:pt x="18" y="47"/>
                    <a:pt x="18" y="47"/>
                    <a:pt x="18" y="47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28"/>
                    <a:pt x="20" y="26"/>
                    <a:pt x="23" y="26"/>
                  </a:cubicBezTo>
                  <a:cubicBezTo>
                    <a:pt x="35" y="26"/>
                    <a:pt x="35" y="26"/>
                    <a:pt x="35" y="26"/>
                  </a:cubicBezTo>
                  <a:cubicBezTo>
                    <a:pt x="35" y="27"/>
                    <a:pt x="35" y="28"/>
                    <a:pt x="35" y="28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7" y="51"/>
                    <a:pt x="37" y="51"/>
                    <a:pt x="37" y="51"/>
                  </a:cubicBezTo>
                  <a:close/>
                  <a:moveTo>
                    <a:pt x="31" y="9"/>
                  </a:moveTo>
                  <a:cubicBezTo>
                    <a:pt x="35" y="9"/>
                    <a:pt x="39" y="12"/>
                    <a:pt x="39" y="17"/>
                  </a:cubicBezTo>
                  <a:cubicBezTo>
                    <a:pt x="39" y="19"/>
                    <a:pt x="38" y="20"/>
                    <a:pt x="37" y="22"/>
                  </a:cubicBezTo>
                  <a:cubicBezTo>
                    <a:pt x="37" y="22"/>
                    <a:pt x="37" y="22"/>
                    <a:pt x="37" y="23"/>
                  </a:cubicBezTo>
                  <a:cubicBezTo>
                    <a:pt x="35" y="24"/>
                    <a:pt x="33" y="25"/>
                    <a:pt x="31" y="25"/>
                  </a:cubicBezTo>
                  <a:cubicBezTo>
                    <a:pt x="26" y="25"/>
                    <a:pt x="22" y="21"/>
                    <a:pt x="22" y="17"/>
                  </a:cubicBezTo>
                  <a:cubicBezTo>
                    <a:pt x="22" y="12"/>
                    <a:pt x="26" y="9"/>
                    <a:pt x="31" y="9"/>
                  </a:cubicBezTo>
                  <a:close/>
                  <a:moveTo>
                    <a:pt x="81" y="9"/>
                  </a:moveTo>
                  <a:cubicBezTo>
                    <a:pt x="76" y="9"/>
                    <a:pt x="73" y="12"/>
                    <a:pt x="73" y="17"/>
                  </a:cubicBezTo>
                  <a:cubicBezTo>
                    <a:pt x="73" y="19"/>
                    <a:pt x="73" y="20"/>
                    <a:pt x="74" y="22"/>
                  </a:cubicBezTo>
                  <a:cubicBezTo>
                    <a:pt x="75" y="22"/>
                    <a:pt x="75" y="22"/>
                    <a:pt x="75" y="23"/>
                  </a:cubicBezTo>
                  <a:cubicBezTo>
                    <a:pt x="77" y="24"/>
                    <a:pt x="79" y="25"/>
                    <a:pt x="81" y="25"/>
                  </a:cubicBezTo>
                  <a:cubicBezTo>
                    <a:pt x="85" y="25"/>
                    <a:pt x="89" y="21"/>
                    <a:pt x="89" y="17"/>
                  </a:cubicBezTo>
                  <a:cubicBezTo>
                    <a:pt x="89" y="12"/>
                    <a:pt x="85" y="9"/>
                    <a:pt x="81" y="9"/>
                  </a:cubicBezTo>
                  <a:close/>
                </a:path>
              </a:pathLst>
            </a:custGeom>
            <a:solidFill>
              <a:srgbClr val="1A3F6C"/>
            </a:solidFill>
            <a:ln>
              <a:noFill/>
            </a:ln>
          </p:spPr>
          <p:txBody>
            <a:bodyPr anchor="ctr">
              <a:scene3d>
                <a:camera prst="orthographicFront"/>
                <a:lightRig rig="threePt" dir="t"/>
              </a:scene3d>
              <a:sp3d contourW="12700">
                <a:contourClr>
                  <a:srgbClr val="FFFFFF"/>
                </a:contourClr>
              </a:sp3d>
            </a:bodyPr>
            <a:lstStyle/>
            <a:p>
              <a:pPr algn="ctr">
                <a:defRPr/>
              </a:pPr>
              <a:endParaRPr lang="zh-CN" altLang="en-US" sz="2400" dirty="0">
                <a:solidFill>
                  <a:srgbClr val="FFFFFF"/>
                </a:solidFill>
                <a:ea typeface="微软雅黑" pitchFamily="34" charset="-122"/>
              </a:endParaRPr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5713904" y="1454904"/>
            <a:ext cx="3108543" cy="39050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189" indent="-457189">
              <a:lnSpc>
                <a:spcPct val="150000"/>
              </a:lnSpc>
              <a:buAutoNum type="arabicPeriod"/>
            </a:pPr>
            <a:r>
              <a:rPr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类和实例</a:t>
            </a:r>
            <a:endParaRPr lang="en-US" altLang="zh-CN" sz="2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457189" indent="-457189">
              <a:lnSpc>
                <a:spcPct val="150000"/>
              </a:lnSpc>
              <a:buAutoNum type="arabicPeriod"/>
            </a:pPr>
            <a:r>
              <a:rPr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数据封装</a:t>
            </a:r>
            <a:endParaRPr lang="en-US" altLang="zh-CN" sz="2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457189" indent="-457189">
              <a:lnSpc>
                <a:spcPct val="150000"/>
              </a:lnSpc>
              <a:buAutoNum type="arabicPeriod"/>
            </a:pPr>
            <a:r>
              <a:rPr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访问限制</a:t>
            </a:r>
            <a:endParaRPr lang="en-US" altLang="zh-CN" sz="2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457189" indent="-457189">
              <a:lnSpc>
                <a:spcPct val="150000"/>
              </a:lnSpc>
              <a:buAutoNum type="arabicPeriod"/>
            </a:pPr>
            <a:r>
              <a:rPr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继承和多态</a:t>
            </a:r>
            <a:endParaRPr lang="en-US" altLang="zh-CN" sz="2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457189" indent="-457189">
              <a:lnSpc>
                <a:spcPct val="150000"/>
              </a:lnSpc>
              <a:buAutoNum type="arabicPeriod"/>
            </a:pPr>
            <a:r>
              <a:rPr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获取对象信息</a:t>
            </a:r>
            <a:endParaRPr lang="en-US" altLang="zh-CN" sz="2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457189" indent="-457189">
              <a:lnSpc>
                <a:spcPct val="150000"/>
              </a:lnSpc>
              <a:buAutoNum type="arabicPeriod"/>
            </a:pPr>
            <a:r>
              <a:rPr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实例属性和类属性</a:t>
            </a:r>
            <a:endParaRPr lang="en-US" altLang="zh-CN" sz="2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2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4" name="椭圆 23"/>
          <p:cNvSpPr/>
          <p:nvPr/>
        </p:nvSpPr>
        <p:spPr>
          <a:xfrm>
            <a:off x="5212793" y="2176482"/>
            <a:ext cx="366369" cy="366369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srgbClr val="1A3F6C"/>
              </a:solidFill>
            </a:endParaRPr>
          </a:p>
        </p:txBody>
      </p:sp>
      <p:sp>
        <p:nvSpPr>
          <p:cNvPr id="30" name="椭圆 29"/>
          <p:cNvSpPr/>
          <p:nvPr/>
        </p:nvSpPr>
        <p:spPr>
          <a:xfrm>
            <a:off x="5212793" y="2762084"/>
            <a:ext cx="366369" cy="366369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srgbClr val="1A3F6C"/>
              </a:solidFill>
            </a:endParaRPr>
          </a:p>
        </p:txBody>
      </p:sp>
      <p:sp>
        <p:nvSpPr>
          <p:cNvPr id="31" name="椭圆 30">
            <a:extLst>
              <a:ext uri="{FF2B5EF4-FFF2-40B4-BE49-F238E27FC236}">
                <a16:creationId xmlns:a16="http://schemas.microsoft.com/office/drawing/2014/main" id="{E285C2D4-1734-D84F-BD33-D79F098E43AF}"/>
              </a:ext>
            </a:extLst>
          </p:cNvPr>
          <p:cNvSpPr/>
          <p:nvPr/>
        </p:nvSpPr>
        <p:spPr>
          <a:xfrm>
            <a:off x="5212793" y="1647664"/>
            <a:ext cx="366369" cy="366369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srgbClr val="1A3F6C"/>
              </a:solidFill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C9977858-0021-4243-9C76-2E1B4EEC423B}"/>
              </a:ext>
            </a:extLst>
          </p:cNvPr>
          <p:cNvSpPr/>
          <p:nvPr/>
        </p:nvSpPr>
        <p:spPr>
          <a:xfrm>
            <a:off x="5223303" y="3785143"/>
            <a:ext cx="366369" cy="366369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srgbClr val="1A3F6C"/>
              </a:solidFill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791BEA86-C7F5-7849-8427-26880023A696}"/>
              </a:ext>
            </a:extLst>
          </p:cNvPr>
          <p:cNvSpPr/>
          <p:nvPr/>
        </p:nvSpPr>
        <p:spPr>
          <a:xfrm>
            <a:off x="5223303" y="4339215"/>
            <a:ext cx="366369" cy="366369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srgbClr val="1A3F6C"/>
              </a:solidFill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1E55A5F8-B374-9D43-99A8-FF4C84110831}"/>
              </a:ext>
            </a:extLst>
          </p:cNvPr>
          <p:cNvSpPr/>
          <p:nvPr/>
        </p:nvSpPr>
        <p:spPr>
          <a:xfrm>
            <a:off x="5223303" y="3256325"/>
            <a:ext cx="366369" cy="366369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srgbClr val="1A3F6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52674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15" grpId="0"/>
      <p:bldP spid="24" grpId="0" animBg="1"/>
      <p:bldP spid="30" grpId="0" animBg="1"/>
      <p:bldP spid="31" grpId="0" animBg="1"/>
      <p:bldP spid="12" grpId="0" animBg="1"/>
      <p:bldP spid="13" grpId="0" animBg="1"/>
      <p:bldP spid="1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1ED6DD89-3C23-A54F-8ABD-495BB389F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实现二维列表类</a:t>
            </a: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D5F1B479-CDEC-714D-9F6C-B7FE7EB3D9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1092200"/>
            <a:ext cx="11135068" cy="3148496"/>
          </a:xfrm>
        </p:spPr>
        <p:txBody>
          <a:bodyPr>
            <a:normAutofit/>
          </a:bodyPr>
          <a:lstStyle/>
          <a:p>
            <a:r>
              <a:rPr lang="zh-CN" altLang="en-US" dirty="0"/>
              <a:t>二维列表</a:t>
            </a:r>
            <a:endParaRPr lang="en-US" altLang="zh-CN" dirty="0"/>
          </a:p>
          <a:p>
            <a:pPr lvl="1"/>
            <a:r>
              <a:rPr lang="zh-CN" altLang="en-US" dirty="0"/>
              <a:t>二维列表的初始化</a:t>
            </a:r>
            <a:endParaRPr lang="en-US" altLang="zh-CN" dirty="0"/>
          </a:p>
          <a:p>
            <a:pPr lvl="1"/>
            <a:r>
              <a:rPr lang="zh-CN" altLang="en-US" dirty="0"/>
              <a:t>二维列表的访问，索引和获取</a:t>
            </a:r>
            <a:endParaRPr lang="en-US" altLang="zh-CN" dirty="0"/>
          </a:p>
          <a:p>
            <a:pPr lvl="1"/>
            <a:r>
              <a:rPr lang="zh-CN" altLang="en-US" dirty="0"/>
              <a:t>二维列表的元素增加与删除</a:t>
            </a:r>
            <a:endParaRPr lang="en-US" altLang="zh-CN" dirty="0"/>
          </a:p>
          <a:p>
            <a:pPr marL="609585" lvl="1" indent="0">
              <a:buNone/>
            </a:pPr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C6815EC3-36AB-A94C-89A6-391BA8B0AA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344548"/>
            <a:ext cx="5214408" cy="3792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658491"/>
      </p:ext>
    </p:extLst>
  </p:cSld>
  <p:clrMapOvr>
    <a:masterClrMapping/>
  </p:clrMapOvr>
  <p:transition spd="slow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1ED6DD89-3C23-A54F-8ABD-495BB389F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实现二维列表类</a:t>
            </a: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D5F1B479-CDEC-714D-9F6C-B7FE7EB3D9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1092200"/>
            <a:ext cx="11135068" cy="3148496"/>
          </a:xfrm>
        </p:spPr>
        <p:txBody>
          <a:bodyPr>
            <a:normAutofit/>
          </a:bodyPr>
          <a:lstStyle/>
          <a:p>
            <a:r>
              <a:rPr lang="zh-CN" altLang="en-US" dirty="0"/>
              <a:t>二维列表</a:t>
            </a:r>
            <a:endParaRPr lang="en-US" altLang="zh-CN" dirty="0"/>
          </a:p>
          <a:p>
            <a:pPr lvl="1"/>
            <a:r>
              <a:rPr lang="zh-CN" altLang="en-US" dirty="0"/>
              <a:t>二维列表的初始化（构造函数）</a:t>
            </a:r>
            <a:endParaRPr lang="en-US" altLang="zh-CN" dirty="0"/>
          </a:p>
          <a:p>
            <a:pPr lvl="2"/>
            <a:r>
              <a:rPr lang="zh-CN" altLang="en-US" dirty="0"/>
              <a:t>从给定二维列表初始化</a:t>
            </a:r>
            <a:endParaRPr lang="en-US" altLang="zh-CN" dirty="0"/>
          </a:p>
          <a:p>
            <a:pPr lvl="2"/>
            <a:r>
              <a:rPr lang="zh-CN" altLang="en-US" dirty="0"/>
              <a:t>指定列表大小，所有元素赋值相同</a:t>
            </a:r>
            <a:endParaRPr lang="en-US" altLang="zh-CN" dirty="0"/>
          </a:p>
          <a:p>
            <a:pPr lvl="2"/>
            <a:r>
              <a:rPr lang="zh-CN" altLang="en-US" dirty="0"/>
              <a:t>从给定的一维列表初始化二维列表，并根据参数定义列表大小</a:t>
            </a:r>
            <a:endParaRPr lang="en-US" altLang="zh-CN" dirty="0"/>
          </a:p>
          <a:p>
            <a:pPr lvl="2"/>
            <a:endParaRPr lang="en-US" altLang="zh-CN" dirty="0"/>
          </a:p>
          <a:p>
            <a:pPr marL="609585" lvl="1" indent="0">
              <a:buNone/>
            </a:pPr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123329102"/>
      </p:ext>
    </p:extLst>
  </p:cSld>
  <p:clrMapOvr>
    <a:masterClrMapping/>
  </p:clrMapOvr>
  <p:transition spd="slow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1ED6DD89-3C23-A54F-8ABD-495BB389F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实现二维列表类</a:t>
            </a: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D5F1B479-CDEC-714D-9F6C-B7FE7EB3D9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1092200"/>
            <a:ext cx="11135068" cy="3148496"/>
          </a:xfrm>
        </p:spPr>
        <p:txBody>
          <a:bodyPr>
            <a:normAutofit/>
          </a:bodyPr>
          <a:lstStyle/>
          <a:p>
            <a:r>
              <a:rPr lang="zh-CN" altLang="en-US" dirty="0"/>
              <a:t>二维列表</a:t>
            </a:r>
            <a:endParaRPr lang="en-US" altLang="zh-CN" dirty="0"/>
          </a:p>
          <a:p>
            <a:pPr lvl="1"/>
            <a:r>
              <a:rPr lang="zh-CN" altLang="en-US" dirty="0"/>
              <a:t>二维列表的初始化（构造函数）</a:t>
            </a:r>
            <a:endParaRPr lang="en-US" altLang="zh-CN" dirty="0"/>
          </a:p>
          <a:p>
            <a:pPr lvl="2"/>
            <a:endParaRPr lang="en-US" altLang="zh-CN" dirty="0"/>
          </a:p>
          <a:p>
            <a:pPr marL="609585" lvl="1" indent="0">
              <a:buNone/>
            </a:pPr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69DAD34-F7B9-1C46-9490-82B6880C4D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9266" y="2101010"/>
            <a:ext cx="6294041" cy="4414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9916672"/>
      </p:ext>
    </p:extLst>
  </p:cSld>
  <p:clrMapOvr>
    <a:masterClrMapping/>
  </p:clrMapOvr>
  <p:transition spd="slow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1ED6DD89-3C23-A54F-8ABD-495BB389F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实现二维列表类</a:t>
            </a: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D5F1B479-CDEC-714D-9F6C-B7FE7EB3D9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1092200"/>
            <a:ext cx="11135068" cy="3148496"/>
          </a:xfrm>
        </p:spPr>
        <p:txBody>
          <a:bodyPr>
            <a:normAutofit/>
          </a:bodyPr>
          <a:lstStyle/>
          <a:p>
            <a:r>
              <a:rPr lang="zh-CN" altLang="en-US" dirty="0"/>
              <a:t>二维列表</a:t>
            </a:r>
            <a:endParaRPr lang="en-US" altLang="zh-CN" dirty="0"/>
          </a:p>
          <a:p>
            <a:pPr lvl="1"/>
            <a:r>
              <a:rPr lang="zh-CN" altLang="en-US" dirty="0"/>
              <a:t>二维列表的初始化（构造函数）</a:t>
            </a:r>
            <a:endParaRPr lang="en-US" altLang="zh-CN" dirty="0"/>
          </a:p>
          <a:p>
            <a:pPr lvl="2"/>
            <a:r>
              <a:rPr lang="zh-CN" altLang="en-US" dirty="0"/>
              <a:t>输入参数判定是否合法</a:t>
            </a:r>
            <a:endParaRPr lang="en-US" altLang="zh-CN" dirty="0"/>
          </a:p>
          <a:p>
            <a:pPr marL="609585" lvl="1" indent="0">
              <a:buNone/>
            </a:pPr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69DAD34-F7B9-1C46-9490-82B6880C4D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960" y="1771001"/>
            <a:ext cx="6294041" cy="4414839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C444D2F6-532D-FF48-8D9E-F8650211C4B2}"/>
              </a:ext>
            </a:extLst>
          </p:cNvPr>
          <p:cNvSpPr/>
          <p:nvPr/>
        </p:nvSpPr>
        <p:spPr>
          <a:xfrm>
            <a:off x="6340328" y="2586089"/>
            <a:ext cx="3302000" cy="448161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kumimoji="1" lang="zh-CN" altLang="en-US" sz="2400">
              <a:solidFill>
                <a:prstClr val="white"/>
              </a:solidFill>
              <a:latin typeface="Calibri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72558403"/>
      </p:ext>
    </p:extLst>
  </p:cSld>
  <p:clrMapOvr>
    <a:masterClrMapping/>
  </p:clrMapOvr>
  <p:transition spd="slow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1ED6DD89-3C23-A54F-8ABD-495BB389F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实现二维列表类</a:t>
            </a: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D5F1B479-CDEC-714D-9F6C-B7FE7EB3D9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1092200"/>
            <a:ext cx="11135068" cy="3148496"/>
          </a:xfrm>
        </p:spPr>
        <p:txBody>
          <a:bodyPr>
            <a:normAutofit/>
          </a:bodyPr>
          <a:lstStyle/>
          <a:p>
            <a:r>
              <a:rPr lang="zh-CN" altLang="en-US" dirty="0"/>
              <a:t>二维列表</a:t>
            </a:r>
            <a:endParaRPr lang="en-US" altLang="zh-CN" dirty="0"/>
          </a:p>
          <a:p>
            <a:pPr lvl="1"/>
            <a:r>
              <a:rPr lang="zh-CN" altLang="en-US" dirty="0"/>
              <a:t>二维列表的初始化（构造函数）</a:t>
            </a:r>
            <a:endParaRPr lang="en-US" altLang="zh-CN" dirty="0"/>
          </a:p>
          <a:p>
            <a:pPr lvl="2"/>
            <a:r>
              <a:rPr lang="zh-CN" altLang="en-US" dirty="0"/>
              <a:t>输入参数判定是否合法</a:t>
            </a:r>
            <a:endParaRPr lang="en-US" altLang="zh-CN" dirty="0"/>
          </a:p>
          <a:p>
            <a:pPr marL="609585" lvl="1" indent="0">
              <a:buNone/>
            </a:pPr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69DAD34-F7B9-1C46-9490-82B6880C4D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960" y="1771001"/>
            <a:ext cx="6294041" cy="4414839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C444D2F6-532D-FF48-8D9E-F8650211C4B2}"/>
              </a:ext>
            </a:extLst>
          </p:cNvPr>
          <p:cNvSpPr/>
          <p:nvPr/>
        </p:nvSpPr>
        <p:spPr>
          <a:xfrm>
            <a:off x="6340328" y="2586089"/>
            <a:ext cx="3302000" cy="448161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kumimoji="1" lang="zh-CN" altLang="en-US" sz="2400">
              <a:solidFill>
                <a:prstClr val="white"/>
              </a:solidFill>
              <a:latin typeface="Calibri"/>
              <a:ea typeface="宋体" panose="02010600030101010101" pitchFamily="2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7C5164F8-8742-6E46-859A-F66BFA4CB9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35" y="3615066"/>
            <a:ext cx="6014867" cy="2644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0757201"/>
      </p:ext>
    </p:extLst>
  </p:cSld>
  <p:clrMapOvr>
    <a:masterClrMapping/>
  </p:clrMapOvr>
  <p:transition spd="slow">
    <p:pull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1ED6DD89-3C23-A54F-8ABD-495BB389F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实现二维列表类</a:t>
            </a: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D5F1B479-CDEC-714D-9F6C-B7FE7EB3D9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1092200"/>
            <a:ext cx="11135068" cy="3148496"/>
          </a:xfrm>
        </p:spPr>
        <p:txBody>
          <a:bodyPr>
            <a:normAutofit/>
          </a:bodyPr>
          <a:lstStyle/>
          <a:p>
            <a:r>
              <a:rPr lang="zh-CN" altLang="en-US" dirty="0"/>
              <a:t>二维列表</a:t>
            </a:r>
            <a:endParaRPr lang="en-US" altLang="zh-CN" dirty="0"/>
          </a:p>
          <a:p>
            <a:pPr lvl="1"/>
            <a:r>
              <a:rPr lang="zh-CN" altLang="en-US" dirty="0"/>
              <a:t>二维列表的初始化（构造函数）</a:t>
            </a:r>
            <a:endParaRPr lang="en-US" altLang="zh-CN" dirty="0"/>
          </a:p>
          <a:p>
            <a:pPr lvl="2"/>
            <a:r>
              <a:rPr lang="zh-CN" altLang="en-US" dirty="0"/>
              <a:t>从给定二维列表初始化</a:t>
            </a:r>
            <a:endParaRPr lang="en-US" altLang="zh-CN" dirty="0"/>
          </a:p>
          <a:p>
            <a:pPr marL="609585" lvl="1" indent="0">
              <a:buNone/>
            </a:pPr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69DAD34-F7B9-1C46-9490-82B6880C4D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960" y="1771001"/>
            <a:ext cx="6294041" cy="4414839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C444D2F6-532D-FF48-8D9E-F8650211C4B2}"/>
              </a:ext>
            </a:extLst>
          </p:cNvPr>
          <p:cNvSpPr/>
          <p:nvPr/>
        </p:nvSpPr>
        <p:spPr>
          <a:xfrm>
            <a:off x="6367828" y="3090270"/>
            <a:ext cx="3578277" cy="484828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kumimoji="1" lang="zh-CN" altLang="en-US" sz="2400">
              <a:solidFill>
                <a:prstClr val="white"/>
              </a:solidFill>
              <a:latin typeface="Calibri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93200481"/>
      </p:ext>
    </p:extLst>
  </p:cSld>
  <p:clrMapOvr>
    <a:masterClrMapping/>
  </p:clrMapOvr>
  <p:transition spd="slow">
    <p:pull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1ED6DD89-3C23-A54F-8ABD-495BB389F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实现二维列表类</a:t>
            </a: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D5F1B479-CDEC-714D-9F6C-B7FE7EB3D9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1092200"/>
            <a:ext cx="11135068" cy="3148496"/>
          </a:xfrm>
        </p:spPr>
        <p:txBody>
          <a:bodyPr>
            <a:normAutofit/>
          </a:bodyPr>
          <a:lstStyle/>
          <a:p>
            <a:r>
              <a:rPr lang="zh-CN" altLang="en-US" dirty="0"/>
              <a:t>二维列表</a:t>
            </a:r>
            <a:endParaRPr lang="en-US" altLang="zh-CN" dirty="0"/>
          </a:p>
          <a:p>
            <a:pPr lvl="1"/>
            <a:r>
              <a:rPr lang="zh-CN" altLang="en-US" dirty="0"/>
              <a:t>二维列表的初始化（构造函数）</a:t>
            </a:r>
            <a:endParaRPr lang="en-US" altLang="zh-CN" dirty="0"/>
          </a:p>
          <a:p>
            <a:pPr lvl="2"/>
            <a:r>
              <a:rPr lang="zh-CN" altLang="en-US" dirty="0"/>
              <a:t>指定列表大小，元素赋值相同</a:t>
            </a:r>
          </a:p>
          <a:p>
            <a:pPr lvl="2"/>
            <a:endParaRPr lang="zh-CN" altLang="en-US" dirty="0"/>
          </a:p>
          <a:p>
            <a:pPr marL="609585" lvl="1" indent="0">
              <a:buNone/>
            </a:pPr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69DAD34-F7B9-1C46-9490-82B6880C4D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960" y="1771001"/>
            <a:ext cx="6294041" cy="4414839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C444D2F6-532D-FF48-8D9E-F8650211C4B2}"/>
              </a:ext>
            </a:extLst>
          </p:cNvPr>
          <p:cNvSpPr/>
          <p:nvPr/>
        </p:nvSpPr>
        <p:spPr>
          <a:xfrm>
            <a:off x="6545916" y="3736005"/>
            <a:ext cx="3986872" cy="118349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kumimoji="1" lang="zh-CN" altLang="en-US" sz="2400">
              <a:solidFill>
                <a:prstClr val="white"/>
              </a:solidFill>
              <a:latin typeface="Calibri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48651435"/>
      </p:ext>
    </p:extLst>
  </p:cSld>
  <p:clrMapOvr>
    <a:masterClrMapping/>
  </p:clrMapOvr>
  <p:transition spd="slow">
    <p:pull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1ED6DD89-3C23-A54F-8ABD-495BB389F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实现二维列表类</a:t>
            </a: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D5F1B479-CDEC-714D-9F6C-B7FE7EB3D9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1092200"/>
            <a:ext cx="11135068" cy="3148496"/>
          </a:xfrm>
        </p:spPr>
        <p:txBody>
          <a:bodyPr>
            <a:normAutofit/>
          </a:bodyPr>
          <a:lstStyle/>
          <a:p>
            <a:r>
              <a:rPr lang="zh-CN" altLang="en-US" dirty="0"/>
              <a:t>二维列表</a:t>
            </a:r>
            <a:endParaRPr lang="en-US" altLang="zh-CN" dirty="0"/>
          </a:p>
          <a:p>
            <a:pPr lvl="1"/>
            <a:r>
              <a:rPr lang="zh-CN" altLang="en-US" dirty="0"/>
              <a:t>二维列表的初始化（构造函数）</a:t>
            </a:r>
            <a:endParaRPr lang="en-US" altLang="zh-CN" dirty="0"/>
          </a:p>
          <a:p>
            <a:pPr lvl="2"/>
            <a:r>
              <a:rPr lang="zh-CN" altLang="en-US" dirty="0"/>
              <a:t>从一维列表初始化二维列表</a:t>
            </a:r>
          </a:p>
          <a:p>
            <a:pPr lvl="2"/>
            <a:endParaRPr lang="zh-CN" altLang="en-US" dirty="0"/>
          </a:p>
          <a:p>
            <a:pPr marL="609585" lvl="1" indent="0">
              <a:buNone/>
            </a:pPr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69DAD34-F7B9-1C46-9490-82B6880C4D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960" y="1771001"/>
            <a:ext cx="6294041" cy="4414839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C444D2F6-532D-FF48-8D9E-F8650211C4B2}"/>
              </a:ext>
            </a:extLst>
          </p:cNvPr>
          <p:cNvSpPr/>
          <p:nvPr/>
        </p:nvSpPr>
        <p:spPr>
          <a:xfrm>
            <a:off x="6564249" y="4919497"/>
            <a:ext cx="5180417" cy="983999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kumimoji="1" lang="zh-CN" altLang="en-US" sz="2400">
              <a:solidFill>
                <a:prstClr val="white"/>
              </a:solidFill>
              <a:latin typeface="Calibri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46250151"/>
      </p:ext>
    </p:extLst>
  </p:cSld>
  <p:clrMapOvr>
    <a:masterClrMapping/>
  </p:clrMapOvr>
  <p:transition spd="slow">
    <p:pull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1ED6DD89-3C23-A54F-8ABD-495BB389F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实现二维列表类</a:t>
            </a: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D5F1B479-CDEC-714D-9F6C-B7FE7EB3D9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1092200"/>
            <a:ext cx="11135068" cy="3148496"/>
          </a:xfrm>
        </p:spPr>
        <p:txBody>
          <a:bodyPr>
            <a:normAutofit/>
          </a:bodyPr>
          <a:lstStyle/>
          <a:p>
            <a:r>
              <a:rPr lang="zh-CN" altLang="en-US" dirty="0"/>
              <a:t>二维列表</a:t>
            </a:r>
            <a:endParaRPr lang="en-US" altLang="zh-CN" dirty="0"/>
          </a:p>
          <a:p>
            <a:pPr lvl="1"/>
            <a:r>
              <a:rPr lang="zh-CN" altLang="en-US" dirty="0"/>
              <a:t>二维列表的访问，索引和获取</a:t>
            </a:r>
            <a:endParaRPr lang="en-US" altLang="zh-CN" dirty="0"/>
          </a:p>
          <a:p>
            <a:pPr lvl="2"/>
            <a:r>
              <a:rPr lang="zh-CN" altLang="en-US" dirty="0"/>
              <a:t>二维列表的访问（私有变量访问）</a:t>
            </a:r>
          </a:p>
          <a:p>
            <a:pPr marL="609585" lvl="1" indent="0">
              <a:buNone/>
            </a:pPr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41F963B3-BFCF-F040-97FD-63558C9153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0755" y="3187387"/>
            <a:ext cx="4763615" cy="1053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8907571"/>
      </p:ext>
    </p:extLst>
  </p:cSld>
  <p:clrMapOvr>
    <a:masterClrMapping/>
  </p:clrMapOvr>
  <p:transition spd="slow">
    <p:pull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1ED6DD89-3C23-A54F-8ABD-495BB389F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实现二维列表类</a:t>
            </a: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D5F1B479-CDEC-714D-9F6C-B7FE7EB3D9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1092200"/>
            <a:ext cx="11135068" cy="3148496"/>
          </a:xfrm>
        </p:spPr>
        <p:txBody>
          <a:bodyPr>
            <a:normAutofit/>
          </a:bodyPr>
          <a:lstStyle/>
          <a:p>
            <a:r>
              <a:rPr lang="zh-CN" altLang="en-US" dirty="0"/>
              <a:t>二维列表</a:t>
            </a:r>
            <a:endParaRPr lang="en-US" altLang="zh-CN" dirty="0"/>
          </a:p>
          <a:p>
            <a:pPr lvl="1"/>
            <a:r>
              <a:rPr lang="zh-CN" altLang="en-US" dirty="0"/>
              <a:t>二维列表的访问，索引和获取</a:t>
            </a:r>
            <a:endParaRPr lang="en-US" altLang="zh-CN" dirty="0"/>
          </a:p>
          <a:p>
            <a:pPr lvl="2"/>
            <a:r>
              <a:rPr lang="zh-CN" altLang="en-US" dirty="0"/>
              <a:t>二维列表的访问（私有变量访问）</a:t>
            </a:r>
          </a:p>
          <a:p>
            <a:pPr marL="609585" lvl="1" indent="0">
              <a:buNone/>
            </a:pPr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1F69BB75-B68C-2644-80EB-F33759FD4F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8330" y="3264936"/>
            <a:ext cx="5846901" cy="1128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9477089"/>
      </p:ext>
    </p:extLst>
  </p:cSld>
  <p:clrMapOvr>
    <a:masterClrMapping/>
  </p:clrMapOvr>
  <p:transition spd="slow">
    <p:pull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1ED6DD89-3C23-A54F-8ABD-495BB389F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实现二维列表类</a:t>
            </a: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D5F1B479-CDEC-714D-9F6C-B7FE7EB3D9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1092200"/>
            <a:ext cx="11135068" cy="3148496"/>
          </a:xfrm>
        </p:spPr>
        <p:txBody>
          <a:bodyPr>
            <a:normAutofit/>
          </a:bodyPr>
          <a:lstStyle/>
          <a:p>
            <a:r>
              <a:rPr lang="zh-CN" altLang="en-US" dirty="0"/>
              <a:t>二维列表</a:t>
            </a:r>
            <a:endParaRPr lang="en-US" altLang="zh-CN" dirty="0"/>
          </a:p>
          <a:p>
            <a:pPr lvl="1"/>
            <a:r>
              <a:rPr lang="zh-CN" altLang="en-US" dirty="0"/>
              <a:t>二维列表的访问，索引和获取</a:t>
            </a:r>
            <a:endParaRPr lang="en-US" altLang="zh-CN" dirty="0"/>
          </a:p>
          <a:p>
            <a:pPr lvl="2"/>
            <a:r>
              <a:rPr lang="zh-CN" altLang="en-US" dirty="0"/>
              <a:t>二维列表的索引和获取</a:t>
            </a:r>
            <a:endParaRPr lang="en-US" altLang="zh-CN" dirty="0"/>
          </a:p>
          <a:p>
            <a:pPr marL="1828754" lvl="3" indent="0">
              <a:buNone/>
            </a:pPr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6D4F301-60F2-2A49-8A7B-2E67F8A156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6208" y="2044223"/>
            <a:ext cx="6627211" cy="422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907048"/>
      </p:ext>
    </p:extLst>
  </p:cSld>
  <p:clrMapOvr>
    <a:masterClrMapping/>
  </p:clrMapOvr>
  <p:transition spd="slow">
    <p:pull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1ED6DD89-3C23-A54F-8ABD-495BB389F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实现二维列表类</a:t>
            </a: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D5F1B479-CDEC-714D-9F6C-B7FE7EB3D9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1092200"/>
            <a:ext cx="11135068" cy="3148496"/>
          </a:xfrm>
        </p:spPr>
        <p:txBody>
          <a:bodyPr>
            <a:normAutofit/>
          </a:bodyPr>
          <a:lstStyle/>
          <a:p>
            <a:r>
              <a:rPr lang="zh-CN" altLang="en-US" dirty="0"/>
              <a:t>二维列表</a:t>
            </a:r>
            <a:endParaRPr lang="en-US" altLang="zh-CN" dirty="0"/>
          </a:p>
          <a:p>
            <a:pPr lvl="1"/>
            <a:r>
              <a:rPr lang="zh-CN" altLang="en-US" dirty="0"/>
              <a:t>二维列表的访问，索引和获取</a:t>
            </a:r>
            <a:endParaRPr lang="en-US" altLang="zh-CN" dirty="0"/>
          </a:p>
          <a:p>
            <a:pPr lvl="2"/>
            <a:r>
              <a:rPr lang="zh-CN" altLang="en-US" dirty="0"/>
              <a:t>二维列表的索引和获取</a:t>
            </a:r>
            <a:endParaRPr lang="en-US" altLang="zh-CN" dirty="0"/>
          </a:p>
          <a:p>
            <a:pPr lvl="3"/>
            <a:r>
              <a:rPr lang="zh-CN" altLang="en-US" dirty="0"/>
              <a:t>索引值判定是否合法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6D4F301-60F2-2A49-8A7B-2E67F8A156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6208" y="2044223"/>
            <a:ext cx="6627211" cy="4225949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B247D284-5FF4-694F-846D-E71A1BAD2C71}"/>
              </a:ext>
            </a:extLst>
          </p:cNvPr>
          <p:cNvSpPr/>
          <p:nvPr/>
        </p:nvSpPr>
        <p:spPr>
          <a:xfrm>
            <a:off x="5647558" y="2774438"/>
            <a:ext cx="5180417" cy="424817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kumimoji="1" lang="zh-CN" altLang="en-US" sz="2400">
              <a:solidFill>
                <a:prstClr val="white"/>
              </a:solidFill>
              <a:latin typeface="Calibri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24207129"/>
      </p:ext>
    </p:extLst>
  </p:cSld>
  <p:clrMapOvr>
    <a:masterClrMapping/>
  </p:clrMapOvr>
  <p:transition spd="slow">
    <p:pull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1ED6DD89-3C23-A54F-8ABD-495BB389F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实现二维列表类</a:t>
            </a: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D5F1B479-CDEC-714D-9F6C-B7FE7EB3D9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1092200"/>
            <a:ext cx="11135068" cy="3148496"/>
          </a:xfrm>
        </p:spPr>
        <p:txBody>
          <a:bodyPr>
            <a:normAutofit/>
          </a:bodyPr>
          <a:lstStyle/>
          <a:p>
            <a:r>
              <a:rPr lang="zh-CN" altLang="en-US" dirty="0"/>
              <a:t>二维列表</a:t>
            </a:r>
            <a:endParaRPr lang="en-US" altLang="zh-CN" dirty="0"/>
          </a:p>
          <a:p>
            <a:pPr lvl="1"/>
            <a:r>
              <a:rPr lang="zh-CN" altLang="en-US" dirty="0"/>
              <a:t>二维列表的访问，索引和获取</a:t>
            </a:r>
            <a:endParaRPr lang="en-US" altLang="zh-CN" dirty="0"/>
          </a:p>
          <a:p>
            <a:pPr lvl="2"/>
            <a:r>
              <a:rPr lang="zh-CN" altLang="en-US" dirty="0"/>
              <a:t>二维列表的索引和获取</a:t>
            </a:r>
            <a:endParaRPr lang="en-US" altLang="zh-CN" dirty="0"/>
          </a:p>
          <a:p>
            <a:pPr lvl="3"/>
            <a:r>
              <a:rPr lang="zh-CN" altLang="en-US" dirty="0"/>
              <a:t>仅给定行索引值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6D4F301-60F2-2A49-8A7B-2E67F8A156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6208" y="2044223"/>
            <a:ext cx="6627211" cy="4225949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B247D284-5FF4-694F-846D-E71A1BAD2C71}"/>
              </a:ext>
            </a:extLst>
          </p:cNvPr>
          <p:cNvSpPr/>
          <p:nvPr/>
        </p:nvSpPr>
        <p:spPr>
          <a:xfrm>
            <a:off x="5665892" y="3216591"/>
            <a:ext cx="5180417" cy="78935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kumimoji="1" lang="zh-CN" altLang="en-US" sz="2400">
              <a:solidFill>
                <a:prstClr val="white"/>
              </a:solidFill>
              <a:latin typeface="Calibri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22559358"/>
      </p:ext>
    </p:extLst>
  </p:cSld>
  <p:clrMapOvr>
    <a:masterClrMapping/>
  </p:clrMapOvr>
  <p:transition spd="slow">
    <p:pull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1ED6DD89-3C23-A54F-8ABD-495BB389F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实现二维列表类</a:t>
            </a: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D5F1B479-CDEC-714D-9F6C-B7FE7EB3D9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1092200"/>
            <a:ext cx="11135068" cy="3148496"/>
          </a:xfrm>
        </p:spPr>
        <p:txBody>
          <a:bodyPr>
            <a:normAutofit/>
          </a:bodyPr>
          <a:lstStyle/>
          <a:p>
            <a:r>
              <a:rPr lang="zh-CN" altLang="en-US" dirty="0"/>
              <a:t>二维列表</a:t>
            </a:r>
            <a:endParaRPr lang="en-US" altLang="zh-CN" dirty="0"/>
          </a:p>
          <a:p>
            <a:pPr lvl="1"/>
            <a:r>
              <a:rPr lang="zh-CN" altLang="en-US" dirty="0"/>
              <a:t>二维列表的访问，索引和获取</a:t>
            </a:r>
            <a:endParaRPr lang="en-US" altLang="zh-CN" dirty="0"/>
          </a:p>
          <a:p>
            <a:pPr lvl="2"/>
            <a:r>
              <a:rPr lang="zh-CN" altLang="en-US" dirty="0"/>
              <a:t>二维列表的索引和获取</a:t>
            </a:r>
            <a:endParaRPr lang="en-US" altLang="zh-CN" dirty="0"/>
          </a:p>
          <a:p>
            <a:pPr lvl="3"/>
            <a:r>
              <a:rPr lang="zh-CN" altLang="en-US" dirty="0"/>
              <a:t>仅给定列索引值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6D4F301-60F2-2A49-8A7B-2E67F8A156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6208" y="2044223"/>
            <a:ext cx="6627211" cy="4225949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B247D284-5FF4-694F-846D-E71A1BAD2C71}"/>
              </a:ext>
            </a:extLst>
          </p:cNvPr>
          <p:cNvSpPr/>
          <p:nvPr/>
        </p:nvSpPr>
        <p:spPr>
          <a:xfrm>
            <a:off x="5620057" y="3998419"/>
            <a:ext cx="5180417" cy="1125887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kumimoji="1" lang="zh-CN" altLang="en-US" sz="2400">
              <a:solidFill>
                <a:prstClr val="white"/>
              </a:solidFill>
              <a:latin typeface="Calibri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59620510"/>
      </p:ext>
    </p:extLst>
  </p:cSld>
  <p:clrMapOvr>
    <a:masterClrMapping/>
  </p:clrMapOvr>
  <p:transition spd="slow">
    <p:pull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1ED6DD89-3C23-A54F-8ABD-495BB389F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实现二维列表类</a:t>
            </a: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D5F1B479-CDEC-714D-9F6C-B7FE7EB3D9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1092200"/>
            <a:ext cx="11135068" cy="3148496"/>
          </a:xfrm>
        </p:spPr>
        <p:txBody>
          <a:bodyPr>
            <a:normAutofit/>
          </a:bodyPr>
          <a:lstStyle/>
          <a:p>
            <a:r>
              <a:rPr lang="zh-CN" altLang="en-US" dirty="0"/>
              <a:t>二维列表</a:t>
            </a:r>
            <a:endParaRPr lang="en-US" altLang="zh-CN" dirty="0"/>
          </a:p>
          <a:p>
            <a:pPr lvl="1"/>
            <a:r>
              <a:rPr lang="zh-CN" altLang="en-US" dirty="0"/>
              <a:t>二维列表的访问，索引和获取</a:t>
            </a:r>
            <a:endParaRPr lang="en-US" altLang="zh-CN" dirty="0"/>
          </a:p>
          <a:p>
            <a:pPr lvl="2"/>
            <a:r>
              <a:rPr lang="zh-CN" altLang="en-US" dirty="0"/>
              <a:t>二维列表的索引和获取</a:t>
            </a:r>
            <a:endParaRPr lang="en-US" altLang="zh-CN" dirty="0"/>
          </a:p>
          <a:p>
            <a:pPr lvl="3"/>
            <a:r>
              <a:rPr lang="zh-CN" altLang="en-US" dirty="0"/>
              <a:t>行、列索引均给定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6D4F301-60F2-2A49-8A7B-2E67F8A156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6208" y="2044223"/>
            <a:ext cx="6627211" cy="4225949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B247D284-5FF4-694F-846D-E71A1BAD2C71}"/>
              </a:ext>
            </a:extLst>
          </p:cNvPr>
          <p:cNvSpPr/>
          <p:nvPr/>
        </p:nvSpPr>
        <p:spPr>
          <a:xfrm>
            <a:off x="5684224" y="5123311"/>
            <a:ext cx="6060443" cy="844351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kumimoji="1" lang="zh-CN" altLang="en-US" sz="2400">
              <a:solidFill>
                <a:prstClr val="white"/>
              </a:solidFill>
              <a:latin typeface="Calibri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37810868"/>
      </p:ext>
    </p:extLst>
  </p:cSld>
  <p:clrMapOvr>
    <a:masterClrMapping/>
  </p:clrMapOvr>
  <p:transition spd="slow">
    <p:pull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1ED6DD89-3C23-A54F-8ABD-495BB389F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实现二维列表类</a:t>
            </a: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D5F1B479-CDEC-714D-9F6C-B7FE7EB3D9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1092200"/>
            <a:ext cx="11135068" cy="3148496"/>
          </a:xfrm>
        </p:spPr>
        <p:txBody>
          <a:bodyPr>
            <a:normAutofit/>
          </a:bodyPr>
          <a:lstStyle/>
          <a:p>
            <a:r>
              <a:rPr lang="zh-CN" altLang="en-US" dirty="0"/>
              <a:t>二维列表</a:t>
            </a:r>
            <a:endParaRPr lang="en-US" altLang="zh-CN" dirty="0"/>
          </a:p>
          <a:p>
            <a:pPr lvl="1"/>
            <a:r>
              <a:rPr lang="zh-CN" altLang="en-US" dirty="0"/>
              <a:t>二维列表的元素</a:t>
            </a:r>
            <a:r>
              <a:rPr lang="zh-CN" altLang="en-US" b="1" dirty="0"/>
              <a:t>增加</a:t>
            </a:r>
            <a:r>
              <a:rPr lang="zh-CN" altLang="en-US" dirty="0"/>
              <a:t>与删除</a:t>
            </a:r>
            <a:endParaRPr lang="en-US" altLang="zh-CN" dirty="0"/>
          </a:p>
          <a:p>
            <a:pPr lvl="2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B94CC623-4C77-164D-BBE1-93EE87508F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7558" y="2425921"/>
            <a:ext cx="7406869" cy="3629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3575289"/>
      </p:ext>
    </p:extLst>
  </p:cSld>
  <p:clrMapOvr>
    <a:masterClrMapping/>
  </p:clrMapOvr>
  <p:transition spd="slow">
    <p:pull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1ED6DD89-3C23-A54F-8ABD-495BB389F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实现二维列表类</a:t>
            </a: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D5F1B479-CDEC-714D-9F6C-B7FE7EB3D9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1092200"/>
            <a:ext cx="11135068" cy="3148496"/>
          </a:xfrm>
        </p:spPr>
        <p:txBody>
          <a:bodyPr>
            <a:normAutofit/>
          </a:bodyPr>
          <a:lstStyle/>
          <a:p>
            <a:r>
              <a:rPr lang="zh-CN" altLang="en-US" dirty="0"/>
              <a:t>二维列表</a:t>
            </a:r>
            <a:endParaRPr lang="en-US" altLang="zh-CN" dirty="0"/>
          </a:p>
          <a:p>
            <a:pPr lvl="1"/>
            <a:r>
              <a:rPr lang="zh-CN" altLang="en-US" dirty="0"/>
              <a:t>二维列表的元素增加与</a:t>
            </a:r>
            <a:r>
              <a:rPr lang="zh-CN" altLang="en-US" b="1" dirty="0"/>
              <a:t>删除</a:t>
            </a:r>
            <a:endParaRPr lang="en-US" altLang="zh-CN" b="1" dirty="0"/>
          </a:p>
          <a:p>
            <a:pPr lvl="2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21ACF48-4587-834A-BFA7-FA4B6DE8DE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0400" y="2294421"/>
            <a:ext cx="5641505" cy="4062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2398256"/>
      </p:ext>
    </p:extLst>
  </p:cSld>
  <p:clrMapOvr>
    <a:masterClrMapping/>
  </p:clrMapOvr>
  <p:transition spd="slow">
    <p:pull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1ED6DD89-3C23-A54F-8ABD-495BB389F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实现二维列表类</a:t>
            </a: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D5F1B479-CDEC-714D-9F6C-B7FE7EB3D9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1092200"/>
            <a:ext cx="11135068" cy="3148496"/>
          </a:xfrm>
        </p:spPr>
        <p:txBody>
          <a:bodyPr>
            <a:normAutofit/>
          </a:bodyPr>
          <a:lstStyle/>
          <a:p>
            <a:r>
              <a:rPr lang="zh-CN" altLang="en-US" dirty="0"/>
              <a:t>二维列表</a:t>
            </a:r>
            <a:endParaRPr lang="en-US" altLang="zh-CN" dirty="0"/>
          </a:p>
          <a:p>
            <a:pPr lvl="1"/>
            <a:r>
              <a:rPr lang="zh-CN" altLang="en-US" dirty="0"/>
              <a:t>二维列表的初始化（构造函数）</a:t>
            </a:r>
            <a:endParaRPr lang="en-US" altLang="zh-CN" dirty="0"/>
          </a:p>
          <a:p>
            <a:pPr lvl="1"/>
            <a:r>
              <a:rPr lang="zh-CN" altLang="en-US" dirty="0"/>
              <a:t>二维列表的访问，索引和获取</a:t>
            </a:r>
            <a:endParaRPr lang="en-US" altLang="zh-CN" dirty="0"/>
          </a:p>
          <a:p>
            <a:pPr lvl="1"/>
            <a:r>
              <a:rPr lang="zh-CN" altLang="en-US" dirty="0"/>
              <a:t>二维列表的元素增加与删除</a:t>
            </a:r>
            <a:endParaRPr lang="en-US" altLang="zh-CN" dirty="0"/>
          </a:p>
          <a:p>
            <a:pPr marL="609585" lvl="1" indent="0">
              <a:buNone/>
            </a:pPr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C6815EC3-36AB-A94C-89A6-391BA8B0AA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344548"/>
            <a:ext cx="5214408" cy="3792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8045752"/>
      </p:ext>
    </p:extLst>
  </p:cSld>
  <p:clrMapOvr>
    <a:masterClrMapping/>
  </p:clrMapOvr>
  <p:transition spd="slow">
    <p:pull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1ED6DD89-3C23-A54F-8ABD-495BB389F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实现二维列表类</a:t>
            </a: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D5F1B479-CDEC-714D-9F6C-B7FE7EB3D9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1092200"/>
            <a:ext cx="11135068" cy="3148496"/>
          </a:xfrm>
        </p:spPr>
        <p:txBody>
          <a:bodyPr>
            <a:normAutofit/>
          </a:bodyPr>
          <a:lstStyle/>
          <a:p>
            <a:r>
              <a:rPr lang="zh-CN" altLang="en-US" dirty="0"/>
              <a:t>二维列表</a:t>
            </a:r>
            <a:endParaRPr lang="en-US" altLang="zh-CN" dirty="0"/>
          </a:p>
          <a:p>
            <a:pPr lvl="1"/>
            <a:r>
              <a:rPr lang="zh-CN" altLang="en-US" dirty="0"/>
              <a:t>二维列表的初始化</a:t>
            </a:r>
            <a:endParaRPr lang="en-US" altLang="zh-CN" dirty="0"/>
          </a:p>
          <a:p>
            <a:pPr lvl="2"/>
            <a:r>
              <a:rPr lang="zh-CN" altLang="en-US" dirty="0"/>
              <a:t>指定列表大小，所有元素赋值相同</a:t>
            </a:r>
            <a:endParaRPr lang="en-US" altLang="zh-CN" dirty="0"/>
          </a:p>
          <a:p>
            <a:pPr lvl="2"/>
            <a:r>
              <a:rPr lang="zh-CN" altLang="en-US" dirty="0"/>
              <a:t>从给定的一维列表初始化二维列表，并根据参数定义列表大小</a:t>
            </a:r>
            <a:endParaRPr lang="en-US" altLang="zh-CN" dirty="0"/>
          </a:p>
          <a:p>
            <a:pPr lvl="2"/>
            <a:r>
              <a:rPr lang="zh-CN" altLang="en-US" dirty="0"/>
              <a:t>从给定二维列表初始化</a:t>
            </a:r>
            <a:endParaRPr lang="en-US" altLang="zh-CN" dirty="0"/>
          </a:p>
          <a:p>
            <a:pPr lvl="2"/>
            <a:endParaRPr lang="en-US" altLang="zh-CN" dirty="0"/>
          </a:p>
          <a:p>
            <a:pPr lvl="2"/>
            <a:endParaRPr lang="en-US" altLang="zh-CN" dirty="0"/>
          </a:p>
          <a:p>
            <a:pPr marL="609585" lvl="1" indent="0">
              <a:buNone/>
            </a:pPr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495B6E3B-C0D6-0846-8BD1-753BC9B9B2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6719" y="3166504"/>
            <a:ext cx="7544373" cy="3178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7721776"/>
      </p:ext>
    </p:extLst>
  </p:cSld>
  <p:clrMapOvr>
    <a:masterClrMapping/>
  </p:clrMapOvr>
  <p:transition spd="slow">
    <p:pull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1ED6DD89-3C23-A54F-8ABD-495BB389F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实现二维列表类</a:t>
            </a: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D5F1B479-CDEC-714D-9F6C-B7FE7EB3D9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1092200"/>
            <a:ext cx="11135068" cy="3148496"/>
          </a:xfrm>
        </p:spPr>
        <p:txBody>
          <a:bodyPr>
            <a:normAutofit/>
          </a:bodyPr>
          <a:lstStyle/>
          <a:p>
            <a:r>
              <a:rPr lang="zh-CN" altLang="en-US" dirty="0"/>
              <a:t>二维列表</a:t>
            </a:r>
            <a:endParaRPr lang="en-US" altLang="zh-CN" dirty="0"/>
          </a:p>
          <a:p>
            <a:pPr lvl="1"/>
            <a:r>
              <a:rPr lang="zh-CN" altLang="en-US" dirty="0"/>
              <a:t>二维列表的访问，索引和获取</a:t>
            </a:r>
            <a:endParaRPr lang="en-US" altLang="zh-CN" dirty="0"/>
          </a:p>
          <a:p>
            <a:pPr lvl="2"/>
            <a:endParaRPr lang="en-US" altLang="zh-CN" dirty="0"/>
          </a:p>
          <a:p>
            <a:pPr lvl="2"/>
            <a:endParaRPr lang="en-US" altLang="zh-CN" dirty="0"/>
          </a:p>
          <a:p>
            <a:pPr marL="609585" lvl="1" indent="0">
              <a:buNone/>
            </a:pPr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F7861C3-A21F-2E41-BD9D-46A28589AA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7538" y="2567653"/>
            <a:ext cx="8882743" cy="2833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3209230"/>
      </p:ext>
    </p:extLst>
  </p:cSld>
  <p:clrMapOvr>
    <a:masterClrMapping/>
  </p:clrMapOvr>
  <p:transition spd="slow">
    <p:pull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1ED6DD89-3C23-A54F-8ABD-495BB389F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实现二维列表类</a:t>
            </a: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D5F1B479-CDEC-714D-9F6C-B7FE7EB3D9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1092200"/>
            <a:ext cx="11135068" cy="3148496"/>
          </a:xfrm>
        </p:spPr>
        <p:txBody>
          <a:bodyPr>
            <a:normAutofit/>
          </a:bodyPr>
          <a:lstStyle/>
          <a:p>
            <a:r>
              <a:rPr lang="zh-CN" altLang="en-US" dirty="0"/>
              <a:t>二维列表</a:t>
            </a:r>
            <a:endParaRPr lang="en-US" altLang="zh-CN" dirty="0"/>
          </a:p>
          <a:p>
            <a:pPr lvl="1"/>
            <a:r>
              <a:rPr lang="zh-CN" altLang="en-US" dirty="0"/>
              <a:t>二维列表的访问，索引和获取</a:t>
            </a:r>
            <a:endParaRPr lang="en-US" altLang="zh-CN" dirty="0"/>
          </a:p>
          <a:p>
            <a:pPr lvl="2"/>
            <a:endParaRPr lang="en-US" altLang="zh-CN" dirty="0"/>
          </a:p>
          <a:p>
            <a:pPr lvl="2"/>
            <a:endParaRPr lang="en-US" altLang="zh-CN" dirty="0"/>
          </a:p>
          <a:p>
            <a:pPr marL="609585" lvl="1" indent="0">
              <a:buNone/>
            </a:pPr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B395F4B7-4560-4B4A-814E-251B4C3B60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3367" y="2666449"/>
            <a:ext cx="8864408" cy="2286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4743787"/>
      </p:ext>
    </p:extLst>
  </p:cSld>
  <p:clrMapOvr>
    <a:masterClrMapping/>
  </p:clrMapOvr>
  <p:transition spd="slow">
    <p:pull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1ED6DD89-3C23-A54F-8ABD-495BB389F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实现二维列表类</a:t>
            </a: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D5F1B479-CDEC-714D-9F6C-B7FE7EB3D9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1092200"/>
            <a:ext cx="11135068" cy="3148496"/>
          </a:xfrm>
        </p:spPr>
        <p:txBody>
          <a:bodyPr>
            <a:normAutofit/>
          </a:bodyPr>
          <a:lstStyle/>
          <a:p>
            <a:r>
              <a:rPr lang="zh-CN" altLang="en-US" dirty="0"/>
              <a:t>二维列表</a:t>
            </a:r>
            <a:endParaRPr lang="en-US" altLang="zh-CN" dirty="0"/>
          </a:p>
          <a:p>
            <a:pPr lvl="1"/>
            <a:r>
              <a:rPr lang="zh-CN" altLang="en-US" dirty="0"/>
              <a:t>二维列表的元素增加与删除</a:t>
            </a:r>
            <a:endParaRPr lang="en-US" altLang="zh-CN" dirty="0"/>
          </a:p>
          <a:p>
            <a:pPr lvl="2"/>
            <a:endParaRPr lang="en-US" altLang="zh-CN" dirty="0"/>
          </a:p>
          <a:p>
            <a:pPr lvl="2"/>
            <a:endParaRPr lang="en-US" altLang="zh-CN" dirty="0"/>
          </a:p>
          <a:p>
            <a:pPr marL="609585" lvl="1" indent="0">
              <a:buNone/>
            </a:pPr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4A501B9-7BCC-E64F-8F2E-6BC420C063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7427" y="2653632"/>
            <a:ext cx="8919411" cy="3112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1601930"/>
      </p:ext>
    </p:extLst>
  </p:cSld>
  <p:clrMapOvr>
    <a:masterClrMapping/>
  </p:clrMapOvr>
  <p:transition spd="slow">
    <p:pull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5039883" cy="6858000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sp>
        <p:nvSpPr>
          <p:cNvPr id="2" name="TextBox 1"/>
          <p:cNvSpPr txBox="1"/>
          <p:nvPr/>
        </p:nvSpPr>
        <p:spPr>
          <a:xfrm>
            <a:off x="5327915" y="210509"/>
            <a:ext cx="1553630" cy="9130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5333" dirty="0">
                <a:latin typeface="方正兰亭细黑_GBK" pitchFamily="2" charset="-122"/>
                <a:ea typeface="方正兰亭细黑_GBK" pitchFamily="2" charset="-122"/>
              </a:rPr>
              <a:t>回顾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6136" y="4071677"/>
            <a:ext cx="3597105" cy="8208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2667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人工智能与</a:t>
            </a:r>
            <a:endParaRPr lang="en-US" altLang="zh-CN" sz="2667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/>
            <a:r>
              <a:rPr lang="en-US" altLang="zh-CN" sz="2667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Python</a:t>
            </a:r>
            <a:r>
              <a:rPr lang="zh-CN" altLang="en-US" sz="2667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程序设计</a:t>
            </a:r>
          </a:p>
        </p:txBody>
      </p:sp>
      <p:grpSp>
        <p:nvGrpSpPr>
          <p:cNvPr id="33" name="组合 32"/>
          <p:cNvGrpSpPr/>
          <p:nvPr/>
        </p:nvGrpSpPr>
        <p:grpSpPr>
          <a:xfrm>
            <a:off x="1652537" y="1263123"/>
            <a:ext cx="1734808" cy="1734808"/>
            <a:chOff x="2262782" y="1446400"/>
            <a:chExt cx="1301106" cy="1301106"/>
          </a:xfrm>
        </p:grpSpPr>
        <p:sp>
          <p:nvSpPr>
            <p:cNvPr id="5" name="椭圆 4"/>
            <p:cNvSpPr/>
            <p:nvPr/>
          </p:nvSpPr>
          <p:spPr>
            <a:xfrm>
              <a:off x="2262782" y="1446400"/>
              <a:ext cx="1301106" cy="130110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20" name="KSO_Shape"/>
            <p:cNvSpPr>
              <a:spLocks/>
            </p:cNvSpPr>
            <p:nvPr/>
          </p:nvSpPr>
          <p:spPr bwMode="auto">
            <a:xfrm>
              <a:off x="2523120" y="1821416"/>
              <a:ext cx="836342" cy="574285"/>
            </a:xfrm>
            <a:custGeom>
              <a:avLst/>
              <a:gdLst>
                <a:gd name="T0" fmla="*/ 2147483646 w 112"/>
                <a:gd name="T1" fmla="*/ 2147483646 h 77"/>
                <a:gd name="T2" fmla="*/ 2147483646 w 112"/>
                <a:gd name="T3" fmla="*/ 2147483646 h 77"/>
                <a:gd name="T4" fmla="*/ 2147483646 w 112"/>
                <a:gd name="T5" fmla="*/ 2147483646 h 77"/>
                <a:gd name="T6" fmla="*/ 2147483646 w 112"/>
                <a:gd name="T7" fmla="*/ 2147483646 h 77"/>
                <a:gd name="T8" fmla="*/ 2147483646 w 112"/>
                <a:gd name="T9" fmla="*/ 2147483646 h 77"/>
                <a:gd name="T10" fmla="*/ 0 w 112"/>
                <a:gd name="T11" fmla="*/ 2147483646 h 77"/>
                <a:gd name="T12" fmla="*/ 2147483646 w 112"/>
                <a:gd name="T13" fmla="*/ 2147483646 h 77"/>
                <a:gd name="T14" fmla="*/ 2147483646 w 112"/>
                <a:gd name="T15" fmla="*/ 2147483646 h 77"/>
                <a:gd name="T16" fmla="*/ 2147483646 w 112"/>
                <a:gd name="T17" fmla="*/ 2147483646 h 77"/>
                <a:gd name="T18" fmla="*/ 2147483646 w 112"/>
                <a:gd name="T19" fmla="*/ 2147483646 h 77"/>
                <a:gd name="T20" fmla="*/ 2147483646 w 112"/>
                <a:gd name="T21" fmla="*/ 2147483646 h 77"/>
                <a:gd name="T22" fmla="*/ 2147483646 w 112"/>
                <a:gd name="T23" fmla="*/ 2147483646 h 77"/>
                <a:gd name="T24" fmla="*/ 2147483646 w 112"/>
                <a:gd name="T25" fmla="*/ 2147483646 h 77"/>
                <a:gd name="T26" fmla="*/ 2147483646 w 112"/>
                <a:gd name="T27" fmla="*/ 2147483646 h 77"/>
                <a:gd name="T28" fmla="*/ 2147483646 w 112"/>
                <a:gd name="T29" fmla="*/ 2147483646 h 77"/>
                <a:gd name="T30" fmla="*/ 2147483646 w 112"/>
                <a:gd name="T31" fmla="*/ 2147483646 h 77"/>
                <a:gd name="T32" fmla="*/ 2147483646 w 112"/>
                <a:gd name="T33" fmla="*/ 2147483646 h 77"/>
                <a:gd name="T34" fmla="*/ 2147483646 w 112"/>
                <a:gd name="T35" fmla="*/ 2147483646 h 77"/>
                <a:gd name="T36" fmla="*/ 2147483646 w 112"/>
                <a:gd name="T37" fmla="*/ 2147483646 h 77"/>
                <a:gd name="T38" fmla="*/ 2147483646 w 112"/>
                <a:gd name="T39" fmla="*/ 2147483646 h 77"/>
                <a:gd name="T40" fmla="*/ 2147483646 w 112"/>
                <a:gd name="T41" fmla="*/ 2147483646 h 77"/>
                <a:gd name="T42" fmla="*/ 2147483646 w 112"/>
                <a:gd name="T43" fmla="*/ 2147483646 h 77"/>
                <a:gd name="T44" fmla="*/ 2147483646 w 112"/>
                <a:gd name="T45" fmla="*/ 2147483646 h 77"/>
                <a:gd name="T46" fmla="*/ 2147483646 w 112"/>
                <a:gd name="T47" fmla="*/ 2147483646 h 77"/>
                <a:gd name="T48" fmla="*/ 2147483646 w 112"/>
                <a:gd name="T49" fmla="*/ 2147483646 h 77"/>
                <a:gd name="T50" fmla="*/ 2147483646 w 112"/>
                <a:gd name="T51" fmla="*/ 2147483646 h 77"/>
                <a:gd name="T52" fmla="*/ 2147483646 w 112"/>
                <a:gd name="T53" fmla="*/ 2147483646 h 77"/>
                <a:gd name="T54" fmla="*/ 2147483646 w 112"/>
                <a:gd name="T55" fmla="*/ 2147483646 h 77"/>
                <a:gd name="T56" fmla="*/ 2147483646 w 112"/>
                <a:gd name="T57" fmla="*/ 2147483646 h 77"/>
                <a:gd name="T58" fmla="*/ 2147483646 w 112"/>
                <a:gd name="T59" fmla="*/ 2147483646 h 77"/>
                <a:gd name="T60" fmla="*/ 2147483646 w 112"/>
                <a:gd name="T61" fmla="*/ 2147483646 h 77"/>
                <a:gd name="T62" fmla="*/ 2147483646 w 112"/>
                <a:gd name="T63" fmla="*/ 2147483646 h 77"/>
                <a:gd name="T64" fmla="*/ 2147483646 w 112"/>
                <a:gd name="T65" fmla="*/ 2147483646 h 77"/>
                <a:gd name="T66" fmla="*/ 2147483646 w 112"/>
                <a:gd name="T67" fmla="*/ 2147483646 h 77"/>
                <a:gd name="T68" fmla="*/ 2147483646 w 112"/>
                <a:gd name="T69" fmla="*/ 2147483646 h 77"/>
                <a:gd name="T70" fmla="*/ 2147483646 w 112"/>
                <a:gd name="T71" fmla="*/ 2147483646 h 77"/>
                <a:gd name="T72" fmla="*/ 2147483646 w 112"/>
                <a:gd name="T73" fmla="*/ 2147483646 h 77"/>
                <a:gd name="T74" fmla="*/ 2147483646 w 112"/>
                <a:gd name="T75" fmla="*/ 2147483646 h 77"/>
                <a:gd name="T76" fmla="*/ 2147483646 w 112"/>
                <a:gd name="T77" fmla="*/ 2147483646 h 77"/>
                <a:gd name="T78" fmla="*/ 2147483646 w 112"/>
                <a:gd name="T79" fmla="*/ 2147483646 h 77"/>
                <a:gd name="T80" fmla="*/ 2147483646 w 112"/>
                <a:gd name="T81" fmla="*/ 2147483646 h 77"/>
                <a:gd name="T82" fmla="*/ 2147483646 w 112"/>
                <a:gd name="T83" fmla="*/ 2147483646 h 77"/>
                <a:gd name="T84" fmla="*/ 2147483646 w 112"/>
                <a:gd name="T85" fmla="*/ 2147483646 h 77"/>
                <a:gd name="T86" fmla="*/ 2147483646 w 112"/>
                <a:gd name="T87" fmla="*/ 2147483646 h 77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112" h="77">
                  <a:moveTo>
                    <a:pt x="56" y="0"/>
                  </a:moveTo>
                  <a:cubicBezTo>
                    <a:pt x="62" y="0"/>
                    <a:pt x="66" y="4"/>
                    <a:pt x="66" y="10"/>
                  </a:cubicBezTo>
                  <a:cubicBezTo>
                    <a:pt x="66" y="15"/>
                    <a:pt x="62" y="20"/>
                    <a:pt x="56" y="20"/>
                  </a:cubicBezTo>
                  <a:cubicBezTo>
                    <a:pt x="51" y="20"/>
                    <a:pt x="46" y="15"/>
                    <a:pt x="46" y="10"/>
                  </a:cubicBezTo>
                  <a:cubicBezTo>
                    <a:pt x="46" y="4"/>
                    <a:pt x="51" y="0"/>
                    <a:pt x="56" y="0"/>
                  </a:cubicBezTo>
                  <a:close/>
                  <a:moveTo>
                    <a:pt x="15" y="49"/>
                  </a:moveTo>
                  <a:cubicBezTo>
                    <a:pt x="15" y="66"/>
                    <a:pt x="15" y="66"/>
                    <a:pt x="15" y="66"/>
                  </a:cubicBezTo>
                  <a:cubicBezTo>
                    <a:pt x="10" y="66"/>
                    <a:pt x="10" y="66"/>
                    <a:pt x="10" y="66"/>
                  </a:cubicBezTo>
                  <a:cubicBezTo>
                    <a:pt x="10" y="52"/>
                    <a:pt x="10" y="52"/>
                    <a:pt x="10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66"/>
                    <a:pt x="9" y="66"/>
                    <a:pt x="9" y="66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49"/>
                    <a:pt x="4" y="49"/>
                    <a:pt x="4" y="49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31"/>
                    <a:pt x="1" y="29"/>
                    <a:pt x="4" y="29"/>
                  </a:cubicBezTo>
                  <a:cubicBezTo>
                    <a:pt x="13" y="29"/>
                    <a:pt x="13" y="29"/>
                    <a:pt x="13" y="29"/>
                  </a:cubicBezTo>
                  <a:cubicBezTo>
                    <a:pt x="13" y="30"/>
                    <a:pt x="13" y="30"/>
                    <a:pt x="13" y="31"/>
                  </a:cubicBezTo>
                  <a:cubicBezTo>
                    <a:pt x="13" y="49"/>
                    <a:pt x="13" y="49"/>
                    <a:pt x="13" y="49"/>
                  </a:cubicBezTo>
                  <a:cubicBezTo>
                    <a:pt x="15" y="49"/>
                    <a:pt x="15" y="49"/>
                    <a:pt x="15" y="49"/>
                  </a:cubicBezTo>
                  <a:close/>
                  <a:moveTo>
                    <a:pt x="10" y="15"/>
                  </a:moveTo>
                  <a:cubicBezTo>
                    <a:pt x="13" y="15"/>
                    <a:pt x="16" y="18"/>
                    <a:pt x="16" y="22"/>
                  </a:cubicBezTo>
                  <a:cubicBezTo>
                    <a:pt x="16" y="23"/>
                    <a:pt x="16" y="24"/>
                    <a:pt x="15" y="25"/>
                  </a:cubicBezTo>
                  <a:cubicBezTo>
                    <a:pt x="15" y="26"/>
                    <a:pt x="15" y="26"/>
                    <a:pt x="14" y="26"/>
                  </a:cubicBezTo>
                  <a:cubicBezTo>
                    <a:pt x="13" y="27"/>
                    <a:pt x="12" y="28"/>
                    <a:pt x="10" y="28"/>
                  </a:cubicBezTo>
                  <a:cubicBezTo>
                    <a:pt x="6" y="28"/>
                    <a:pt x="3" y="25"/>
                    <a:pt x="3" y="22"/>
                  </a:cubicBezTo>
                  <a:cubicBezTo>
                    <a:pt x="3" y="18"/>
                    <a:pt x="6" y="15"/>
                    <a:pt x="10" y="15"/>
                  </a:cubicBezTo>
                  <a:close/>
                  <a:moveTo>
                    <a:pt x="96" y="49"/>
                  </a:moveTo>
                  <a:cubicBezTo>
                    <a:pt x="96" y="66"/>
                    <a:pt x="96" y="66"/>
                    <a:pt x="96" y="66"/>
                  </a:cubicBezTo>
                  <a:cubicBezTo>
                    <a:pt x="101" y="66"/>
                    <a:pt x="101" y="66"/>
                    <a:pt x="101" y="66"/>
                  </a:cubicBezTo>
                  <a:cubicBezTo>
                    <a:pt x="101" y="52"/>
                    <a:pt x="101" y="52"/>
                    <a:pt x="101" y="52"/>
                  </a:cubicBezTo>
                  <a:cubicBezTo>
                    <a:pt x="102" y="52"/>
                    <a:pt x="102" y="52"/>
                    <a:pt x="102" y="52"/>
                  </a:cubicBezTo>
                  <a:cubicBezTo>
                    <a:pt x="102" y="66"/>
                    <a:pt x="102" y="66"/>
                    <a:pt x="102" y="66"/>
                  </a:cubicBezTo>
                  <a:cubicBezTo>
                    <a:pt x="107" y="66"/>
                    <a:pt x="107" y="66"/>
                    <a:pt x="107" y="66"/>
                  </a:cubicBezTo>
                  <a:cubicBezTo>
                    <a:pt x="107" y="49"/>
                    <a:pt x="107" y="49"/>
                    <a:pt x="107" y="49"/>
                  </a:cubicBezTo>
                  <a:cubicBezTo>
                    <a:pt x="107" y="46"/>
                    <a:pt x="107" y="46"/>
                    <a:pt x="107" y="46"/>
                  </a:cubicBezTo>
                  <a:cubicBezTo>
                    <a:pt x="107" y="37"/>
                    <a:pt x="107" y="37"/>
                    <a:pt x="107" y="37"/>
                  </a:cubicBezTo>
                  <a:cubicBezTo>
                    <a:pt x="107" y="37"/>
                    <a:pt x="107" y="37"/>
                    <a:pt x="107" y="37"/>
                  </a:cubicBezTo>
                  <a:cubicBezTo>
                    <a:pt x="107" y="46"/>
                    <a:pt x="107" y="46"/>
                    <a:pt x="107" y="46"/>
                  </a:cubicBezTo>
                  <a:cubicBezTo>
                    <a:pt x="112" y="46"/>
                    <a:pt x="112" y="46"/>
                    <a:pt x="112" y="46"/>
                  </a:cubicBezTo>
                  <a:cubicBezTo>
                    <a:pt x="112" y="33"/>
                    <a:pt x="112" y="33"/>
                    <a:pt x="112" y="33"/>
                  </a:cubicBezTo>
                  <a:cubicBezTo>
                    <a:pt x="112" y="31"/>
                    <a:pt x="110" y="29"/>
                    <a:pt x="107" y="29"/>
                  </a:cubicBezTo>
                  <a:cubicBezTo>
                    <a:pt x="98" y="29"/>
                    <a:pt x="98" y="29"/>
                    <a:pt x="98" y="29"/>
                  </a:cubicBezTo>
                  <a:cubicBezTo>
                    <a:pt x="98" y="30"/>
                    <a:pt x="98" y="30"/>
                    <a:pt x="98" y="31"/>
                  </a:cubicBezTo>
                  <a:cubicBezTo>
                    <a:pt x="98" y="49"/>
                    <a:pt x="98" y="49"/>
                    <a:pt x="98" y="49"/>
                  </a:cubicBezTo>
                  <a:cubicBezTo>
                    <a:pt x="96" y="49"/>
                    <a:pt x="96" y="49"/>
                    <a:pt x="96" y="49"/>
                  </a:cubicBezTo>
                  <a:close/>
                  <a:moveTo>
                    <a:pt x="101" y="15"/>
                  </a:moveTo>
                  <a:cubicBezTo>
                    <a:pt x="98" y="15"/>
                    <a:pt x="95" y="18"/>
                    <a:pt x="95" y="22"/>
                  </a:cubicBezTo>
                  <a:cubicBezTo>
                    <a:pt x="95" y="23"/>
                    <a:pt x="95" y="24"/>
                    <a:pt x="96" y="25"/>
                  </a:cubicBezTo>
                  <a:cubicBezTo>
                    <a:pt x="96" y="26"/>
                    <a:pt x="97" y="26"/>
                    <a:pt x="97" y="26"/>
                  </a:cubicBezTo>
                  <a:cubicBezTo>
                    <a:pt x="98" y="27"/>
                    <a:pt x="100" y="28"/>
                    <a:pt x="101" y="28"/>
                  </a:cubicBezTo>
                  <a:cubicBezTo>
                    <a:pt x="105" y="28"/>
                    <a:pt x="108" y="25"/>
                    <a:pt x="108" y="22"/>
                  </a:cubicBezTo>
                  <a:cubicBezTo>
                    <a:pt x="108" y="18"/>
                    <a:pt x="105" y="15"/>
                    <a:pt x="101" y="15"/>
                  </a:cubicBezTo>
                  <a:close/>
                  <a:moveTo>
                    <a:pt x="75" y="51"/>
                  </a:moveTo>
                  <a:cubicBezTo>
                    <a:pt x="75" y="72"/>
                    <a:pt x="75" y="72"/>
                    <a:pt x="75" y="72"/>
                  </a:cubicBezTo>
                  <a:cubicBezTo>
                    <a:pt x="80" y="72"/>
                    <a:pt x="80" y="72"/>
                    <a:pt x="80" y="72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2" y="54"/>
                    <a:pt x="82" y="54"/>
                    <a:pt x="82" y="54"/>
                  </a:cubicBezTo>
                  <a:cubicBezTo>
                    <a:pt x="82" y="72"/>
                    <a:pt x="82" y="72"/>
                    <a:pt x="82" y="72"/>
                  </a:cubicBezTo>
                  <a:cubicBezTo>
                    <a:pt x="87" y="72"/>
                    <a:pt x="87" y="72"/>
                    <a:pt x="87" y="72"/>
                  </a:cubicBezTo>
                  <a:cubicBezTo>
                    <a:pt x="87" y="51"/>
                    <a:pt x="87" y="51"/>
                    <a:pt x="87" y="51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87" y="36"/>
                    <a:pt x="87" y="36"/>
                    <a:pt x="87" y="36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4" y="31"/>
                    <a:pt x="94" y="31"/>
                    <a:pt x="94" y="31"/>
                  </a:cubicBezTo>
                  <a:cubicBezTo>
                    <a:pt x="94" y="28"/>
                    <a:pt x="91" y="26"/>
                    <a:pt x="88" y="26"/>
                  </a:cubicBezTo>
                  <a:cubicBezTo>
                    <a:pt x="77" y="26"/>
                    <a:pt x="77" y="26"/>
                    <a:pt x="77" y="26"/>
                  </a:cubicBezTo>
                  <a:cubicBezTo>
                    <a:pt x="77" y="27"/>
                    <a:pt x="77" y="28"/>
                    <a:pt x="77" y="28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5" y="51"/>
                    <a:pt x="75" y="51"/>
                    <a:pt x="75" y="51"/>
                  </a:cubicBezTo>
                  <a:close/>
                  <a:moveTo>
                    <a:pt x="65" y="47"/>
                  </a:moveTo>
                  <a:cubicBezTo>
                    <a:pt x="65" y="32"/>
                    <a:pt x="65" y="32"/>
                    <a:pt x="65" y="32"/>
                  </a:cubicBezTo>
                  <a:cubicBezTo>
                    <a:pt x="64" y="32"/>
                    <a:pt x="64" y="32"/>
                    <a:pt x="64" y="32"/>
                  </a:cubicBezTo>
                  <a:cubicBezTo>
                    <a:pt x="64" y="47"/>
                    <a:pt x="64" y="47"/>
                    <a:pt x="64" y="47"/>
                  </a:cubicBezTo>
                  <a:cubicBezTo>
                    <a:pt x="64" y="50"/>
                    <a:pt x="64" y="50"/>
                    <a:pt x="64" y="50"/>
                  </a:cubicBezTo>
                  <a:cubicBezTo>
                    <a:pt x="64" y="77"/>
                    <a:pt x="64" y="77"/>
                    <a:pt x="64" y="77"/>
                  </a:cubicBezTo>
                  <a:cubicBezTo>
                    <a:pt x="57" y="77"/>
                    <a:pt x="57" y="77"/>
                    <a:pt x="57" y="77"/>
                  </a:cubicBezTo>
                  <a:cubicBezTo>
                    <a:pt x="57" y="55"/>
                    <a:pt x="57" y="55"/>
                    <a:pt x="57" y="55"/>
                  </a:cubicBezTo>
                  <a:cubicBezTo>
                    <a:pt x="55" y="55"/>
                    <a:pt x="55" y="55"/>
                    <a:pt x="55" y="55"/>
                  </a:cubicBezTo>
                  <a:cubicBezTo>
                    <a:pt x="55" y="77"/>
                    <a:pt x="55" y="77"/>
                    <a:pt x="55" y="77"/>
                  </a:cubicBezTo>
                  <a:cubicBezTo>
                    <a:pt x="48" y="77"/>
                    <a:pt x="48" y="77"/>
                    <a:pt x="48" y="77"/>
                  </a:cubicBezTo>
                  <a:cubicBezTo>
                    <a:pt x="48" y="50"/>
                    <a:pt x="48" y="50"/>
                    <a:pt x="48" y="50"/>
                  </a:cubicBezTo>
                  <a:cubicBezTo>
                    <a:pt x="48" y="47"/>
                    <a:pt x="48" y="47"/>
                    <a:pt x="48" y="47"/>
                  </a:cubicBezTo>
                  <a:cubicBezTo>
                    <a:pt x="48" y="32"/>
                    <a:pt x="48" y="32"/>
                    <a:pt x="48" y="32"/>
                  </a:cubicBezTo>
                  <a:cubicBezTo>
                    <a:pt x="47" y="32"/>
                    <a:pt x="47" y="32"/>
                    <a:pt x="47" y="32"/>
                  </a:cubicBezTo>
                  <a:cubicBezTo>
                    <a:pt x="47" y="47"/>
                    <a:pt x="47" y="47"/>
                    <a:pt x="47" y="47"/>
                  </a:cubicBezTo>
                  <a:cubicBezTo>
                    <a:pt x="41" y="47"/>
                    <a:pt x="41" y="47"/>
                    <a:pt x="41" y="47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1" y="24"/>
                    <a:pt x="44" y="21"/>
                    <a:pt x="47" y="21"/>
                  </a:cubicBezTo>
                  <a:cubicBezTo>
                    <a:pt x="66" y="21"/>
                    <a:pt x="46" y="21"/>
                    <a:pt x="65" y="21"/>
                  </a:cubicBezTo>
                  <a:cubicBezTo>
                    <a:pt x="69" y="21"/>
                    <a:pt x="71" y="24"/>
                    <a:pt x="71" y="27"/>
                  </a:cubicBezTo>
                  <a:cubicBezTo>
                    <a:pt x="71" y="47"/>
                    <a:pt x="71" y="47"/>
                    <a:pt x="71" y="47"/>
                  </a:cubicBezTo>
                  <a:cubicBezTo>
                    <a:pt x="70" y="47"/>
                    <a:pt x="68" y="47"/>
                    <a:pt x="65" y="47"/>
                  </a:cubicBezTo>
                  <a:close/>
                  <a:moveTo>
                    <a:pt x="37" y="51"/>
                  </a:moveTo>
                  <a:cubicBezTo>
                    <a:pt x="37" y="72"/>
                    <a:pt x="37" y="72"/>
                    <a:pt x="37" y="72"/>
                  </a:cubicBezTo>
                  <a:cubicBezTo>
                    <a:pt x="31" y="72"/>
                    <a:pt x="31" y="72"/>
                    <a:pt x="31" y="72"/>
                  </a:cubicBezTo>
                  <a:cubicBezTo>
                    <a:pt x="31" y="54"/>
                    <a:pt x="31" y="54"/>
                    <a:pt x="31" y="54"/>
                  </a:cubicBezTo>
                  <a:cubicBezTo>
                    <a:pt x="30" y="54"/>
                    <a:pt x="30" y="54"/>
                    <a:pt x="30" y="54"/>
                  </a:cubicBezTo>
                  <a:cubicBezTo>
                    <a:pt x="30" y="72"/>
                    <a:pt x="30" y="72"/>
                    <a:pt x="30" y="72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51"/>
                    <a:pt x="24" y="51"/>
                    <a:pt x="24" y="51"/>
                  </a:cubicBezTo>
                  <a:cubicBezTo>
                    <a:pt x="24" y="47"/>
                    <a:pt x="24" y="47"/>
                    <a:pt x="24" y="47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3" y="47"/>
                    <a:pt x="23" y="47"/>
                    <a:pt x="23" y="47"/>
                  </a:cubicBezTo>
                  <a:cubicBezTo>
                    <a:pt x="18" y="47"/>
                    <a:pt x="18" y="47"/>
                    <a:pt x="18" y="47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28"/>
                    <a:pt x="20" y="26"/>
                    <a:pt x="23" y="26"/>
                  </a:cubicBezTo>
                  <a:cubicBezTo>
                    <a:pt x="35" y="26"/>
                    <a:pt x="35" y="26"/>
                    <a:pt x="35" y="26"/>
                  </a:cubicBezTo>
                  <a:cubicBezTo>
                    <a:pt x="35" y="27"/>
                    <a:pt x="35" y="28"/>
                    <a:pt x="35" y="28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7" y="51"/>
                    <a:pt x="37" y="51"/>
                    <a:pt x="37" y="51"/>
                  </a:cubicBezTo>
                  <a:close/>
                  <a:moveTo>
                    <a:pt x="31" y="9"/>
                  </a:moveTo>
                  <a:cubicBezTo>
                    <a:pt x="35" y="9"/>
                    <a:pt x="39" y="12"/>
                    <a:pt x="39" y="17"/>
                  </a:cubicBezTo>
                  <a:cubicBezTo>
                    <a:pt x="39" y="19"/>
                    <a:pt x="38" y="20"/>
                    <a:pt x="37" y="22"/>
                  </a:cubicBezTo>
                  <a:cubicBezTo>
                    <a:pt x="37" y="22"/>
                    <a:pt x="37" y="22"/>
                    <a:pt x="37" y="23"/>
                  </a:cubicBezTo>
                  <a:cubicBezTo>
                    <a:pt x="35" y="24"/>
                    <a:pt x="33" y="25"/>
                    <a:pt x="31" y="25"/>
                  </a:cubicBezTo>
                  <a:cubicBezTo>
                    <a:pt x="26" y="25"/>
                    <a:pt x="22" y="21"/>
                    <a:pt x="22" y="17"/>
                  </a:cubicBezTo>
                  <a:cubicBezTo>
                    <a:pt x="22" y="12"/>
                    <a:pt x="26" y="9"/>
                    <a:pt x="31" y="9"/>
                  </a:cubicBezTo>
                  <a:close/>
                  <a:moveTo>
                    <a:pt x="81" y="9"/>
                  </a:moveTo>
                  <a:cubicBezTo>
                    <a:pt x="76" y="9"/>
                    <a:pt x="73" y="12"/>
                    <a:pt x="73" y="17"/>
                  </a:cubicBezTo>
                  <a:cubicBezTo>
                    <a:pt x="73" y="19"/>
                    <a:pt x="73" y="20"/>
                    <a:pt x="74" y="22"/>
                  </a:cubicBezTo>
                  <a:cubicBezTo>
                    <a:pt x="75" y="22"/>
                    <a:pt x="75" y="22"/>
                    <a:pt x="75" y="23"/>
                  </a:cubicBezTo>
                  <a:cubicBezTo>
                    <a:pt x="77" y="24"/>
                    <a:pt x="79" y="25"/>
                    <a:pt x="81" y="25"/>
                  </a:cubicBezTo>
                  <a:cubicBezTo>
                    <a:pt x="85" y="25"/>
                    <a:pt x="89" y="21"/>
                    <a:pt x="89" y="17"/>
                  </a:cubicBezTo>
                  <a:cubicBezTo>
                    <a:pt x="89" y="12"/>
                    <a:pt x="85" y="9"/>
                    <a:pt x="81" y="9"/>
                  </a:cubicBezTo>
                  <a:close/>
                </a:path>
              </a:pathLst>
            </a:custGeom>
            <a:solidFill>
              <a:srgbClr val="1A3F6C"/>
            </a:solidFill>
            <a:ln>
              <a:noFill/>
            </a:ln>
          </p:spPr>
          <p:txBody>
            <a:bodyPr anchor="ctr">
              <a:scene3d>
                <a:camera prst="orthographicFront"/>
                <a:lightRig rig="threePt" dir="t"/>
              </a:scene3d>
              <a:sp3d contourW="12700">
                <a:contourClr>
                  <a:srgbClr val="FFFFFF"/>
                </a:contourClr>
              </a:sp3d>
            </a:bodyPr>
            <a:lstStyle/>
            <a:p>
              <a:pPr algn="ctr">
                <a:defRPr/>
              </a:pPr>
              <a:endParaRPr lang="zh-CN" altLang="en-US" sz="2400" dirty="0">
                <a:solidFill>
                  <a:srgbClr val="FFFFFF"/>
                </a:solidFill>
                <a:ea typeface="微软雅黑" pitchFamily="34" charset="-122"/>
              </a:endParaRPr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5713904" y="1454904"/>
            <a:ext cx="3108543" cy="44590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189" indent="-457189">
              <a:lnSpc>
                <a:spcPct val="150000"/>
              </a:lnSpc>
              <a:buAutoNum type="arabicPeriod"/>
            </a:pPr>
            <a:r>
              <a:rPr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类和实例</a:t>
            </a:r>
            <a:endParaRPr lang="en-US" altLang="zh-CN" sz="2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457189" indent="-457189">
              <a:lnSpc>
                <a:spcPct val="150000"/>
              </a:lnSpc>
              <a:buAutoNum type="arabicPeriod"/>
            </a:pPr>
            <a:r>
              <a:rPr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数据封装</a:t>
            </a:r>
            <a:endParaRPr lang="en-US" altLang="zh-CN" sz="2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457189" indent="-457189">
              <a:lnSpc>
                <a:spcPct val="150000"/>
              </a:lnSpc>
              <a:buAutoNum type="arabicPeriod"/>
            </a:pPr>
            <a:r>
              <a:rPr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访问限制</a:t>
            </a:r>
            <a:endParaRPr lang="en-US" altLang="zh-CN" sz="2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457189" indent="-457189">
              <a:lnSpc>
                <a:spcPct val="150000"/>
              </a:lnSpc>
              <a:buAutoNum type="arabicPeriod"/>
            </a:pPr>
            <a:r>
              <a:rPr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继承和多态</a:t>
            </a:r>
            <a:endParaRPr lang="en-US" altLang="zh-CN" sz="2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457189" indent="-457189">
              <a:lnSpc>
                <a:spcPct val="150000"/>
              </a:lnSpc>
              <a:buAutoNum type="arabicPeriod"/>
            </a:pPr>
            <a:r>
              <a:rPr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获取对象信息</a:t>
            </a:r>
            <a:endParaRPr lang="en-US" altLang="zh-CN" sz="2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457189" indent="-457189">
              <a:lnSpc>
                <a:spcPct val="150000"/>
              </a:lnSpc>
              <a:buAutoNum type="arabicPeriod"/>
            </a:pPr>
            <a:r>
              <a:rPr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实例属性和类属性</a:t>
            </a:r>
            <a:endParaRPr lang="en-US" altLang="zh-CN" sz="2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457189" indent="-457189">
              <a:lnSpc>
                <a:spcPct val="150000"/>
              </a:lnSpc>
              <a:buAutoNum type="arabicPeriod"/>
            </a:pPr>
            <a:r>
              <a:rPr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二维列表类</a:t>
            </a:r>
            <a:endParaRPr lang="en-US" altLang="zh-CN" sz="2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2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4" name="椭圆 23"/>
          <p:cNvSpPr/>
          <p:nvPr/>
        </p:nvSpPr>
        <p:spPr>
          <a:xfrm>
            <a:off x="5212793" y="2176482"/>
            <a:ext cx="366369" cy="366369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srgbClr val="1A3F6C"/>
              </a:solidFill>
            </a:endParaRPr>
          </a:p>
        </p:txBody>
      </p:sp>
      <p:sp>
        <p:nvSpPr>
          <p:cNvPr id="30" name="椭圆 29"/>
          <p:cNvSpPr/>
          <p:nvPr/>
        </p:nvSpPr>
        <p:spPr>
          <a:xfrm>
            <a:off x="5212793" y="2762084"/>
            <a:ext cx="366369" cy="366369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srgbClr val="1A3F6C"/>
              </a:solidFill>
            </a:endParaRPr>
          </a:p>
        </p:txBody>
      </p:sp>
      <p:sp>
        <p:nvSpPr>
          <p:cNvPr id="31" name="椭圆 30">
            <a:extLst>
              <a:ext uri="{FF2B5EF4-FFF2-40B4-BE49-F238E27FC236}">
                <a16:creationId xmlns:a16="http://schemas.microsoft.com/office/drawing/2014/main" id="{E285C2D4-1734-D84F-BD33-D79F098E43AF}"/>
              </a:ext>
            </a:extLst>
          </p:cNvPr>
          <p:cNvSpPr/>
          <p:nvPr/>
        </p:nvSpPr>
        <p:spPr>
          <a:xfrm>
            <a:off x="5212793" y="1647664"/>
            <a:ext cx="366369" cy="366369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srgbClr val="1A3F6C"/>
              </a:solidFill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C9977858-0021-4243-9C76-2E1B4EEC423B}"/>
              </a:ext>
            </a:extLst>
          </p:cNvPr>
          <p:cNvSpPr/>
          <p:nvPr/>
        </p:nvSpPr>
        <p:spPr>
          <a:xfrm>
            <a:off x="5223303" y="3785143"/>
            <a:ext cx="366369" cy="366369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srgbClr val="1A3F6C"/>
              </a:solidFill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791BEA86-C7F5-7849-8427-26880023A696}"/>
              </a:ext>
            </a:extLst>
          </p:cNvPr>
          <p:cNvSpPr/>
          <p:nvPr/>
        </p:nvSpPr>
        <p:spPr>
          <a:xfrm>
            <a:off x="5223303" y="4339215"/>
            <a:ext cx="366369" cy="366369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srgbClr val="1A3F6C"/>
              </a:solidFill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1E55A5F8-B374-9D43-99A8-FF4C84110831}"/>
              </a:ext>
            </a:extLst>
          </p:cNvPr>
          <p:cNvSpPr/>
          <p:nvPr/>
        </p:nvSpPr>
        <p:spPr>
          <a:xfrm>
            <a:off x="5223303" y="3256325"/>
            <a:ext cx="366369" cy="366369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srgbClr val="1A3F6C"/>
              </a:solidFill>
            </a:endParaRP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B4F7BDAE-DA6D-064C-A75E-4E4982474338}"/>
              </a:ext>
            </a:extLst>
          </p:cNvPr>
          <p:cNvSpPr/>
          <p:nvPr/>
        </p:nvSpPr>
        <p:spPr>
          <a:xfrm>
            <a:off x="5237677" y="4894893"/>
            <a:ext cx="366369" cy="366369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srgbClr val="1A3F6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08646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5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15" grpId="0"/>
      <p:bldP spid="24" grpId="0" animBg="1"/>
      <p:bldP spid="30" grpId="0" animBg="1"/>
      <p:bldP spid="31" grpId="0" animBg="1"/>
      <p:bldP spid="12" grpId="0" animBg="1"/>
      <p:bldP spid="13" grpId="0" animBg="1"/>
      <p:bldP spid="14" grpId="0" animBg="1"/>
      <p:bldP spid="16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B6364D41-A50D-49AE-B0E7-1C9E44CC72C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谢谢！</a:t>
            </a:r>
          </a:p>
        </p:txBody>
      </p:sp>
    </p:spTree>
    <p:extLst>
      <p:ext uri="{BB962C8B-B14F-4D97-AF65-F5344CB8AC3E}">
        <p14:creationId xmlns:p14="http://schemas.microsoft.com/office/powerpoint/2010/main" val="3467077083"/>
      </p:ext>
    </p:extLst>
  </p:cSld>
  <p:clrMapOvr>
    <a:masterClrMapping/>
  </p:clrMapOvr>
  <p:transition spd="slow">
    <p:pull/>
  </p:transition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清风素材 https://12sc.taobao.com/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565</Words>
  <Application>Microsoft Macintosh PowerPoint</Application>
  <PresentationFormat>宽屏</PresentationFormat>
  <Paragraphs>181</Paragraphs>
  <Slides>26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26</vt:i4>
      </vt:variant>
    </vt:vector>
  </HeadingPairs>
  <TitlesOfParts>
    <vt:vector size="35" baseType="lpstr">
      <vt:lpstr>等线</vt:lpstr>
      <vt:lpstr>等线 Light</vt:lpstr>
      <vt:lpstr>方正兰亭细黑_GBK</vt:lpstr>
      <vt:lpstr>Microsoft YaHei</vt:lpstr>
      <vt:lpstr>Microsoft YaHei</vt:lpstr>
      <vt:lpstr>Arial</vt:lpstr>
      <vt:lpstr>Calibri</vt:lpstr>
      <vt:lpstr>Office 主题​​</vt:lpstr>
      <vt:lpstr>清风素材 https://12sc.taobao.com/</vt:lpstr>
      <vt:lpstr>PowerPoint 演示文稿</vt:lpstr>
      <vt:lpstr>PowerPoint 演示文稿</vt:lpstr>
      <vt:lpstr>实现二维列表类</vt:lpstr>
      <vt:lpstr>实现二维列表类</vt:lpstr>
      <vt:lpstr>实现二维列表类</vt:lpstr>
      <vt:lpstr>实现二维列表类</vt:lpstr>
      <vt:lpstr>实现二维列表类</vt:lpstr>
      <vt:lpstr>实现二维列表类</vt:lpstr>
      <vt:lpstr>实现二维列表类</vt:lpstr>
      <vt:lpstr>实现二维列表类</vt:lpstr>
      <vt:lpstr>实现二维列表类</vt:lpstr>
      <vt:lpstr>实现二维列表类</vt:lpstr>
      <vt:lpstr>实现二维列表类</vt:lpstr>
      <vt:lpstr>实现二维列表类</vt:lpstr>
      <vt:lpstr>实现二维列表类</vt:lpstr>
      <vt:lpstr>实现二维列表类</vt:lpstr>
      <vt:lpstr>实现二维列表类</vt:lpstr>
      <vt:lpstr>实现二维列表类</vt:lpstr>
      <vt:lpstr>实现二维列表类</vt:lpstr>
      <vt:lpstr>实现二维列表类</vt:lpstr>
      <vt:lpstr>实现二维列表类</vt:lpstr>
      <vt:lpstr>实现二维列表类</vt:lpstr>
      <vt:lpstr>实现二维列表类</vt:lpstr>
      <vt:lpstr>实现二维列表类</vt:lpstr>
      <vt:lpstr>PowerPoint 演示文稿</vt:lpstr>
      <vt:lpstr>谢谢！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hdui831@mail.nwpu.edu.cn</dc:creator>
  <cp:lastModifiedBy>hdui831@mail.nwpu.edu.cn</cp:lastModifiedBy>
  <cp:revision>2</cp:revision>
  <dcterms:created xsi:type="dcterms:W3CDTF">2022-03-11T11:41:40Z</dcterms:created>
  <dcterms:modified xsi:type="dcterms:W3CDTF">2022-03-11T11:48:05Z</dcterms:modified>
</cp:coreProperties>
</file>