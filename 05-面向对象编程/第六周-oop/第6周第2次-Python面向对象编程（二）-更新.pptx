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01" r:id="rId2"/>
    <p:sldId id="1201" r:id="rId3"/>
    <p:sldId id="295" r:id="rId4"/>
    <p:sldId id="386" r:id="rId5"/>
    <p:sldId id="390" r:id="rId6"/>
    <p:sldId id="392" r:id="rId7"/>
    <p:sldId id="391" r:id="rId8"/>
    <p:sldId id="393" r:id="rId9"/>
    <p:sldId id="395" r:id="rId10"/>
    <p:sldId id="396" r:id="rId11"/>
    <p:sldId id="398" r:id="rId12"/>
    <p:sldId id="397" r:id="rId13"/>
    <p:sldId id="399" r:id="rId14"/>
    <p:sldId id="401" r:id="rId15"/>
    <p:sldId id="1204" r:id="rId16"/>
    <p:sldId id="402" r:id="rId17"/>
    <p:sldId id="404" r:id="rId18"/>
    <p:sldId id="405" r:id="rId19"/>
    <p:sldId id="407" r:id="rId20"/>
    <p:sldId id="409" r:id="rId21"/>
    <p:sldId id="406" r:id="rId22"/>
    <p:sldId id="411" r:id="rId23"/>
    <p:sldId id="412" r:id="rId24"/>
    <p:sldId id="1233" r:id="rId25"/>
    <p:sldId id="1205" r:id="rId26"/>
    <p:sldId id="414" r:id="rId27"/>
    <p:sldId id="416" r:id="rId28"/>
    <p:sldId id="418" r:id="rId29"/>
    <p:sldId id="419" r:id="rId30"/>
    <p:sldId id="1206" r:id="rId31"/>
    <p:sldId id="1207" r:id="rId32"/>
    <p:sldId id="1218" r:id="rId33"/>
    <p:sldId id="1219" r:id="rId34"/>
    <p:sldId id="1221" r:id="rId35"/>
    <p:sldId id="1222" r:id="rId36"/>
    <p:sldId id="1223" r:id="rId37"/>
    <p:sldId id="1225" r:id="rId38"/>
    <p:sldId id="1224" r:id="rId39"/>
    <p:sldId id="1226" r:id="rId40"/>
    <p:sldId id="1227" r:id="rId41"/>
    <p:sldId id="1228" r:id="rId42"/>
    <p:sldId id="1229" r:id="rId43"/>
    <p:sldId id="1230" r:id="rId44"/>
    <p:sldId id="1231" r:id="rId45"/>
    <p:sldId id="1232" r:id="rId46"/>
    <p:sldId id="1199" r:id="rId47"/>
  </p:sldIdLst>
  <p:sldSz cx="9144000" cy="5143500" type="screen16x9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93888" autoAdjust="0"/>
  </p:normalViewPr>
  <p:slideViewPr>
    <p:cSldViewPr snapToGrid="0">
      <p:cViewPr varScale="1">
        <p:scale>
          <a:sx n="109" d="100"/>
          <a:sy n="109" d="100"/>
        </p:scale>
        <p:origin x="68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5310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52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8537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3548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311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2739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2023/3/23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9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23192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面向对象编程（二）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CD51C3F-89DD-1746-A9EC-2FE3C2C6AF11}"/>
              </a:ext>
            </a:extLst>
          </p:cNvPr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33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233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233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33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85427" y="1091178"/>
            <a:ext cx="1454244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09594" y="207944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26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学生信息类示例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D5A72DB-937D-7842-90E9-E39620181AB1}"/>
              </a:ext>
            </a:extLst>
          </p:cNvPr>
          <p:cNvSpPr/>
          <p:nvPr/>
        </p:nvSpPr>
        <p:spPr>
          <a:xfrm>
            <a:off x="3909594" y="245415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EF83E-034E-8F4D-B42B-AA26A5A9C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60985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在</a:t>
            </a:r>
            <a:r>
              <a:rPr kumimoji="1" lang="en" altLang="zh-CN" dirty="0"/>
              <a:t>OOP </a:t>
            </a:r>
            <a:r>
              <a:rPr kumimoji="1" lang="zh-CN" altLang="en-US" dirty="0"/>
              <a:t>中定义一个</a:t>
            </a:r>
            <a:r>
              <a:rPr kumimoji="1" lang="en" altLang="zh-CN" dirty="0"/>
              <a:t>class </a:t>
            </a:r>
            <a:r>
              <a:rPr kumimoji="1" lang="zh-CN" altLang="en-US" dirty="0"/>
              <a:t>时，可以从某个现有的</a:t>
            </a:r>
            <a:r>
              <a:rPr kumimoji="1" lang="en" altLang="zh-CN" dirty="0"/>
              <a:t>class</a:t>
            </a:r>
            <a:r>
              <a:rPr kumimoji="1" lang="zh-CN" altLang="en-US" dirty="0">
                <a:solidFill>
                  <a:srgbClr val="C00000"/>
                </a:solidFill>
              </a:rPr>
              <a:t>继承</a:t>
            </a:r>
            <a:r>
              <a:rPr kumimoji="1" lang="zh-CN" altLang="en-US" dirty="0"/>
              <a:t>，新的</a:t>
            </a:r>
            <a:r>
              <a:rPr kumimoji="1" lang="en" altLang="zh-CN" dirty="0"/>
              <a:t>class </a:t>
            </a:r>
            <a:r>
              <a:rPr kumimoji="1" lang="zh-CN" altLang="en-US" dirty="0"/>
              <a:t>称为子类</a:t>
            </a:r>
            <a:r>
              <a:rPr kumimoji="1" lang="en-US" altLang="zh-CN" dirty="0"/>
              <a:t>(</a:t>
            </a:r>
            <a:r>
              <a:rPr kumimoji="1" lang="en" altLang="zh-CN" dirty="0"/>
              <a:t>subclass)</a:t>
            </a:r>
            <a:r>
              <a:rPr kumimoji="1" lang="zh-CN" altLang="en" dirty="0"/>
              <a:t>，</a:t>
            </a:r>
            <a:r>
              <a:rPr kumimoji="1" lang="zh-CN" altLang="en-US" dirty="0"/>
              <a:t>而被继承的</a:t>
            </a:r>
            <a:r>
              <a:rPr kumimoji="1" lang="en" altLang="zh-CN" dirty="0"/>
              <a:t>class </a:t>
            </a:r>
            <a:r>
              <a:rPr kumimoji="1" lang="zh-CN" altLang="en-US" dirty="0"/>
              <a:t>称为基类、父类或超类</a:t>
            </a:r>
            <a:r>
              <a:rPr kumimoji="1" lang="en-US" altLang="zh-CN" dirty="0"/>
              <a:t>(</a:t>
            </a:r>
            <a:r>
              <a:rPr kumimoji="1" lang="en" altLang="zh-CN" dirty="0"/>
              <a:t>base class</a:t>
            </a:r>
            <a:r>
              <a:rPr kumimoji="1" lang="zh-CN" altLang="en-US" dirty="0"/>
              <a:t>，</a:t>
            </a:r>
            <a:r>
              <a:rPr kumimoji="1" lang="en" altLang="zh-CN" dirty="0"/>
              <a:t>super class)</a:t>
            </a:r>
            <a:r>
              <a:rPr kumimoji="1" lang="zh-CN" altLang="en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继承：一个派生类</a:t>
            </a:r>
            <a:r>
              <a:rPr kumimoji="1" lang="en-US" altLang="zh-CN" dirty="0"/>
              <a:t>(</a:t>
            </a:r>
            <a:r>
              <a:rPr kumimoji="1" lang="en" altLang="zh-CN" dirty="0"/>
              <a:t>derived class</a:t>
            </a:r>
            <a:r>
              <a:rPr kumimoji="1" lang="en-US" altLang="zh-CN" dirty="0"/>
              <a:t>)</a:t>
            </a:r>
            <a:r>
              <a:rPr kumimoji="1" lang="zh-CN" altLang="en-US" dirty="0"/>
              <a:t>继承基类的字段和方法，即</a:t>
            </a:r>
            <a:r>
              <a:rPr lang="zh-CN" altLang="en-US" dirty="0"/>
              <a:t>子类获得了父类的全部功能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举例：</a:t>
            </a:r>
            <a:r>
              <a:rPr kumimoji="1" lang="en-US" altLang="zh-CN" dirty="0"/>
              <a:t>U</a:t>
            </a:r>
            <a:r>
              <a:rPr lang="en" altLang="zh-CN" dirty="0" err="1"/>
              <a:t>ndergraduate</a:t>
            </a:r>
            <a:r>
              <a:rPr lang="zh-CN" altLang="en" dirty="0"/>
              <a:t>类</a:t>
            </a:r>
            <a:r>
              <a:rPr lang="zh-CN" altLang="en-US" dirty="0"/>
              <a:t>继承</a:t>
            </a:r>
            <a:r>
              <a:rPr lang="en-US" altLang="zh-CN" dirty="0"/>
              <a:t>Student</a:t>
            </a:r>
            <a:r>
              <a:rPr lang="zh-CN" altLang="en-US" dirty="0"/>
              <a:t>类，</a:t>
            </a:r>
            <a:r>
              <a:rPr lang="en-US" altLang="zh-CN" dirty="0"/>
              <a:t>Dog</a:t>
            </a:r>
            <a:r>
              <a:rPr lang="zh-CN" altLang="en-US" dirty="0"/>
              <a:t>类继承</a:t>
            </a:r>
            <a:r>
              <a:rPr lang="en-US" altLang="zh-CN" dirty="0"/>
              <a:t>Animal</a:t>
            </a:r>
            <a:r>
              <a:rPr lang="zh-CN" altLang="en-US" dirty="0"/>
              <a:t>类</a:t>
            </a:r>
            <a:endParaRPr lang="en-US" altLang="zh-CN" dirty="0"/>
          </a:p>
          <a:p>
            <a:endParaRPr lang="en-US" altLang="zh-CN" dirty="0"/>
          </a:p>
          <a:p>
            <a:endParaRPr lang="en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81354D-78AC-EC44-9B57-ED517102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90" y="3249335"/>
            <a:ext cx="6450219" cy="80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9215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004ECF-A231-BF4F-B399-5D64B47D9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293" y="1954088"/>
            <a:ext cx="6450219" cy="11452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5DC9C9-9AAD-814E-8BB2-40BE4946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292" y="3179086"/>
            <a:ext cx="6450219" cy="1599228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2E27B62-8946-6D47-9CA0-56A5CC4C7423}"/>
              </a:ext>
            </a:extLst>
          </p:cNvPr>
          <p:cNvSpPr txBox="1">
            <a:spLocks/>
          </p:cNvSpPr>
          <p:nvPr/>
        </p:nvSpPr>
        <p:spPr>
          <a:xfrm>
            <a:off x="457200" y="819150"/>
            <a:ext cx="8229600" cy="1264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对于</a:t>
            </a:r>
            <a:r>
              <a:rPr lang="en-US" altLang="zh-CN" dirty="0"/>
              <a:t>Dog</a:t>
            </a:r>
            <a:r>
              <a:rPr lang="zh-CN" altLang="en-US" dirty="0"/>
              <a:t>来说，</a:t>
            </a:r>
            <a:r>
              <a:rPr lang="en-US" altLang="zh-CN" dirty="0"/>
              <a:t>Animal</a:t>
            </a:r>
            <a:r>
              <a:rPr lang="zh-CN" altLang="en-US" dirty="0"/>
              <a:t>就是它的父类，对于</a:t>
            </a:r>
            <a:r>
              <a:rPr lang="en-US" altLang="zh-CN" dirty="0"/>
              <a:t>Animal</a:t>
            </a:r>
            <a:r>
              <a:rPr lang="zh-CN" altLang="en-US" dirty="0"/>
              <a:t>来说，</a:t>
            </a:r>
            <a:r>
              <a:rPr lang="en-US" altLang="zh-CN" dirty="0"/>
              <a:t>Dog</a:t>
            </a:r>
            <a:r>
              <a:rPr lang="zh-CN" altLang="en-US" dirty="0"/>
              <a:t>就是它的子类。</a:t>
            </a:r>
            <a:endParaRPr lang="en-US" altLang="zh-CN" dirty="0"/>
          </a:p>
          <a:p>
            <a:r>
              <a:rPr lang="zh-CN" altLang="en-US" dirty="0"/>
              <a:t>由于</a:t>
            </a:r>
            <a:r>
              <a:rPr lang="en" altLang="zh-CN" dirty="0"/>
              <a:t>Animal</a:t>
            </a:r>
            <a:r>
              <a:rPr lang="zh-CN" altLang="en-US" dirty="0"/>
              <a:t>实现了</a:t>
            </a:r>
            <a:r>
              <a:rPr lang="en" altLang="zh-CN" dirty="0"/>
              <a:t>run()</a:t>
            </a:r>
            <a:r>
              <a:rPr lang="zh-CN" altLang="en-US" dirty="0"/>
              <a:t>方法，</a:t>
            </a:r>
            <a:r>
              <a:rPr lang="en-US" altLang="zh-CN" dirty="0"/>
              <a:t>Dog</a:t>
            </a:r>
            <a:r>
              <a:rPr lang="zh-CN" altLang="en-US" dirty="0"/>
              <a:t>和</a:t>
            </a:r>
            <a:r>
              <a:rPr lang="en-US" altLang="zh-CN" dirty="0"/>
              <a:t>Cat</a:t>
            </a:r>
            <a:r>
              <a:rPr lang="zh-CN" altLang="en-US" dirty="0"/>
              <a:t>也拥有了</a:t>
            </a:r>
            <a:r>
              <a:rPr lang="en-US" altLang="zh-CN" dirty="0"/>
              <a:t>run()</a:t>
            </a:r>
            <a:r>
              <a:rPr lang="zh-CN" altLang="en-US" dirty="0"/>
              <a:t>方法。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3826479514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2E27B62-8946-6D47-9CA0-56A5CC4C7423}"/>
              </a:ext>
            </a:extLst>
          </p:cNvPr>
          <p:cNvSpPr txBox="1">
            <a:spLocks/>
          </p:cNvSpPr>
          <p:nvPr/>
        </p:nvSpPr>
        <p:spPr>
          <a:xfrm>
            <a:off x="457200" y="819150"/>
            <a:ext cx="8229600" cy="830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在继承时，也可对子类增添新的方法，如</a:t>
            </a:r>
            <a:endParaRPr lang="en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E69A2A-5068-C743-B51C-2B5A1138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63" y="1341783"/>
            <a:ext cx="6085233" cy="229079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3D3D2E7-170C-804F-90DC-A9942F51C71C}"/>
              </a:ext>
            </a:extLst>
          </p:cNvPr>
          <p:cNvSpPr/>
          <p:nvPr/>
        </p:nvSpPr>
        <p:spPr>
          <a:xfrm>
            <a:off x="1311963" y="3383096"/>
            <a:ext cx="1879740" cy="1755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CCD2AB2-5408-584D-97F2-9A56710F5D8F}"/>
              </a:ext>
            </a:extLst>
          </p:cNvPr>
          <p:cNvCxnSpPr>
            <a:cxnSpLocks/>
          </p:cNvCxnSpPr>
          <p:nvPr/>
        </p:nvCxnSpPr>
        <p:spPr>
          <a:xfrm flipV="1">
            <a:off x="1123121" y="3558626"/>
            <a:ext cx="616227" cy="4576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8B1B7E87-E7FB-984A-8876-B1D07F5A3625}"/>
              </a:ext>
            </a:extLst>
          </p:cNvPr>
          <p:cNvSpPr/>
          <p:nvPr/>
        </p:nvSpPr>
        <p:spPr>
          <a:xfrm>
            <a:off x="826188" y="4075748"/>
            <a:ext cx="34575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子类的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run()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覆盖了父类的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run()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方法，即多态性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BFB88B-5D4D-3946-8C01-97577AB3F9D6}"/>
              </a:ext>
            </a:extLst>
          </p:cNvPr>
          <p:cNvSpPr/>
          <p:nvPr/>
        </p:nvSpPr>
        <p:spPr>
          <a:xfrm>
            <a:off x="1311962" y="2316118"/>
            <a:ext cx="2753141" cy="3773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612A295-F89D-CD4D-86EF-80A32A98FB04}"/>
              </a:ext>
            </a:extLst>
          </p:cNvPr>
          <p:cNvCxnSpPr>
            <a:cxnSpLocks/>
          </p:cNvCxnSpPr>
          <p:nvPr/>
        </p:nvCxnSpPr>
        <p:spPr>
          <a:xfrm flipH="1" flipV="1">
            <a:off x="4065103" y="2693504"/>
            <a:ext cx="1473064" cy="13227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8473872-093C-4444-AE14-15FE997C8DF3}"/>
              </a:ext>
            </a:extLst>
          </p:cNvPr>
          <p:cNvSpPr/>
          <p:nvPr/>
        </p:nvSpPr>
        <p:spPr>
          <a:xfrm>
            <a:off x="4860237" y="4075748"/>
            <a:ext cx="25369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添加了新的子类方法</a:t>
            </a:r>
          </a:p>
        </p:txBody>
      </p:sp>
    </p:spTree>
    <p:extLst>
      <p:ext uri="{BB962C8B-B14F-4D97-AF65-F5344CB8AC3E}">
        <p14:creationId xmlns:p14="http://schemas.microsoft.com/office/powerpoint/2010/main" val="3481971713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2E27B62-8946-6D47-9CA0-56A5CC4C7423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321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多态：</a:t>
            </a:r>
            <a:r>
              <a:rPr lang="zh-CN" altLang="en-US" dirty="0">
                <a:solidFill>
                  <a:srgbClr val="FF0000"/>
                </a:solidFill>
              </a:rPr>
              <a:t>为不同数据类型的实体提供统一的接口。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简单而言：相同的消息给予不同的对象会引发不同的动作，如前面的</a:t>
            </a:r>
            <a:r>
              <a:rPr lang="en-US" altLang="zh-CN" dirty="0"/>
              <a:t>Animal</a:t>
            </a:r>
            <a:r>
              <a:rPr lang="zh-CN" altLang="en-US" dirty="0"/>
              <a:t>类和</a:t>
            </a:r>
            <a:r>
              <a:rPr lang="en-US" altLang="zh-CN" dirty="0"/>
              <a:t>Dog</a:t>
            </a:r>
            <a:r>
              <a:rPr lang="zh-CN" altLang="en-US" dirty="0"/>
              <a:t>类在处理</a:t>
            </a:r>
            <a:r>
              <a:rPr lang="en-US" altLang="zh-CN" dirty="0"/>
              <a:t>run()</a:t>
            </a:r>
            <a:r>
              <a:rPr lang="zh-CN" altLang="en-US" dirty="0"/>
              <a:t>方法上动作的差异。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B42B08-9C19-8149-AA66-B73D13C576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419"/>
          <a:stretch/>
        </p:blipFill>
        <p:spPr>
          <a:xfrm>
            <a:off x="4631744" y="2316401"/>
            <a:ext cx="3265963" cy="20635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3694F7-73A4-1C41-8C2A-DA57B14719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295"/>
          <a:stretch/>
        </p:blipFill>
        <p:spPr>
          <a:xfrm>
            <a:off x="881966" y="2316401"/>
            <a:ext cx="2619847" cy="8503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1EBFA9-77E4-D34D-84F6-44ADAAFF59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3739"/>
          <a:stretch/>
        </p:blipFill>
        <p:spPr>
          <a:xfrm>
            <a:off x="892124" y="3316317"/>
            <a:ext cx="2609689" cy="115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34373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314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进一步理解多态</a:t>
            </a:r>
            <a:endParaRPr lang="en-US" altLang="zh-CN" dirty="0"/>
          </a:p>
          <a:p>
            <a:pPr lvl="1"/>
            <a:r>
              <a:rPr lang="zh-CN" altLang="en-US" dirty="0"/>
              <a:t>定义一个</a:t>
            </a:r>
            <a:r>
              <a:rPr lang="en-US" altLang="zh-CN" dirty="0"/>
              <a:t>class</a:t>
            </a:r>
            <a:r>
              <a:rPr lang="zh-CN" altLang="en-US" dirty="0"/>
              <a:t>，实际上就定义了一种新的数据类型，类似于</a:t>
            </a:r>
            <a:r>
              <a:rPr lang="en-US" altLang="zh-CN" dirty="0"/>
              <a:t>Python</a:t>
            </a:r>
            <a:r>
              <a:rPr lang="zh-CN" altLang="en-US" dirty="0"/>
              <a:t>内置数据类型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6B6F41-0CA3-CE49-B373-D80A8CE0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37" y="2500170"/>
            <a:ext cx="2678320" cy="75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15965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83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进一步理解多态</a:t>
            </a:r>
            <a:endParaRPr lang="en-US" altLang="zh-CN" dirty="0"/>
          </a:p>
          <a:p>
            <a:pPr lvl="1"/>
            <a:r>
              <a:rPr lang="zh-CN" altLang="en-US" dirty="0"/>
              <a:t>定义一个</a:t>
            </a:r>
            <a:r>
              <a:rPr lang="en-US" altLang="zh-CN" dirty="0"/>
              <a:t>class</a:t>
            </a:r>
            <a:r>
              <a:rPr lang="zh-CN" altLang="en-US" dirty="0"/>
              <a:t>，实际上就定义了一种新的数据类型，类似于</a:t>
            </a:r>
            <a:r>
              <a:rPr lang="en-US" altLang="zh-CN" dirty="0"/>
              <a:t>Python</a:t>
            </a:r>
            <a:r>
              <a:rPr lang="zh-CN" altLang="en-US" dirty="0"/>
              <a:t>内置数据类型</a:t>
            </a:r>
            <a:endParaRPr lang="en-US" altLang="zh-CN" dirty="0"/>
          </a:p>
          <a:p>
            <a:pPr lvl="1"/>
            <a:r>
              <a:rPr lang="zh-CN" altLang="en-US" dirty="0"/>
              <a:t>判断一个变量是否是某个类型可以用</a:t>
            </a:r>
            <a:r>
              <a:rPr lang="en-US" altLang="zh-CN" dirty="0" err="1"/>
              <a:t>isinstance</a:t>
            </a:r>
            <a:r>
              <a:rPr lang="en-US" altLang="zh-CN" dirty="0"/>
              <a:t>()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E031D1-5871-B046-BD3A-1FB552B2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081" y="2214322"/>
            <a:ext cx="2617028" cy="14432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9C7E99-0CE5-2D47-991E-0792409DF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37" y="2500170"/>
            <a:ext cx="2678320" cy="75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15559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83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进一步理解多态</a:t>
            </a:r>
            <a:endParaRPr lang="en-US" altLang="zh-CN" dirty="0"/>
          </a:p>
          <a:p>
            <a:pPr lvl="1"/>
            <a:r>
              <a:rPr lang="zh-CN" altLang="en-US" dirty="0"/>
              <a:t>定义一个</a:t>
            </a:r>
            <a:r>
              <a:rPr lang="en-US" altLang="zh-CN" dirty="0"/>
              <a:t>class</a:t>
            </a:r>
            <a:r>
              <a:rPr lang="zh-CN" altLang="en-US" dirty="0"/>
              <a:t>，实际上就定义了一种新的数据类型，类似于</a:t>
            </a:r>
            <a:r>
              <a:rPr lang="en-US" altLang="zh-CN" dirty="0"/>
              <a:t>Python</a:t>
            </a:r>
            <a:r>
              <a:rPr lang="zh-CN" altLang="en-US" dirty="0"/>
              <a:t>内置数据类型</a:t>
            </a:r>
            <a:endParaRPr lang="en-US" altLang="zh-CN" dirty="0"/>
          </a:p>
          <a:p>
            <a:pPr lvl="1"/>
            <a:r>
              <a:rPr lang="zh-CN" altLang="en-US" dirty="0"/>
              <a:t>判断一个变量是否是某个类型可以用</a:t>
            </a:r>
            <a:r>
              <a:rPr lang="en-US" altLang="zh-CN" dirty="0" err="1"/>
              <a:t>isinstance</a:t>
            </a:r>
            <a:r>
              <a:rPr lang="en-US" altLang="zh-CN" dirty="0"/>
              <a:t>()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E031D1-5871-B046-BD3A-1FB552B2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081" y="2214322"/>
            <a:ext cx="2617028" cy="14432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9C7E99-0CE5-2D47-991E-0792409DF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37" y="2500170"/>
            <a:ext cx="2678320" cy="7548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36F321-87BC-B442-B9D0-581F7F3E51A5}"/>
              </a:ext>
            </a:extLst>
          </p:cNvPr>
          <p:cNvSpPr/>
          <p:nvPr/>
        </p:nvSpPr>
        <p:spPr>
          <a:xfrm>
            <a:off x="834886" y="3889229"/>
            <a:ext cx="7056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/>
              <a:t>a, b, c</a:t>
            </a:r>
            <a:r>
              <a:rPr lang="zh-CN" altLang="en-US" dirty="0"/>
              <a:t>分别是</a:t>
            </a:r>
            <a:r>
              <a:rPr lang="en" altLang="zh-CN" dirty="0"/>
              <a:t>list</a:t>
            </a:r>
            <a:r>
              <a:rPr lang="en-US" altLang="zh-CN" dirty="0"/>
              <a:t>,</a:t>
            </a:r>
            <a:r>
              <a:rPr lang="en" altLang="zh-CN" dirty="0"/>
              <a:t> Animal, Dog</a:t>
            </a:r>
            <a:r>
              <a:rPr lang="zh-CN" altLang="en-US" dirty="0"/>
              <a:t>类型，但</a:t>
            </a:r>
            <a:r>
              <a:rPr lang="en" altLang="zh-CN" dirty="0"/>
              <a:t>c</a:t>
            </a:r>
            <a:r>
              <a:rPr lang="zh-CN" altLang="en-US" dirty="0"/>
              <a:t>还是</a:t>
            </a:r>
            <a:r>
              <a:rPr lang="en" altLang="zh-CN" dirty="0"/>
              <a:t>Animal</a:t>
            </a:r>
            <a:r>
              <a:rPr lang="zh-CN" altLang="en-US" dirty="0"/>
              <a:t>类型</a:t>
            </a:r>
          </a:p>
        </p:txBody>
      </p:sp>
    </p:spTree>
    <p:extLst>
      <p:ext uri="{BB962C8B-B14F-4D97-AF65-F5344CB8AC3E}">
        <p14:creationId xmlns:p14="http://schemas.microsoft.com/office/powerpoint/2010/main" val="2526459126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83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进一步理解多态</a:t>
            </a:r>
            <a:endParaRPr lang="en-US" altLang="zh-CN" dirty="0"/>
          </a:p>
          <a:p>
            <a:pPr lvl="1"/>
            <a:r>
              <a:rPr lang="zh-CN" altLang="en-US" dirty="0"/>
              <a:t>定义一个</a:t>
            </a:r>
            <a:r>
              <a:rPr lang="en-US" altLang="zh-CN" dirty="0"/>
              <a:t>class</a:t>
            </a:r>
            <a:r>
              <a:rPr lang="zh-CN" altLang="en-US" dirty="0"/>
              <a:t>，实际上就定义了一种新的数据类型，类似于</a:t>
            </a:r>
            <a:r>
              <a:rPr lang="en-US" altLang="zh-CN" dirty="0"/>
              <a:t>Python</a:t>
            </a:r>
            <a:r>
              <a:rPr lang="zh-CN" altLang="en-US" dirty="0"/>
              <a:t>内置数据类型</a:t>
            </a:r>
            <a:endParaRPr lang="en-US" altLang="zh-CN" dirty="0"/>
          </a:p>
          <a:p>
            <a:pPr lvl="1"/>
            <a:r>
              <a:rPr lang="zh-CN" altLang="en-US" dirty="0"/>
              <a:t>判断一个变量是否是某个类型可以用</a:t>
            </a:r>
            <a:r>
              <a:rPr lang="en-US" altLang="zh-CN" dirty="0" err="1"/>
              <a:t>isinstance</a:t>
            </a:r>
            <a:r>
              <a:rPr lang="en-US" altLang="zh-CN" dirty="0"/>
              <a:t>()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36F321-87BC-B442-B9D0-581F7F3E51A5}"/>
              </a:ext>
            </a:extLst>
          </p:cNvPr>
          <p:cNvSpPr/>
          <p:nvPr/>
        </p:nvSpPr>
        <p:spPr>
          <a:xfrm>
            <a:off x="934278" y="3657600"/>
            <a:ext cx="70567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在继承关系中，如果一个实例的数据类型是某个子类，则它的数据类型也可看做是其父类，但反过来不行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B9D5ED-B640-8B4E-9C7A-1EDB068E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74" y="2571750"/>
            <a:ext cx="6000198" cy="6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73782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83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进一步理解多态</a:t>
            </a:r>
            <a:endParaRPr lang="en-US" altLang="zh-CN" dirty="0"/>
          </a:p>
          <a:p>
            <a:pPr lvl="1"/>
            <a:r>
              <a:rPr lang="zh-CN" altLang="en-US" dirty="0"/>
              <a:t>再来看一个例子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4A506C-5228-304F-9BA2-598F9A76F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66" y="1751862"/>
            <a:ext cx="5287617" cy="16397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FADC4B6-BA9B-0341-BD3F-A3B6013D81B3}"/>
              </a:ext>
            </a:extLst>
          </p:cNvPr>
          <p:cNvSpPr/>
          <p:nvPr/>
        </p:nvSpPr>
        <p:spPr>
          <a:xfrm>
            <a:off x="1043609" y="3657600"/>
            <a:ext cx="70567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对于一个变量，只需要知道它是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Animal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类型，无需确切地知道它的子类型，就可以放心地调用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run()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方法，而具体调用的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run()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方法是作用在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Animal, Dog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还是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Cat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对象上，由运行时该对象的确切类型决定。</a:t>
            </a:r>
          </a:p>
        </p:txBody>
      </p:sp>
    </p:spTree>
    <p:extLst>
      <p:ext uri="{BB962C8B-B14F-4D97-AF65-F5344CB8AC3E}">
        <p14:creationId xmlns:p14="http://schemas.microsoft.com/office/powerpoint/2010/main" val="3684421869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83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进一步理解多态</a:t>
            </a:r>
            <a:endParaRPr lang="en-US" altLang="zh-CN" dirty="0"/>
          </a:p>
          <a:p>
            <a:pPr lvl="1"/>
            <a:r>
              <a:rPr lang="zh-CN" altLang="en-US" dirty="0"/>
              <a:t>调用方只管调用，不管细节．当新增一种</a:t>
            </a:r>
            <a:r>
              <a:rPr lang="en-US" altLang="zh-CN" dirty="0"/>
              <a:t>Animal </a:t>
            </a:r>
            <a:r>
              <a:rPr lang="zh-CN" altLang="en-US" dirty="0"/>
              <a:t>的子类时，只要确保</a:t>
            </a:r>
            <a:r>
              <a:rPr lang="en-US" altLang="zh-CN" dirty="0"/>
              <a:t>run()</a:t>
            </a:r>
            <a:r>
              <a:rPr lang="zh-CN" altLang="en-US" dirty="0"/>
              <a:t>方法编写正确，不用管原来的代码是如何调用的。这就是著名的“开闭”原则</a:t>
            </a:r>
            <a:r>
              <a:rPr lang="en-US" altLang="zh-CN" dirty="0"/>
              <a:t>(</a:t>
            </a:r>
            <a:r>
              <a:rPr lang="zh-CN" altLang="en-US" dirty="0"/>
              <a:t>对扩展开放，对修改关闭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0904308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继承与多态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781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继承可以一级一级地继承下来，而任何类最终都可以追溯到根类</a:t>
            </a:r>
            <a:r>
              <a:rPr lang="en" altLang="zh-CN" dirty="0"/>
              <a:t>object</a:t>
            </a:r>
          </a:p>
          <a:p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0DEFF0-E7A5-4649-A6D1-B692154B05DB}"/>
              </a:ext>
            </a:extLst>
          </p:cNvPr>
          <p:cNvSpPr/>
          <p:nvPr/>
        </p:nvSpPr>
        <p:spPr>
          <a:xfrm>
            <a:off x="3588026" y="1396448"/>
            <a:ext cx="1123121" cy="407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object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657C13-5366-1B4E-8882-6AA5BB89CB41}"/>
              </a:ext>
            </a:extLst>
          </p:cNvPr>
          <p:cNvSpPr/>
          <p:nvPr/>
        </p:nvSpPr>
        <p:spPr>
          <a:xfrm>
            <a:off x="2117035" y="2164246"/>
            <a:ext cx="1123121" cy="407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Animal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1454BC-C5B4-A043-B01D-E93D07D31D46}"/>
              </a:ext>
            </a:extLst>
          </p:cNvPr>
          <p:cNvSpPr/>
          <p:nvPr/>
        </p:nvSpPr>
        <p:spPr>
          <a:xfrm>
            <a:off x="5088834" y="2158450"/>
            <a:ext cx="1123121" cy="407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87CBB5-87A7-CB46-8FBD-CF86F8B0302D}"/>
              </a:ext>
            </a:extLst>
          </p:cNvPr>
          <p:cNvSpPr/>
          <p:nvPr/>
        </p:nvSpPr>
        <p:spPr>
          <a:xfrm>
            <a:off x="1341784" y="3162302"/>
            <a:ext cx="1123121" cy="407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Dog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A07C1C-4D88-FB41-8BFC-97981DA01240}"/>
              </a:ext>
            </a:extLst>
          </p:cNvPr>
          <p:cNvSpPr/>
          <p:nvPr/>
        </p:nvSpPr>
        <p:spPr>
          <a:xfrm>
            <a:off x="2905539" y="3135797"/>
            <a:ext cx="1123121" cy="407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Cat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845A31-4C99-9F43-A045-0F2B7A7ADF05}"/>
              </a:ext>
            </a:extLst>
          </p:cNvPr>
          <p:cNvSpPr/>
          <p:nvPr/>
        </p:nvSpPr>
        <p:spPr>
          <a:xfrm>
            <a:off x="4348369" y="3124204"/>
            <a:ext cx="1123121" cy="407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Tree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BFC0DB-D487-2A40-B203-17961DE0DE3C}"/>
              </a:ext>
            </a:extLst>
          </p:cNvPr>
          <p:cNvSpPr/>
          <p:nvPr/>
        </p:nvSpPr>
        <p:spPr>
          <a:xfrm>
            <a:off x="5877774" y="3124204"/>
            <a:ext cx="1123121" cy="407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Flower</a:t>
            </a:r>
          </a:p>
        </p:txBody>
      </p:sp>
      <p:cxnSp>
        <p:nvCxnSpPr>
          <p:cNvPr id="12" name="肘形连接符 11">
            <a:extLst>
              <a:ext uri="{FF2B5EF4-FFF2-40B4-BE49-F238E27FC236}">
                <a16:creationId xmlns:a16="http://schemas.microsoft.com/office/drawing/2014/main" id="{C4D4B43E-13B2-7D42-8C97-B0DC3844F621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16200000" flipH="1">
            <a:off x="4722742" y="1230797"/>
            <a:ext cx="354498" cy="15008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4DF874AA-E79B-2E4D-9252-72A547BE6E2E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5400000">
            <a:off x="3233945" y="1248604"/>
            <a:ext cx="360294" cy="14709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B4AEC0A0-AD8D-7B48-84E0-5615F1B291DE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rot="16200000" flipH="1">
            <a:off x="5765740" y="2450609"/>
            <a:ext cx="558250" cy="7889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A08DF236-B757-504C-AAD3-2C3EF529CD6A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5400000">
            <a:off x="5001038" y="2474847"/>
            <a:ext cx="558250" cy="7404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F223BB4A-1BE8-164A-9653-F48DFD8C2717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2790825" y="2459521"/>
            <a:ext cx="564047" cy="7885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C40F5777-6BA2-164F-8719-43897683BFB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1995695" y="2479401"/>
            <a:ext cx="590552" cy="775251"/>
          </a:xfrm>
          <a:prstGeom prst="bentConnector3">
            <a:avLst>
              <a:gd name="adj1" fmla="val 485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606688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学生信息类示例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D5A72DB-937D-7842-90E9-E39620181AB1}"/>
              </a:ext>
            </a:extLst>
          </p:cNvPr>
          <p:cNvSpPr/>
          <p:nvPr/>
        </p:nvSpPr>
        <p:spPr>
          <a:xfrm>
            <a:off x="3909594" y="245415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83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3518296"/>
            <a:ext cx="8229600" cy="283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8549E24-73A9-0F44-B587-17A73563A75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321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CDC60D-1223-4F45-ABBE-A0466F74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77" y="1882846"/>
            <a:ext cx="5558886" cy="251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93885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8549E24-73A9-0F44-B587-17A73563A75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105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22DEE02-C4B9-3946-8DA6-2E1D495106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668"/>
          <a:stretch/>
        </p:blipFill>
        <p:spPr>
          <a:xfrm>
            <a:off x="871267" y="2004831"/>
            <a:ext cx="2984740" cy="20676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E39BDF8-9565-3F4E-A92A-8B450E77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92" y="1991827"/>
            <a:ext cx="3281752" cy="20806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28D23A9-2F5D-124F-BA1C-5065241FDEEF}"/>
              </a:ext>
            </a:extLst>
          </p:cNvPr>
          <p:cNvSpPr/>
          <p:nvPr/>
        </p:nvSpPr>
        <p:spPr>
          <a:xfrm>
            <a:off x="2872178" y="4300989"/>
            <a:ext cx="27478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父类与子类的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class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差异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518189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8549E24-73A9-0F44-B587-17A73563A75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105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例如继承关系：</a:t>
            </a:r>
            <a:r>
              <a:rPr lang="en" altLang="zh-CN" dirty="0"/>
              <a:t>object -&gt; Animal -&gt; Dog -&gt; Husky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5FC810-E0BF-334D-BCF7-21C7DC4FB1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816"/>
          <a:stretch/>
        </p:blipFill>
        <p:spPr>
          <a:xfrm>
            <a:off x="750497" y="3068833"/>
            <a:ext cx="1430561" cy="7469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781CFB6-784D-9C42-B763-43CF70D56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094" y="2780388"/>
            <a:ext cx="2430757" cy="12823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88D291-35BD-EF4C-830C-BB95BEB81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110" y="2779982"/>
            <a:ext cx="2517116" cy="128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67907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D88AFA-C6A5-E449-A192-D704B675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66" y="2347402"/>
            <a:ext cx="5012666" cy="18363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38458A-F08D-904A-B6B5-B7EFBC286F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816"/>
          <a:stretch/>
        </p:blipFill>
        <p:spPr>
          <a:xfrm>
            <a:off x="1137968" y="3023094"/>
            <a:ext cx="1307025" cy="6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66334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D88AFA-C6A5-E449-A192-D704B675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66" y="2347402"/>
            <a:ext cx="5012666" cy="18363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38458A-F08D-904A-B6B5-B7EFBC286F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816"/>
          <a:stretch/>
        </p:blipFill>
        <p:spPr>
          <a:xfrm>
            <a:off x="1137968" y="3023094"/>
            <a:ext cx="1307025" cy="6824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DC15527-6BB9-BF46-871A-AD5FE61203A8}"/>
              </a:ext>
            </a:extLst>
          </p:cNvPr>
          <p:cNvSpPr/>
          <p:nvPr/>
        </p:nvSpPr>
        <p:spPr>
          <a:xfrm>
            <a:off x="2713367" y="4231402"/>
            <a:ext cx="55726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类似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xxx__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的属性和方法在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中都是有特殊用途的，比如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__class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方法返回所属类。</a:t>
            </a:r>
          </a:p>
        </p:txBody>
      </p:sp>
    </p:spTree>
    <p:extLst>
      <p:ext uri="{BB962C8B-B14F-4D97-AF65-F5344CB8AC3E}">
        <p14:creationId xmlns:p14="http://schemas.microsoft.com/office/powerpoint/2010/main" val="740878013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C9F9E1-A217-6E42-BB83-E35EF901E1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816"/>
          <a:stretch/>
        </p:blipFill>
        <p:spPr>
          <a:xfrm>
            <a:off x="1137968" y="3023094"/>
            <a:ext cx="1307025" cy="6824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A27314-2A0F-844E-BCD4-2701910A5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366" y="2347402"/>
            <a:ext cx="5012666" cy="183632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0485794-1E7A-E748-A429-56D326D575B5}"/>
              </a:ext>
            </a:extLst>
          </p:cNvPr>
          <p:cNvSpPr/>
          <p:nvPr/>
        </p:nvSpPr>
        <p:spPr>
          <a:xfrm>
            <a:off x="3545456" y="3364303"/>
            <a:ext cx="966088" cy="1598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F4280-7E8A-FD4A-BED4-3912CDB8953A}"/>
              </a:ext>
            </a:extLst>
          </p:cNvPr>
          <p:cNvSpPr/>
          <p:nvPr/>
        </p:nvSpPr>
        <p:spPr>
          <a:xfrm>
            <a:off x="2993366" y="4324351"/>
            <a:ext cx="55726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dir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也会返回类内的方法</a:t>
            </a:r>
          </a:p>
        </p:txBody>
      </p:sp>
    </p:spTree>
    <p:extLst>
      <p:ext uri="{BB962C8B-B14F-4D97-AF65-F5344CB8AC3E}">
        <p14:creationId xmlns:p14="http://schemas.microsoft.com/office/powerpoint/2010/main" val="2732913974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F4280-7E8A-FD4A-BED4-3912CDB8953A}"/>
              </a:ext>
            </a:extLst>
          </p:cNvPr>
          <p:cNvSpPr/>
          <p:nvPr/>
        </p:nvSpPr>
        <p:spPr>
          <a:xfrm>
            <a:off x="2958860" y="4396443"/>
            <a:ext cx="55726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dir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亦可用于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内置数据类型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507EED-C640-1148-B26C-11B7F0AD7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49" y="2274968"/>
            <a:ext cx="656721" cy="246642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3202B1D-A70F-AE42-BD0B-9C22D3A4C501}"/>
              </a:ext>
            </a:extLst>
          </p:cNvPr>
          <p:cNvSpPr/>
          <p:nvPr/>
        </p:nvSpPr>
        <p:spPr>
          <a:xfrm>
            <a:off x="1787849" y="4190694"/>
            <a:ext cx="472287" cy="5704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2F0CFD5-6FD7-AC40-952C-B9E59A067AA7}"/>
              </a:ext>
            </a:extLst>
          </p:cNvPr>
          <p:cNvCxnSpPr>
            <a:cxnSpLocks/>
          </p:cNvCxnSpPr>
          <p:nvPr/>
        </p:nvCxnSpPr>
        <p:spPr>
          <a:xfrm flipV="1">
            <a:off x="2337758" y="3190982"/>
            <a:ext cx="2094069" cy="11333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2AD43277-8558-9549-B7AC-2F55DE6AD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74893"/>
            <a:ext cx="1019355" cy="152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82620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51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r>
              <a:rPr lang="zh-CN" altLang="en-US" dirty="0"/>
              <a:t>仅仅把属性和方法列出来是不够的，配合</a:t>
            </a:r>
            <a:r>
              <a:rPr lang="en" altLang="zh-CN" dirty="0" err="1"/>
              <a:t>getattr</a:t>
            </a:r>
            <a:r>
              <a:rPr lang="en" altLang="zh-CN" dirty="0"/>
              <a:t>()</a:t>
            </a:r>
            <a:r>
              <a:rPr lang="zh-CN" altLang="en" dirty="0"/>
              <a:t>、</a:t>
            </a:r>
            <a:r>
              <a:rPr lang="en" altLang="zh-CN" dirty="0" err="1"/>
              <a:t>setattr</a:t>
            </a:r>
            <a:r>
              <a:rPr lang="en" altLang="zh-CN" dirty="0"/>
              <a:t>()</a:t>
            </a:r>
            <a:r>
              <a:rPr lang="zh-CN" altLang="en-US" dirty="0"/>
              <a:t>以及</a:t>
            </a:r>
            <a:r>
              <a:rPr lang="en" altLang="zh-CN" dirty="0" err="1"/>
              <a:t>hasattr</a:t>
            </a:r>
            <a:r>
              <a:rPr lang="en" altLang="zh-CN" dirty="0"/>
              <a:t>()</a:t>
            </a:r>
            <a:r>
              <a:rPr lang="zh-CN" altLang="en" dirty="0"/>
              <a:t>，</a:t>
            </a:r>
            <a:r>
              <a:rPr lang="zh-CN" altLang="en-US" dirty="0"/>
              <a:t>可直接操作一个对象的状态</a:t>
            </a:r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A2F11E-04C4-1041-9494-9296711DE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78" y="3139603"/>
            <a:ext cx="3768090" cy="10312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C0946CD-ACD3-CA46-9E45-1FAA56F6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233" y="3021241"/>
            <a:ext cx="3274060" cy="126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45687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544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通过内置的一系列函数，我们可以对任意一个</a:t>
            </a:r>
            <a:r>
              <a:rPr lang="en" altLang="zh-CN" dirty="0"/>
              <a:t>Python</a:t>
            </a:r>
            <a:r>
              <a:rPr lang="zh-CN" altLang="en-US" dirty="0"/>
              <a:t>对象进行剖析，拿到其内部的数据。要注意的是，只有在不知道对象信息的时候，我们才会去获取对象信息。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797962-82B2-C741-9FF4-9ECDF660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067" y="2341881"/>
            <a:ext cx="4622800" cy="198247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5D22F41-A56E-0B4C-A9E9-5B788DB4B69E}"/>
              </a:ext>
            </a:extLst>
          </p:cNvPr>
          <p:cNvSpPr/>
          <p:nvPr/>
        </p:nvSpPr>
        <p:spPr>
          <a:xfrm>
            <a:off x="6964402" y="315932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程序输出？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173479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学生信息类示例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D5A72DB-937D-7842-90E9-E39620181AB1}"/>
              </a:ext>
            </a:extLst>
          </p:cNvPr>
          <p:cNvSpPr/>
          <p:nvPr/>
        </p:nvSpPr>
        <p:spPr>
          <a:xfrm>
            <a:off x="3909594" y="245415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61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由于</a:t>
            </a:r>
            <a:r>
              <a:rPr kumimoji="1" lang="en" altLang="zh-CN" dirty="0"/>
              <a:t>Python</a:t>
            </a:r>
            <a:r>
              <a:rPr kumimoji="1" lang="zh-CN" altLang="en-US" dirty="0"/>
              <a:t>是动态语言，根据类创建的实例可以任意绑定属性。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给实例绑定属性的方法是通过实例变量，或者通过</a:t>
            </a:r>
            <a:r>
              <a:rPr kumimoji="1" lang="en" altLang="zh-CN" dirty="0"/>
              <a:t>self</a:t>
            </a:r>
            <a:r>
              <a:rPr kumimoji="1" lang="zh-CN" altLang="en-US" dirty="0"/>
              <a:t>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080CEB-CE1B-7549-A62E-3E71A3D1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10" y="2343228"/>
            <a:ext cx="5546786" cy="116436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8AE58A-BAFC-6748-A2C5-FB719F4E6B48}"/>
              </a:ext>
            </a:extLst>
          </p:cNvPr>
          <p:cNvSpPr/>
          <p:nvPr/>
        </p:nvSpPr>
        <p:spPr>
          <a:xfrm>
            <a:off x="1796476" y="3201796"/>
            <a:ext cx="989857" cy="2142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F55750-078E-AA45-9BBD-193A35E37965}"/>
              </a:ext>
            </a:extLst>
          </p:cNvPr>
          <p:cNvSpPr/>
          <p:nvPr/>
        </p:nvSpPr>
        <p:spPr>
          <a:xfrm>
            <a:off x="2406076" y="2711146"/>
            <a:ext cx="1415426" cy="2142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2163666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55039"/>
          </a:xfrm>
        </p:spPr>
        <p:txBody>
          <a:bodyPr/>
          <a:lstStyle/>
          <a:p>
            <a:r>
              <a:rPr kumimoji="1" lang="zh-CN" altLang="en-US" dirty="0"/>
              <a:t>由于</a:t>
            </a:r>
            <a:r>
              <a:rPr kumimoji="1" lang="en" altLang="zh-CN" dirty="0"/>
              <a:t>Python</a:t>
            </a:r>
            <a:r>
              <a:rPr kumimoji="1" lang="zh-CN" altLang="en-US" dirty="0"/>
              <a:t>是动态语言，根据类创建的实例可以任意绑定属性。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给实例绑定属性的方法是通过实例变量，或者通过</a:t>
            </a:r>
            <a:r>
              <a:rPr kumimoji="1" lang="en" altLang="zh-CN" dirty="0"/>
              <a:t>self</a:t>
            </a:r>
            <a:r>
              <a:rPr kumimoji="1" lang="zh-CN" altLang="en-US" dirty="0"/>
              <a:t>变量</a:t>
            </a:r>
            <a:endParaRPr kumimoji="1" lang="en-US" altLang="zh-CN" dirty="0"/>
          </a:p>
          <a:p>
            <a:r>
              <a:rPr kumimoji="1" lang="zh-CN" altLang="en-US" dirty="0"/>
              <a:t>给类本身绑定属性，可以直接在</a:t>
            </a:r>
            <a:r>
              <a:rPr kumimoji="1" lang="en" altLang="zh-CN" dirty="0"/>
              <a:t>class</a:t>
            </a:r>
            <a:r>
              <a:rPr kumimoji="1" lang="zh-CN" altLang="en-US" dirty="0"/>
              <a:t>中定义属性，称为类属性，归类所有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8CE361-7BC5-DD4F-8C22-9AC62B748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93" y="2404707"/>
            <a:ext cx="6063771" cy="107305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D41D806-25DC-EF4D-8CDA-62872DE5481A}"/>
              </a:ext>
            </a:extLst>
          </p:cNvPr>
          <p:cNvSpPr/>
          <p:nvPr/>
        </p:nvSpPr>
        <p:spPr>
          <a:xfrm>
            <a:off x="2121404" y="2674189"/>
            <a:ext cx="1415426" cy="2142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44121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55039"/>
          </a:xfrm>
        </p:spPr>
        <p:txBody>
          <a:bodyPr/>
          <a:lstStyle/>
          <a:p>
            <a:r>
              <a:rPr kumimoji="1" lang="zh-CN" altLang="en-US" dirty="0"/>
              <a:t>由于</a:t>
            </a:r>
            <a:r>
              <a:rPr kumimoji="1" lang="en" altLang="zh-CN" dirty="0"/>
              <a:t>Python</a:t>
            </a:r>
            <a:r>
              <a:rPr kumimoji="1" lang="zh-CN" altLang="en-US" dirty="0"/>
              <a:t>是动态语言，根据类创建的实例可以任意绑定属性。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给实例绑定属性的方法是通过实例变量，或者通过</a:t>
            </a:r>
            <a:r>
              <a:rPr kumimoji="1" lang="en" altLang="zh-CN" dirty="0"/>
              <a:t>self</a:t>
            </a:r>
            <a:r>
              <a:rPr kumimoji="1" lang="zh-CN" altLang="en-US" dirty="0"/>
              <a:t>变量</a:t>
            </a:r>
            <a:endParaRPr kumimoji="1" lang="en-US" altLang="zh-CN" dirty="0"/>
          </a:p>
          <a:p>
            <a:r>
              <a:rPr kumimoji="1" lang="zh-CN" altLang="en-US" dirty="0"/>
              <a:t>给类本身绑定属性，可以直接在</a:t>
            </a:r>
            <a:r>
              <a:rPr kumimoji="1" lang="en" altLang="zh-CN" dirty="0"/>
              <a:t>class</a:t>
            </a:r>
            <a:r>
              <a:rPr kumimoji="1" lang="zh-CN" altLang="en-US" dirty="0"/>
              <a:t>中定义属性，称为类属性，归类所有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55B417-E2AE-434B-96B4-B8A2B4CD1450}"/>
              </a:ext>
            </a:extLst>
          </p:cNvPr>
          <p:cNvSpPr/>
          <p:nvPr/>
        </p:nvSpPr>
        <p:spPr>
          <a:xfrm>
            <a:off x="1453550" y="4031962"/>
            <a:ext cx="5973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定义了一个类属性后，这个属性虽然归类所有，但类的所有实例</a:t>
            </a:r>
            <a:r>
              <a:rPr lang="zh-CN" altLang="en-US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都可以访问到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19902C-FF69-6949-B994-A52FE02F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92" y="2208158"/>
            <a:ext cx="4488731" cy="162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31907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55039"/>
          </a:xfrm>
        </p:spPr>
        <p:txBody>
          <a:bodyPr/>
          <a:lstStyle/>
          <a:p>
            <a:r>
              <a:rPr kumimoji="1" lang="zh-CN" altLang="en-US" dirty="0"/>
              <a:t>注意：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在编写程序的时候，不要对实例属性和类属性使用相同的名字，因为相同名称的实例属性将屏蔽掉类属性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40396F-3C4E-4B48-944A-275102F657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418"/>
          <a:stretch/>
        </p:blipFill>
        <p:spPr>
          <a:xfrm>
            <a:off x="2679698" y="2233337"/>
            <a:ext cx="3143252" cy="160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64063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学生类示例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D5A72DB-937D-7842-90E9-E39620181AB1}"/>
              </a:ext>
            </a:extLst>
          </p:cNvPr>
          <p:cNvSpPr/>
          <p:nvPr/>
        </p:nvSpPr>
        <p:spPr>
          <a:xfrm>
            <a:off x="3909594" y="245415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01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55039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学生信息：姓名，家乡，电话，课程及成绩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学生信息的输入，获取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学生课程成绩的评价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学生信息的输出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421078-1F94-DC48-AC25-A02995167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020" y="1600576"/>
            <a:ext cx="4728779" cy="313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34632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学生信息类的初始化（构造函数）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886676-BCA3-2942-94E5-5E316626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1663701"/>
            <a:ext cx="5473700" cy="295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6832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类的方法：学生信息的输入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BA2CC8-68B1-6A43-A819-72207B2E3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1546371"/>
            <a:ext cx="6673850" cy="325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00040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类的方法：学生信息的获取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502BCA-66FD-A444-BEDF-6286DDE47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1578068"/>
            <a:ext cx="4133850" cy="31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2647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类的方法：学生课程成绩的评价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5DCEE7-2F3B-A343-B0A8-5E685985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756108"/>
            <a:ext cx="4419600" cy="276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49117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类的方法：学生信息的输出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CF332F-793A-5246-9D40-FF3196DB7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0" y="1878600"/>
            <a:ext cx="5911850" cy="25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03433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类的实例化（范例一）</a:t>
            </a:r>
            <a:endParaRPr kumimoji="1" lang="en-US" altLang="zh-CN" dirty="0"/>
          </a:p>
          <a:p>
            <a:pPr lvl="1">
              <a:buFontTx/>
              <a:buChar char="-"/>
            </a:pP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80C2CA-7A54-434C-A1AD-647252751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617643"/>
            <a:ext cx="6680200" cy="15342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A10167-8D31-594D-B416-AB24D6197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3291150"/>
            <a:ext cx="3473450" cy="154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0135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学生信息类：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类的实例化（范例二）</a:t>
            </a:r>
            <a:endParaRPr kumimoji="1" lang="en-US" altLang="zh-CN" dirty="0"/>
          </a:p>
          <a:p>
            <a:pPr lvl="1">
              <a:buFontTx/>
              <a:buChar char="-"/>
            </a:pP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03AD0F-A406-BB46-A88A-E53C2AB13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38" y="1823722"/>
            <a:ext cx="7087116" cy="10814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557DBC8-7136-B940-AEF1-E6C9BB4ED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738" y="3243618"/>
            <a:ext cx="2807971" cy="108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67205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1146809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研究生信息类：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继承学生信息类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添加额外的本科专业信息和学术文章发表信息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8C8745-F5CF-9A41-ABBE-B98D66726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776" y="1998503"/>
            <a:ext cx="5972447" cy="250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64972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1146809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研究生信息类：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类的方法：学生发表文章和本科专业信息的输入</a:t>
            </a:r>
          </a:p>
          <a:p>
            <a:pPr lvl="1"/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B96819-48DF-1947-9075-5FA9E936E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276" y="1778740"/>
            <a:ext cx="5226594" cy="289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34953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1146809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研究生信息类：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类的方法：学生发表文章和本科专业信息的获取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326629-BD03-2448-B170-AD901A961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" y="1860864"/>
            <a:ext cx="6607447" cy="2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75073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1146809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研究生信息类：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类的方法：研究生课程成绩的评价，覆盖学生类（父类）的课程评价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610C41-92FF-0247-8B80-1BCFC21D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13" y="1863623"/>
            <a:ext cx="6460853" cy="262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72422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1146809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研究生信息类：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类的方法：研究生信息的输出，覆盖学生类（父类）的信息输出方法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3C0AB7-E0D3-B341-A559-D1FD97AC7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936" y="1749613"/>
            <a:ext cx="5819140" cy="285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1455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学生信息类示例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1"/>
            <a:ext cx="8229600" cy="844550"/>
          </a:xfrm>
        </p:spPr>
        <p:txBody>
          <a:bodyPr/>
          <a:lstStyle/>
          <a:p>
            <a:r>
              <a:rPr kumimoji="1" lang="zh-CN" altLang="en-US" dirty="0"/>
              <a:t>研究生信息类：</a:t>
            </a:r>
            <a:endParaRPr kumimoji="1" lang="en-US" altLang="zh-CN" dirty="0"/>
          </a:p>
          <a:p>
            <a:pPr lvl="1">
              <a:buFontTx/>
              <a:buChar char="-"/>
            </a:pPr>
            <a:r>
              <a:rPr kumimoji="1" lang="zh-CN" altLang="en-US" dirty="0"/>
              <a:t>类的实例化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F7FE28-5A45-CC4F-8B0F-7BF2EFA66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69"/>
          <a:stretch/>
        </p:blipFill>
        <p:spPr>
          <a:xfrm>
            <a:off x="894807" y="1604918"/>
            <a:ext cx="7635239" cy="14131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19B210-7E8F-094E-8009-9AA6EFBC7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793" y="3143337"/>
            <a:ext cx="4086316" cy="179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32832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学生类示例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D5A72DB-937D-7842-90E9-E39620181AB1}"/>
              </a:ext>
            </a:extLst>
          </p:cNvPr>
          <p:cNvSpPr/>
          <p:nvPr/>
        </p:nvSpPr>
        <p:spPr>
          <a:xfrm>
            <a:off x="3909594" y="245415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93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19940</TotalTime>
  <Words>1657</Words>
  <Application>Microsoft Office PowerPoint</Application>
  <PresentationFormat>全屏显示(16:9)</PresentationFormat>
  <Paragraphs>226</Paragraphs>
  <Slides>46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方正超粗黑简体</vt:lpstr>
      <vt:lpstr>方正兰亭细黑_GBK</vt:lpstr>
      <vt:lpstr>宋体</vt:lpstr>
      <vt:lpstr>微软雅黑</vt:lpstr>
      <vt:lpstr>微软雅黑</vt:lpstr>
      <vt:lpstr>Arial</vt:lpstr>
      <vt:lpstr>Calibri</vt:lpstr>
      <vt:lpstr>清风素材 https://12sc.taobao.com/</vt:lpstr>
      <vt:lpstr>PowerPoint 演示文稿</vt:lpstr>
      <vt:lpstr>PowerPoint 演示文稿</vt:lpstr>
      <vt:lpstr>PowerPoint 演示文稿</vt:lpstr>
      <vt:lpstr>继承与多态</vt:lpstr>
      <vt:lpstr>继承与多态</vt:lpstr>
      <vt:lpstr>继承与多态</vt:lpstr>
      <vt:lpstr>继承与多态</vt:lpstr>
      <vt:lpstr>继承与多态</vt:lpstr>
      <vt:lpstr>继承与多态</vt:lpstr>
      <vt:lpstr>继承与多态</vt:lpstr>
      <vt:lpstr>继承与多态</vt:lpstr>
      <vt:lpstr>继承与多态</vt:lpstr>
      <vt:lpstr>继承与多态</vt:lpstr>
      <vt:lpstr>继承与多态</vt:lpstr>
      <vt:lpstr>PowerPoint 演示文稿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PowerPoint 演示文稿</vt:lpstr>
      <vt:lpstr>实例属性与类属性</vt:lpstr>
      <vt:lpstr>实例属性与类属性</vt:lpstr>
      <vt:lpstr>实例属性与类属性</vt:lpstr>
      <vt:lpstr>实例属性与类属性</vt:lpstr>
      <vt:lpstr>PowerPoint 演示文稿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学生信息类示例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</cp:lastModifiedBy>
  <cp:revision>313</cp:revision>
  <dcterms:created xsi:type="dcterms:W3CDTF">2015-01-23T04:02:45Z</dcterms:created>
  <dcterms:modified xsi:type="dcterms:W3CDTF">2023-03-28T08:28:27Z</dcterms:modified>
  <cp:category/>
  <cp:contentStatus>12sc.taobao.com</cp:contentStatus>
</cp:coreProperties>
</file>