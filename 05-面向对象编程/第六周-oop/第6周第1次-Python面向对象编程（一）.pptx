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1354" r:id="rId2"/>
    <p:sldId id="301" r:id="rId3"/>
    <p:sldId id="352" r:id="rId4"/>
    <p:sldId id="350" r:id="rId5"/>
    <p:sldId id="353" r:id="rId6"/>
    <p:sldId id="354" r:id="rId7"/>
    <p:sldId id="358" r:id="rId8"/>
    <p:sldId id="356" r:id="rId9"/>
    <p:sldId id="360" r:id="rId10"/>
    <p:sldId id="362" r:id="rId11"/>
    <p:sldId id="295" r:id="rId12"/>
    <p:sldId id="363" r:id="rId13"/>
    <p:sldId id="364" r:id="rId14"/>
    <p:sldId id="365" r:id="rId15"/>
    <p:sldId id="361" r:id="rId16"/>
    <p:sldId id="367" r:id="rId17"/>
    <p:sldId id="1358" r:id="rId18"/>
    <p:sldId id="368" r:id="rId19"/>
    <p:sldId id="369" r:id="rId20"/>
    <p:sldId id="366" r:id="rId21"/>
    <p:sldId id="371" r:id="rId22"/>
    <p:sldId id="1357" r:id="rId23"/>
    <p:sldId id="372" r:id="rId24"/>
    <p:sldId id="373" r:id="rId25"/>
    <p:sldId id="374" r:id="rId26"/>
    <p:sldId id="375" r:id="rId27"/>
    <p:sldId id="1359" r:id="rId28"/>
    <p:sldId id="379" r:id="rId29"/>
    <p:sldId id="377" r:id="rId30"/>
    <p:sldId id="1356" r:id="rId31"/>
    <p:sldId id="380" r:id="rId32"/>
    <p:sldId id="381" r:id="rId33"/>
    <p:sldId id="382" r:id="rId34"/>
    <p:sldId id="383" r:id="rId35"/>
    <p:sldId id="384" r:id="rId36"/>
    <p:sldId id="385" r:id="rId37"/>
    <p:sldId id="387" r:id="rId38"/>
    <p:sldId id="1360" r:id="rId39"/>
    <p:sldId id="388" r:id="rId40"/>
    <p:sldId id="1201" r:id="rId41"/>
    <p:sldId id="1199" r:id="rId42"/>
  </p:sldIdLst>
  <p:sldSz cx="9144000" cy="5143500" type="screen16x9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06" autoAdjust="0"/>
    <p:restoredTop sz="93872" autoAdjust="0"/>
  </p:normalViewPr>
  <p:slideViewPr>
    <p:cSldViewPr snapToGrid="0">
      <p:cViewPr varScale="1">
        <p:scale>
          <a:sx n="167" d="100"/>
          <a:sy n="167" d="100"/>
        </p:scale>
        <p:origin x="181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8734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3731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8449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1746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但是强烈建议你不要这么干，因为不同版本的</a:t>
            </a:r>
            <a:r>
              <a:rPr lang="e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解释器可能会把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</a:t>
            </a:r>
            <a:r>
              <a:rPr lang="e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改成不同的变量名。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本身没有任何机制阻止你干任何事情，一切全靠自觉。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688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5310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9" r:id="rId16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85427" y="1091178"/>
            <a:ext cx="2983509" cy="1705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文件概述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文件读写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多维数据的格式化与处理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os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模块编程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09594" y="247605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09594" y="207944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97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30" grpId="0" animBg="1"/>
      <p:bldP spid="3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教研组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69137"/>
            <a:ext cx="8945065" cy="523192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面向对象编程（一）</a:t>
            </a: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33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233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733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733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 面向对象编程（一）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306A7BD-0B70-2C40-A6C5-DEDE50857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404230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面向对象编程（</a:t>
            </a:r>
            <a:r>
              <a:rPr kumimoji="1" lang="en-US" altLang="zh-CN" dirty="0"/>
              <a:t>Object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Oriented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Programming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OOP</a:t>
            </a:r>
            <a:r>
              <a:rPr kumimoji="1" lang="zh-CN" altLang="en-US" dirty="0"/>
              <a:t>）是一种程序设计思想。</a:t>
            </a:r>
            <a:r>
              <a:rPr kumimoji="1" lang="en-US" altLang="zh-CN" dirty="0"/>
              <a:t>OOP</a:t>
            </a:r>
            <a:r>
              <a:rPr kumimoji="1" lang="zh-CN" altLang="en-US" dirty="0"/>
              <a:t>把对象作为程序的基本单元，一个对象包含了数据和操作数据的函数</a:t>
            </a:r>
          </a:p>
        </p:txBody>
      </p:sp>
    </p:spTree>
    <p:extLst>
      <p:ext uri="{BB962C8B-B14F-4D97-AF65-F5344CB8AC3E}">
        <p14:creationId xmlns:p14="http://schemas.microsoft.com/office/powerpoint/2010/main" val="2702149595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 面向对象编程（一）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306A7BD-0B70-2C40-A6C5-DEDE50857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404230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面向对象编程（</a:t>
            </a:r>
            <a:r>
              <a:rPr kumimoji="1" lang="en-US" altLang="zh-CN" dirty="0"/>
              <a:t>Object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Oriented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Programming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OOP</a:t>
            </a:r>
            <a:r>
              <a:rPr kumimoji="1" lang="zh-CN" altLang="en-US" dirty="0"/>
              <a:t>）是一种程序设计思想。</a:t>
            </a:r>
            <a:r>
              <a:rPr kumimoji="1" lang="en-US" altLang="zh-CN" dirty="0"/>
              <a:t>OOP</a:t>
            </a:r>
            <a:r>
              <a:rPr kumimoji="1" lang="zh-CN" altLang="en-US" dirty="0"/>
              <a:t>把对象作为程序的基本单元，一个对象包含了数据和操作数据的函数</a:t>
            </a:r>
          </a:p>
          <a:p>
            <a:r>
              <a:rPr lang="zh-CN" altLang="en-US" dirty="0"/>
              <a:t>面向过程（</a:t>
            </a:r>
            <a:r>
              <a:rPr lang="en" altLang="zh-CN" dirty="0"/>
              <a:t>Procedure Oriented</a:t>
            </a:r>
            <a:r>
              <a:rPr lang="zh-CN" altLang="en-US" dirty="0"/>
              <a:t> </a:t>
            </a:r>
            <a:r>
              <a:rPr kumimoji="1" lang="en-US" altLang="zh-CN" dirty="0"/>
              <a:t>Programming</a:t>
            </a:r>
            <a:r>
              <a:rPr kumimoji="1" lang="zh-CN" altLang="en-US" dirty="0"/>
              <a:t>，</a:t>
            </a:r>
            <a:r>
              <a:rPr kumimoji="1" lang="en-US" altLang="zh-CN" dirty="0"/>
              <a:t>POP</a:t>
            </a:r>
            <a:r>
              <a:rPr lang="zh-CN" altLang="en-US" dirty="0"/>
              <a:t>）的程序设计把计算机程序视为一系列的命令集合，即一组函数的</a:t>
            </a:r>
            <a:r>
              <a:rPr lang="zh-CN" altLang="en-US" dirty="0">
                <a:solidFill>
                  <a:srgbClr val="C00000"/>
                </a:solidFill>
              </a:rPr>
              <a:t>顺序执行</a:t>
            </a:r>
            <a:r>
              <a:rPr lang="zh-CN" altLang="en-US" dirty="0"/>
              <a:t>。为了简化程序设计，面向过程把函数继续切分为子函数，即把大块函数通过切割成小块函数来降低系统的复杂度。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22374097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 面向对象编程（一）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306A7BD-0B70-2C40-A6C5-DEDE50857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404230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面向对象编程（</a:t>
            </a:r>
            <a:r>
              <a:rPr kumimoji="1" lang="en-US" altLang="zh-CN" dirty="0">
                <a:solidFill>
                  <a:srgbClr val="FF0000"/>
                </a:solidFill>
              </a:rPr>
              <a:t>Object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Oriented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Programming</a:t>
            </a:r>
            <a:r>
              <a:rPr kumimoji="1" lang="zh-CN" altLang="en-US" dirty="0">
                <a:solidFill>
                  <a:srgbClr val="FF0000"/>
                </a:solidFill>
              </a:rPr>
              <a:t>， </a:t>
            </a:r>
            <a:r>
              <a:rPr kumimoji="1" lang="en-US" altLang="zh-CN" dirty="0">
                <a:solidFill>
                  <a:srgbClr val="FF0000"/>
                </a:solidFill>
              </a:rPr>
              <a:t>OOP</a:t>
            </a:r>
            <a:r>
              <a:rPr kumimoji="1" lang="zh-CN" altLang="en-US" dirty="0"/>
              <a:t>）是一种程序设计思想。</a:t>
            </a:r>
            <a:r>
              <a:rPr kumimoji="1" lang="en-US" altLang="zh-CN" dirty="0"/>
              <a:t>OOP</a:t>
            </a:r>
            <a:r>
              <a:rPr kumimoji="1" lang="zh-CN" altLang="en-US" dirty="0"/>
              <a:t>把对象作为程序的基本单元，一个对象包含了数据和操作数据的函数</a:t>
            </a:r>
          </a:p>
          <a:p>
            <a:r>
              <a:rPr lang="zh-CN" altLang="en-US" dirty="0"/>
              <a:t>面向过程（</a:t>
            </a:r>
            <a:r>
              <a:rPr lang="en" altLang="zh-CN" dirty="0">
                <a:solidFill>
                  <a:srgbClr val="FF0000"/>
                </a:solidFill>
              </a:rPr>
              <a:t>Procedure Oriented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Programming</a:t>
            </a:r>
            <a:r>
              <a:rPr kumimoji="1" lang="zh-CN" altLang="en-US" dirty="0">
                <a:solidFill>
                  <a:srgbClr val="FF0000"/>
                </a:solidFill>
              </a:rPr>
              <a:t>，</a:t>
            </a:r>
            <a:r>
              <a:rPr kumimoji="1" lang="en-US" altLang="zh-CN" dirty="0">
                <a:solidFill>
                  <a:srgbClr val="FF0000"/>
                </a:solidFill>
              </a:rPr>
              <a:t>POP</a:t>
            </a:r>
            <a:r>
              <a:rPr lang="zh-CN" altLang="en-US" dirty="0"/>
              <a:t>）的程序设计把计算机程序视为一系列的命令集合，即一组函数的</a:t>
            </a:r>
            <a:r>
              <a:rPr lang="zh-CN" altLang="en-US" dirty="0">
                <a:solidFill>
                  <a:srgbClr val="C00000"/>
                </a:solidFill>
              </a:rPr>
              <a:t>顺序执行</a:t>
            </a:r>
            <a:r>
              <a:rPr lang="zh-CN" altLang="en-US" dirty="0"/>
              <a:t>。为了简化程序设计，面向过程把函数继续切分为子函数，即把大块函数通过切割成小块函数来降低系统的复杂度。</a:t>
            </a:r>
            <a:endParaRPr kumimoji="1" lang="en-US" altLang="zh-CN" dirty="0"/>
          </a:p>
          <a:p>
            <a:r>
              <a:rPr lang="zh-CN" altLang="en-US" dirty="0"/>
              <a:t>面向对象的程序设计把计算机程序视为一组对象的集合，而每个对象都可以接收其他对象发过来的消息，并处理这些消息，计算机程序的执行就是一系列消息在各个对象之间传递。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53610921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9F992-9C41-E148-987E-B69BD7E20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592" y="1803124"/>
            <a:ext cx="8229600" cy="97983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" altLang="zh-CN" dirty="0"/>
              <a:t>Python</a:t>
            </a:r>
            <a:r>
              <a:rPr lang="zh-CN" altLang="en-US" dirty="0"/>
              <a:t>中，</a:t>
            </a:r>
            <a:r>
              <a:rPr lang="zh-CN" altLang="en-US" dirty="0">
                <a:solidFill>
                  <a:srgbClr val="C00000"/>
                </a:solidFill>
              </a:rPr>
              <a:t>所有数据类型</a:t>
            </a:r>
            <a:r>
              <a:rPr lang="zh-CN" altLang="en-US" dirty="0"/>
              <a:t>都可以视为对象，也可以自定义对象。自定义的对象数据类型就是面向对象编程中的类（</a:t>
            </a:r>
            <a:r>
              <a:rPr lang="en" altLang="zh-CN" dirty="0"/>
              <a:t>class</a:t>
            </a:r>
            <a:r>
              <a:rPr lang="zh-CN" altLang="en" dirty="0"/>
              <a:t>）</a:t>
            </a:r>
            <a:r>
              <a:rPr lang="zh-CN" altLang="en-US" dirty="0"/>
              <a:t>的概念。</a:t>
            </a:r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F406760-D15D-4949-8EDA-B872C4B4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 面向</a:t>
            </a:r>
            <a:r>
              <a:rPr lang="zh-CN" altLang="en-US" dirty="0">
                <a:solidFill>
                  <a:srgbClr val="FF0000"/>
                </a:solidFill>
              </a:rPr>
              <a:t>对象</a:t>
            </a:r>
            <a:r>
              <a:rPr lang="zh-CN" altLang="en-US" dirty="0"/>
              <a:t>编程（一）</a:t>
            </a:r>
          </a:p>
        </p:txBody>
      </p:sp>
    </p:spTree>
    <p:extLst>
      <p:ext uri="{BB962C8B-B14F-4D97-AF65-F5344CB8AC3E}">
        <p14:creationId xmlns:p14="http://schemas.microsoft.com/office/powerpoint/2010/main" val="1839243088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 面向对象编程（一）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306A7BD-0B70-2C40-A6C5-DEDE50857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933552"/>
          </a:xfrm>
        </p:spPr>
        <p:txBody>
          <a:bodyPr>
            <a:normAutofit/>
          </a:bodyPr>
          <a:lstStyle/>
          <a:p>
            <a:r>
              <a:rPr lang="zh-CN" altLang="en-US" dirty="0"/>
              <a:t>以＂处理学生成绩＂举例，我们来说明</a:t>
            </a:r>
            <a:r>
              <a:rPr lang="en" altLang="zh-CN" dirty="0"/>
              <a:t>POP </a:t>
            </a:r>
            <a:r>
              <a:rPr lang="zh-CN" altLang="en-US" dirty="0"/>
              <a:t>与</a:t>
            </a:r>
            <a:r>
              <a:rPr lang="en" altLang="zh-CN" dirty="0"/>
              <a:t>OOP </a:t>
            </a:r>
            <a:r>
              <a:rPr lang="zh-CN" altLang="en-US" dirty="0"/>
              <a:t>在程序流程上的不同之处：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52C775-D9F0-4940-9897-A8F3FBD6D8AE}"/>
              </a:ext>
            </a:extLst>
          </p:cNvPr>
          <p:cNvSpPr txBox="1"/>
          <p:nvPr/>
        </p:nvSpPr>
        <p:spPr>
          <a:xfrm>
            <a:off x="1047709" y="1713707"/>
            <a:ext cx="7297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假如有几个学生和他们的考试成绩，在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POP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中可用一个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dict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进行表示：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D9EC8B-69F4-5440-9462-19C23927BC11}"/>
              </a:ext>
            </a:extLst>
          </p:cNvPr>
          <p:cNvSpPr txBox="1"/>
          <p:nvPr/>
        </p:nvSpPr>
        <p:spPr>
          <a:xfrm>
            <a:off x="1047709" y="2903925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如果想处理学生成绩，可通过函数实现，如打印学生的成绩：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D14EE1-99FA-6C44-A8EF-F80669DAE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756" y="2109741"/>
            <a:ext cx="4943251" cy="6766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2FD7B0B-D6D3-0448-B265-9E4656219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675" y="3455420"/>
            <a:ext cx="3971060" cy="106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99877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 面向对象编程（一）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306A7BD-0B70-2C40-A6C5-DEDE50857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933552"/>
          </a:xfrm>
        </p:spPr>
        <p:txBody>
          <a:bodyPr>
            <a:normAutofit/>
          </a:bodyPr>
          <a:lstStyle/>
          <a:p>
            <a:r>
              <a:rPr lang="zh-CN" altLang="en-US" dirty="0"/>
              <a:t>以＂处理学生成绩＂举例，我们来说明</a:t>
            </a:r>
            <a:r>
              <a:rPr lang="en" altLang="zh-CN" dirty="0"/>
              <a:t>POP </a:t>
            </a:r>
            <a:r>
              <a:rPr lang="zh-CN" altLang="en-US" dirty="0"/>
              <a:t>与</a:t>
            </a:r>
            <a:r>
              <a:rPr lang="en" altLang="zh-CN" dirty="0"/>
              <a:t>OOP </a:t>
            </a:r>
            <a:r>
              <a:rPr lang="zh-CN" altLang="en-US" dirty="0"/>
              <a:t>在程序流程上的不同之处：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52C775-D9F0-4940-9897-A8F3FBD6D8AE}"/>
              </a:ext>
            </a:extLst>
          </p:cNvPr>
          <p:cNvSpPr txBox="1"/>
          <p:nvPr/>
        </p:nvSpPr>
        <p:spPr>
          <a:xfrm>
            <a:off x="1117282" y="1867002"/>
            <a:ext cx="7569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若采用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OOP</a:t>
            </a:r>
            <a:r>
              <a:rPr lang="zh-CN" altLang="e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首先考虑的不是程序的执行流程，而是观察这些学生的</a:t>
            </a:r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共性特点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，定义一个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类型，其实例（即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对象）拥有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name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score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这两个</a:t>
            </a:r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共有属性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Property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C8B4147-DAB1-9541-9071-F4B747D77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374" y="3181631"/>
            <a:ext cx="4943251" cy="67664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CF8AD116-BC00-9047-B437-1770C6D3D457}"/>
              </a:ext>
            </a:extLst>
          </p:cNvPr>
          <p:cNvSpPr/>
          <p:nvPr/>
        </p:nvSpPr>
        <p:spPr>
          <a:xfrm>
            <a:off x="2822713" y="3122941"/>
            <a:ext cx="487017" cy="794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223149-3D20-0A47-9C86-A015DB6DEC7A}"/>
              </a:ext>
            </a:extLst>
          </p:cNvPr>
          <p:cNvSpPr/>
          <p:nvPr/>
        </p:nvSpPr>
        <p:spPr>
          <a:xfrm>
            <a:off x="4135893" y="3122940"/>
            <a:ext cx="595133" cy="794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8338908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 面向对象编程（一）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52C775-D9F0-4940-9897-A8F3FBD6D8AE}"/>
              </a:ext>
            </a:extLst>
          </p:cNvPr>
          <p:cNvSpPr txBox="1"/>
          <p:nvPr/>
        </p:nvSpPr>
        <p:spPr>
          <a:xfrm>
            <a:off x="1017891" y="1022177"/>
            <a:ext cx="756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若要打印一个学生的成绩，先创建出这个学生对应的对象，然后给对象发送一个打印（</a:t>
            </a:r>
            <a:r>
              <a:rPr lang="en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print_score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）消息，让对象把自己的数据打印出来。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CF7AB9-31DD-E64A-9BED-3DA73A0D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912" y="1747178"/>
            <a:ext cx="5712839" cy="260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15843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 面向对象编程（一）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52C775-D9F0-4940-9897-A8F3FBD6D8AE}"/>
              </a:ext>
            </a:extLst>
          </p:cNvPr>
          <p:cNvSpPr txBox="1"/>
          <p:nvPr/>
        </p:nvSpPr>
        <p:spPr>
          <a:xfrm>
            <a:off x="868262" y="1052105"/>
            <a:ext cx="756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给对象发消息实际上就是调用对象对应的关联函数，我们称之为对象的方法（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Method</a:t>
            </a:r>
            <a:r>
              <a:rPr lang="zh-CN" altLang="e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EB1C91F-DCE9-A64A-88B7-F2A148B3C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159" y="2137035"/>
            <a:ext cx="5760431" cy="218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24418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85427" y="1091178"/>
            <a:ext cx="1454244" cy="1289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类和实例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数据封装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访问限制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09594" y="207944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75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类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实例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97B035B-8869-3146-8C75-FB2A32403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en-US" altLang="zh-CN" dirty="0"/>
              <a:t>OOP </a:t>
            </a:r>
            <a:r>
              <a:rPr lang="zh-CN" altLang="en-US" dirty="0"/>
              <a:t>的设计思想来源于自然界，因为在自然界中，类</a:t>
            </a:r>
            <a:r>
              <a:rPr lang="en-US" altLang="zh-CN" dirty="0"/>
              <a:t>(class)</a:t>
            </a:r>
            <a:r>
              <a:rPr lang="zh-CN" altLang="en-US" dirty="0"/>
              <a:t>和实例</a:t>
            </a:r>
            <a:r>
              <a:rPr lang="en-US" altLang="zh-CN" dirty="0"/>
              <a:t>(instance)</a:t>
            </a:r>
            <a:r>
              <a:rPr lang="zh-CN" altLang="en-US" dirty="0"/>
              <a:t>的概念非常自然。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类</a:t>
            </a:r>
            <a:r>
              <a:rPr lang="en-US" altLang="zh-CN" dirty="0"/>
              <a:t>(class): </a:t>
            </a:r>
            <a:r>
              <a:rPr lang="zh-CN" altLang="en-US" dirty="0"/>
              <a:t>用来描述具有相同的属性和方法的对象的集合。比如我们定义的</a:t>
            </a:r>
            <a:r>
              <a:rPr lang="en" altLang="zh-CN" dirty="0"/>
              <a:t>Class</a:t>
            </a:r>
            <a:r>
              <a:rPr lang="en-US" altLang="zh-CN" dirty="0"/>
              <a:t>--</a:t>
            </a:r>
            <a:r>
              <a:rPr lang="en" altLang="zh-CN" dirty="0"/>
              <a:t>Student</a:t>
            </a:r>
            <a:r>
              <a:rPr lang="zh-CN" altLang="en" dirty="0"/>
              <a:t>，</a:t>
            </a:r>
            <a:r>
              <a:rPr lang="zh-CN" altLang="en-US" dirty="0"/>
              <a:t>是指学生这个概念。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实例</a:t>
            </a:r>
            <a:r>
              <a:rPr lang="en-US" altLang="zh-CN" dirty="0"/>
              <a:t>(instance)</a:t>
            </a:r>
            <a:r>
              <a:rPr lang="zh-CN" altLang="en-US" dirty="0"/>
              <a:t>：创建一个类的实例，类的具体对象。比如一个个具体的</a:t>
            </a:r>
            <a:r>
              <a:rPr lang="en" altLang="zh-CN" dirty="0"/>
              <a:t>Student</a:t>
            </a:r>
            <a:r>
              <a:rPr lang="zh-CN" altLang="en" dirty="0"/>
              <a:t>，</a:t>
            </a:r>
            <a:r>
              <a:rPr lang="en" altLang="zh-CN" dirty="0"/>
              <a:t>Michael</a:t>
            </a:r>
            <a:r>
              <a:rPr lang="zh-CN" altLang="en-US" dirty="0"/>
              <a:t>和</a:t>
            </a:r>
            <a:r>
              <a:rPr lang="en" altLang="zh-CN" dirty="0"/>
              <a:t>Kristen</a:t>
            </a:r>
            <a:r>
              <a:rPr lang="zh-CN" altLang="en-US" dirty="0"/>
              <a:t>是两个具体的</a:t>
            </a:r>
            <a:r>
              <a:rPr lang="en" altLang="zh-CN" dirty="0"/>
              <a:t>student</a:t>
            </a:r>
            <a:r>
              <a:rPr lang="zh-CN" altLang="en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09420316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97B035B-8869-3146-8C75-FB2A32403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类和实例是</a:t>
            </a:r>
            <a:r>
              <a:rPr lang="en-US" altLang="zh-CN" dirty="0"/>
              <a:t>OOP</a:t>
            </a:r>
            <a:r>
              <a:rPr lang="zh-CN" altLang="en-US" dirty="0"/>
              <a:t>中最为重要的概念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类是抽象的模板</a:t>
            </a:r>
            <a:r>
              <a:rPr lang="zh-CN" altLang="en-US" dirty="0"/>
              <a:t>，比如</a:t>
            </a:r>
            <a:r>
              <a:rPr lang="en" altLang="zh-CN" dirty="0"/>
              <a:t>Student </a:t>
            </a:r>
            <a:r>
              <a:rPr lang="zh-CN" altLang="en-US" dirty="0"/>
              <a:t>类，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实例是根据类创建出来的一个个具体的“对象”</a:t>
            </a:r>
            <a:r>
              <a:rPr lang="zh-CN" altLang="en-US" dirty="0"/>
              <a:t>，每个对象都拥有相同的方法，但各自的数据可能不同。</a:t>
            </a:r>
            <a:endParaRPr lang="en-US" altLang="zh-CN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E371B8E7-F68C-AD4F-8E10-ED66B4C2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类和实例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1FF011-4A29-2447-8242-4F6315703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908" y="2541239"/>
            <a:ext cx="3976139" cy="150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07359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BBF8402-9ACF-754B-B756-3A90BA225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202346"/>
          </a:xfrm>
        </p:spPr>
        <p:txBody>
          <a:bodyPr>
            <a:normAutofit/>
          </a:bodyPr>
          <a:lstStyle/>
          <a:p>
            <a:r>
              <a:rPr lang="zh-CN" altLang="en-US" dirty="0"/>
              <a:t>仍以“处理学生成绩”举例，我们来说明类和实例的概念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中，定义类是通过</a:t>
            </a:r>
            <a:r>
              <a:rPr lang="en-US" altLang="zh-CN" dirty="0">
                <a:solidFill>
                  <a:srgbClr val="C00000"/>
                </a:solidFill>
              </a:rPr>
              <a:t>class</a:t>
            </a:r>
            <a:r>
              <a:rPr lang="zh-CN" altLang="en-US" dirty="0"/>
              <a:t>关键字</a:t>
            </a:r>
            <a:endParaRPr lang="en-US" altLang="zh-CN" dirty="0"/>
          </a:p>
          <a:p>
            <a:pPr lvl="1"/>
            <a:r>
              <a:rPr lang="en-US" altLang="zh-CN" dirty="0"/>
              <a:t>class</a:t>
            </a:r>
            <a:r>
              <a:rPr lang="zh-CN" altLang="en-US" dirty="0"/>
              <a:t> 后为</a:t>
            </a:r>
            <a:r>
              <a:rPr lang="zh-CN" altLang="en-US" dirty="0">
                <a:solidFill>
                  <a:srgbClr val="C00000"/>
                </a:solidFill>
              </a:rPr>
              <a:t>类名</a:t>
            </a:r>
            <a:r>
              <a:rPr lang="zh-CN" altLang="en-US" dirty="0"/>
              <a:t>，类名通常是大写开头的单词</a:t>
            </a:r>
            <a:endParaRPr lang="en-US" altLang="zh-CN" dirty="0"/>
          </a:p>
          <a:p>
            <a:pPr lvl="1"/>
            <a:r>
              <a:rPr lang="zh-CN" altLang="en-US" dirty="0"/>
              <a:t>类名（</a:t>
            </a:r>
            <a:r>
              <a:rPr lang="en-US" altLang="zh-CN" dirty="0"/>
              <a:t>object</a:t>
            </a:r>
            <a:r>
              <a:rPr lang="zh-CN" altLang="en-US" dirty="0"/>
              <a:t>），表示该类从</a:t>
            </a:r>
            <a:r>
              <a:rPr lang="en-US" altLang="zh-CN" dirty="0"/>
              <a:t>object</a:t>
            </a:r>
            <a:r>
              <a:rPr lang="zh-CN" altLang="en-US" dirty="0"/>
              <a:t>父类继承下来。通常，如果没有合适的继承类，就使用</a:t>
            </a:r>
            <a:r>
              <a:rPr lang="en" altLang="zh-CN" dirty="0"/>
              <a:t>object</a:t>
            </a:r>
            <a:r>
              <a:rPr lang="zh-CN" altLang="en-US" dirty="0"/>
              <a:t>类，这是所有类最终都会继承的类。</a:t>
            </a:r>
            <a:endParaRPr lang="en-US" altLang="zh-CN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B44BAC87-0D4E-7943-96CA-5BEEE3881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类和实例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219D5DB-2C00-6543-85C3-A7E1405BF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021496"/>
            <a:ext cx="64770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88023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859BCB3-AFC2-1545-9921-B95ED1576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202346"/>
          </a:xfrm>
        </p:spPr>
        <p:txBody>
          <a:bodyPr>
            <a:normAutofit/>
          </a:bodyPr>
          <a:lstStyle/>
          <a:p>
            <a:r>
              <a:rPr lang="zh-CN" altLang="en-US" dirty="0"/>
              <a:t>仍以“处理学生成绩”举例，我们来说明类和实例的概念</a:t>
            </a:r>
            <a:endParaRPr lang="en-US" altLang="zh-CN" dirty="0"/>
          </a:p>
          <a:p>
            <a:pPr lvl="1"/>
            <a:r>
              <a:rPr lang="zh-CN" altLang="en-US" dirty="0"/>
              <a:t>定义好了</a:t>
            </a:r>
            <a:r>
              <a:rPr lang="en-US" altLang="zh-CN" dirty="0"/>
              <a:t>Student2 </a:t>
            </a:r>
            <a:r>
              <a:rPr lang="zh-CN" altLang="en-US" dirty="0"/>
              <a:t>类，就可以根据它来创建出其实例</a:t>
            </a:r>
            <a:endParaRPr lang="en-US" altLang="zh-CN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85ADBD31-F5A1-594F-AE37-0BE7C5863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类和实例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4CCDBD-BCEC-6346-BDDE-E5BC6114C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182" y="1814084"/>
            <a:ext cx="7419739" cy="26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66990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859BCB3-AFC2-1545-9921-B95ED1576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202346"/>
          </a:xfrm>
        </p:spPr>
        <p:txBody>
          <a:bodyPr>
            <a:normAutofit/>
          </a:bodyPr>
          <a:lstStyle/>
          <a:p>
            <a:r>
              <a:rPr lang="zh-CN" altLang="en-US" dirty="0"/>
              <a:t>仍以“处理学生成绩”举例，我们来说明类和实例的概念</a:t>
            </a:r>
            <a:endParaRPr lang="en-US" altLang="zh-CN" dirty="0"/>
          </a:p>
          <a:p>
            <a:pPr lvl="1"/>
            <a:r>
              <a:rPr lang="zh-CN" altLang="en-US" dirty="0"/>
              <a:t>定义好了</a:t>
            </a:r>
            <a:r>
              <a:rPr lang="en-US" altLang="zh-CN" dirty="0"/>
              <a:t>Student2 </a:t>
            </a:r>
            <a:r>
              <a:rPr lang="zh-CN" altLang="en-US" dirty="0"/>
              <a:t>类，就可以根据它来创建出其实例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41CB4F-D4AB-9E41-939E-F5BB90A4C5D8}"/>
              </a:ext>
            </a:extLst>
          </p:cNvPr>
          <p:cNvSpPr txBox="1"/>
          <p:nvPr/>
        </p:nvSpPr>
        <p:spPr>
          <a:xfrm>
            <a:off x="1128974" y="4002145"/>
            <a:ext cx="6301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本身是一个类，而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Michael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指向的是一个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的实例，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0x7fef7387a160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是其内存地址，每个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object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的地址都不一样。而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本身则是一个类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1776F204-F5CE-0F48-AE2A-24EACA5B9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类和实例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D9D2F6-2C9E-F84B-BBF5-C02B4C28A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382" y="1798977"/>
            <a:ext cx="6184001" cy="220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24122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C2061-7536-C93A-6BB9-895D3EB2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0E23D7-FEBB-5BEE-7653-2CCB43DF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CN" dirty="0"/>
          </a:p>
          <a:p>
            <a:r>
              <a:rPr kumimoji="1" lang="en-US" altLang="zh-CN" dirty="0"/>
              <a:t>struct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</a:t>
            </a:r>
            <a:r>
              <a:rPr kumimoji="1" lang="zh-CN" altLang="en-US" dirty="0"/>
              <a:t> </a:t>
            </a:r>
            <a:r>
              <a:rPr kumimoji="1" lang="en-US" altLang="zh-CN" dirty="0"/>
              <a:t>{</a:t>
            </a:r>
          </a:p>
          <a:p>
            <a:pPr marL="457200" lvl="1" indent="0">
              <a:buNone/>
            </a:pPr>
            <a:r>
              <a:rPr kumimoji="1" lang="en-US" altLang="zh-CN" dirty="0"/>
              <a:t>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x;</a:t>
            </a:r>
          </a:p>
          <a:p>
            <a:pPr marL="457200" lvl="1" indent="0">
              <a:buNone/>
            </a:pPr>
            <a:r>
              <a:rPr kumimoji="1" lang="en-US" altLang="zh-CN" dirty="0"/>
              <a:t>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y;</a:t>
            </a:r>
          </a:p>
          <a:p>
            <a:r>
              <a:rPr kumimoji="1"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4088487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859BCB3-AFC2-1545-9921-B95ED1576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202346"/>
          </a:xfrm>
        </p:spPr>
        <p:txBody>
          <a:bodyPr>
            <a:normAutofit/>
          </a:bodyPr>
          <a:lstStyle/>
          <a:p>
            <a:r>
              <a:rPr lang="zh-CN" altLang="en-US" dirty="0"/>
              <a:t>仍以“处理学生成绩”举例，我们来说明类和实例的概念</a:t>
            </a:r>
            <a:endParaRPr lang="en-US" altLang="zh-CN" dirty="0"/>
          </a:p>
          <a:p>
            <a:pPr lvl="1"/>
            <a:r>
              <a:rPr lang="en-US" altLang="zh-CN" dirty="0"/>
              <a:t>Student2</a:t>
            </a:r>
            <a:r>
              <a:rPr lang="zh-CN" altLang="en-US" dirty="0"/>
              <a:t>类实例化后，可以自由地给一个实例变量绑定属性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0107A6-D911-C24D-834D-89444E35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855" y="1782337"/>
            <a:ext cx="5876736" cy="7894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8EAAD70-7742-8E48-A7B5-0E100E68D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855" y="2711727"/>
            <a:ext cx="5876736" cy="1903317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5D5B3B95-8E04-9743-A696-A2718718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类和实例</a:t>
            </a:r>
          </a:p>
        </p:txBody>
      </p:sp>
    </p:spTree>
    <p:extLst>
      <p:ext uri="{BB962C8B-B14F-4D97-AF65-F5344CB8AC3E}">
        <p14:creationId xmlns:p14="http://schemas.microsoft.com/office/powerpoint/2010/main" val="2127260405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859BCB3-AFC2-1545-9921-B95ED1576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1"/>
            <a:ext cx="8351301" cy="2853358"/>
          </a:xfrm>
        </p:spPr>
        <p:txBody>
          <a:bodyPr>
            <a:normAutofit/>
          </a:bodyPr>
          <a:lstStyle/>
          <a:p>
            <a:r>
              <a:rPr lang="zh-CN" altLang="en-US" dirty="0"/>
              <a:t>类起到模板的作用，可以在创建实例的时候，把一些我们认为必须绑定的属性强制填写进去。</a:t>
            </a:r>
            <a:endParaRPr lang="en-US" altLang="zh-CN" dirty="0"/>
          </a:p>
          <a:p>
            <a:r>
              <a:rPr lang="zh-CN" altLang="en-US" dirty="0"/>
              <a:t>通过定义一个特殊的</a:t>
            </a:r>
            <a:r>
              <a:rPr lang="en-US" altLang="zh-CN" b="1" dirty="0">
                <a:solidFill>
                  <a:srgbClr val="FF0000"/>
                </a:solidFill>
              </a:rPr>
              <a:t>__</a:t>
            </a:r>
            <a:r>
              <a:rPr lang="en-US" altLang="zh-CN" b="1" dirty="0" err="1">
                <a:solidFill>
                  <a:srgbClr val="FF0000"/>
                </a:solidFill>
              </a:rPr>
              <a:t>init</a:t>
            </a:r>
            <a:r>
              <a:rPr lang="en-US" altLang="zh-CN" b="1" dirty="0">
                <a:solidFill>
                  <a:srgbClr val="FF0000"/>
                </a:solidFill>
              </a:rPr>
              <a:t>__</a:t>
            </a:r>
            <a:r>
              <a:rPr lang="zh-CN" altLang="en-US" dirty="0"/>
              <a:t>方法（</a:t>
            </a:r>
            <a:r>
              <a:rPr lang="zh-CN" altLang="en-US" dirty="0">
                <a:solidFill>
                  <a:srgbClr val="FF0000"/>
                </a:solidFill>
              </a:rPr>
              <a:t>构造函数</a:t>
            </a:r>
            <a:r>
              <a:rPr lang="zh-CN" altLang="en-US" dirty="0"/>
              <a:t>），在创建实例的时候，就把</a:t>
            </a:r>
            <a:r>
              <a:rPr lang="en-US" altLang="zh-CN" dirty="0"/>
              <a:t>name</a:t>
            </a:r>
            <a:r>
              <a:rPr lang="zh-CN" altLang="en-US" dirty="0"/>
              <a:t>，</a:t>
            </a:r>
            <a:r>
              <a:rPr lang="en-US" altLang="zh-CN" dirty="0"/>
              <a:t>score</a:t>
            </a:r>
            <a:r>
              <a:rPr lang="zh-CN" altLang="en-US" dirty="0"/>
              <a:t>等属性绑上去</a:t>
            </a:r>
            <a:endParaRPr lang="en-US" altLang="zh-CN" dirty="0"/>
          </a:p>
          <a:p>
            <a:pPr lvl="1"/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</a:t>
            </a:r>
            <a:r>
              <a:rPr lang="zh-CN" altLang="en-US" dirty="0"/>
              <a:t>前后分别有两根下划线</a:t>
            </a:r>
            <a:endParaRPr lang="en-US" altLang="zh-CN" dirty="0"/>
          </a:p>
          <a:p>
            <a:pPr lvl="1"/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__()</a:t>
            </a:r>
            <a:r>
              <a:rPr lang="zh-CN" altLang="en-US" dirty="0"/>
              <a:t>的第一个参数永远是</a:t>
            </a:r>
            <a:r>
              <a:rPr lang="en-US" altLang="zh-CN" dirty="0">
                <a:solidFill>
                  <a:srgbClr val="FF0000"/>
                </a:solidFill>
              </a:rPr>
              <a:t>self</a:t>
            </a:r>
            <a:r>
              <a:rPr lang="zh-CN" altLang="en-US" dirty="0"/>
              <a:t>，表示创建的实例本身。因此，在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__()</a:t>
            </a:r>
            <a:r>
              <a:rPr lang="zh-CN" altLang="en-US" dirty="0"/>
              <a:t>内部，就可把各种属性绑定到</a:t>
            </a:r>
            <a:r>
              <a:rPr lang="en-US" altLang="zh-CN" dirty="0"/>
              <a:t>self</a:t>
            </a:r>
            <a:r>
              <a:rPr lang="zh-CN" altLang="en-US" dirty="0"/>
              <a:t>，因为</a:t>
            </a:r>
            <a:r>
              <a:rPr lang="en-US" altLang="zh-CN" dirty="0"/>
              <a:t>self</a:t>
            </a:r>
            <a:r>
              <a:rPr lang="zh-CN" altLang="en-US" dirty="0"/>
              <a:t>就指向创建的实例本身。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B247D18-A61F-744E-8ABA-AD40731DD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类和实例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CB7D576-1E09-5E46-8C7F-4E5C8313E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414" y="3353373"/>
            <a:ext cx="3806190" cy="129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10963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24FCE8-7C98-2F48-B0F8-CA1960296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有了</a:t>
            </a:r>
            <a:r>
              <a:rPr kumimoji="1" lang="en-US" altLang="zh-CN" dirty="0"/>
              <a:t>__</a:t>
            </a:r>
            <a:r>
              <a:rPr kumimoji="1" lang="en" altLang="zh-CN" dirty="0" err="1"/>
              <a:t>init</a:t>
            </a:r>
            <a:r>
              <a:rPr kumimoji="1" lang="en" altLang="zh-CN" dirty="0"/>
              <a:t>__()</a:t>
            </a:r>
            <a:r>
              <a:rPr kumimoji="1" lang="zh-CN" altLang="en" dirty="0"/>
              <a:t>，</a:t>
            </a:r>
            <a:r>
              <a:rPr kumimoji="1" lang="zh-CN" altLang="en-US" dirty="0"/>
              <a:t>在创建实例时，就不能传入空的参数了，必须传入与</a:t>
            </a:r>
            <a:r>
              <a:rPr kumimoji="1" lang="en-US" altLang="zh-CN" dirty="0"/>
              <a:t>__</a:t>
            </a:r>
            <a:r>
              <a:rPr kumimoji="1" lang="en" altLang="zh-CN" dirty="0" err="1"/>
              <a:t>init</a:t>
            </a:r>
            <a:r>
              <a:rPr kumimoji="1" lang="en" altLang="zh-CN" dirty="0"/>
              <a:t>__()</a:t>
            </a:r>
            <a:r>
              <a:rPr kumimoji="1" lang="zh-CN" altLang="en-US" dirty="0"/>
              <a:t>相匹配的参数，但</a:t>
            </a:r>
            <a:r>
              <a:rPr kumimoji="1" lang="en" altLang="zh-CN" dirty="0"/>
              <a:t>self</a:t>
            </a:r>
            <a:r>
              <a:rPr kumimoji="1" lang="zh-CN" altLang="en-US" dirty="0"/>
              <a:t>不需要传，</a:t>
            </a:r>
            <a:r>
              <a:rPr kumimoji="1" lang="en" altLang="zh-CN" dirty="0"/>
              <a:t>Python </a:t>
            </a:r>
            <a:r>
              <a:rPr kumimoji="1" lang="zh-CN" altLang="en-US" dirty="0"/>
              <a:t>解释器自己会把实例变量传进去。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01DB5BD-A422-394A-AC01-E10198C2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类和实例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D95E48A-148D-154D-940C-D03D37AB0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50" y="1997479"/>
            <a:ext cx="51181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68071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24FCE8-7C98-2F48-B0F8-CA1960296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有了</a:t>
            </a:r>
            <a:r>
              <a:rPr kumimoji="1" lang="en-US" altLang="zh-CN" dirty="0"/>
              <a:t>__</a:t>
            </a:r>
            <a:r>
              <a:rPr kumimoji="1" lang="en" altLang="zh-CN" dirty="0" err="1"/>
              <a:t>init</a:t>
            </a:r>
            <a:r>
              <a:rPr kumimoji="1" lang="en" altLang="zh-CN" dirty="0"/>
              <a:t>__()</a:t>
            </a:r>
            <a:r>
              <a:rPr kumimoji="1" lang="zh-CN" altLang="en" dirty="0"/>
              <a:t>，</a:t>
            </a:r>
            <a:r>
              <a:rPr kumimoji="1" lang="zh-CN" altLang="en-US" dirty="0"/>
              <a:t>在创建实例时，就不能传入空的参数了，必须传入与</a:t>
            </a:r>
            <a:r>
              <a:rPr kumimoji="1" lang="en-US" altLang="zh-CN" dirty="0"/>
              <a:t>__</a:t>
            </a:r>
            <a:r>
              <a:rPr kumimoji="1" lang="en" altLang="zh-CN" dirty="0" err="1"/>
              <a:t>init</a:t>
            </a:r>
            <a:r>
              <a:rPr kumimoji="1" lang="en" altLang="zh-CN" dirty="0"/>
              <a:t>__()</a:t>
            </a:r>
            <a:r>
              <a:rPr kumimoji="1" lang="zh-CN" altLang="en-US" dirty="0"/>
              <a:t>相匹配的参数，但</a:t>
            </a:r>
            <a:r>
              <a:rPr kumimoji="1" lang="en" altLang="zh-CN" dirty="0"/>
              <a:t>self</a:t>
            </a:r>
            <a:r>
              <a:rPr kumimoji="1" lang="zh-CN" altLang="en-US" dirty="0"/>
              <a:t>不需要传，</a:t>
            </a:r>
            <a:r>
              <a:rPr kumimoji="1" lang="en" altLang="zh-CN" dirty="0"/>
              <a:t>Python </a:t>
            </a:r>
            <a:r>
              <a:rPr kumimoji="1" lang="zh-CN" altLang="en-US" dirty="0"/>
              <a:t>解释器自己会把实例变量传进去。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5F7E15-9273-9E44-AD11-85B368BCA48B}"/>
              </a:ext>
            </a:extLst>
          </p:cNvPr>
          <p:cNvSpPr/>
          <p:nvPr/>
        </p:nvSpPr>
        <p:spPr>
          <a:xfrm>
            <a:off x="1066567" y="3528236"/>
            <a:ext cx="717605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和普通的函数相比，在类中定义的函数只有一点不同，就是第一个参数永远是实例变量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self</a:t>
            </a:r>
            <a:r>
              <a:rPr lang="zh-CN" altLang="e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并且调用时，</a:t>
            </a:r>
            <a:r>
              <a:rPr lang="zh-CN" altLang="en-US" sz="1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不用传递该参数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。除此之外，类的方法和普通函数没有显著区别，所以，仍然可以用默认参数、可变参数、关键字参数和命名关键字参数。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D117A6C-A20D-B245-8BF6-4D6893C7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类和实例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32CB32-3B45-3F4D-B13B-3DB68E93E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50" y="1847850"/>
            <a:ext cx="51181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63056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85427" y="1091178"/>
            <a:ext cx="1454244" cy="1289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类和实例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数据封装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访问限制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09594" y="207944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93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24FCE8-7C98-2F48-B0F8-CA1960296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248189"/>
          </a:xfrm>
        </p:spPr>
        <p:txBody>
          <a:bodyPr/>
          <a:lstStyle/>
          <a:p>
            <a:r>
              <a:rPr kumimoji="1" lang="en" altLang="zh-CN" dirty="0"/>
              <a:t>OOP </a:t>
            </a:r>
            <a:r>
              <a:rPr kumimoji="1" lang="zh-CN" altLang="en-US" dirty="0"/>
              <a:t>的一个重要特点就是</a:t>
            </a:r>
            <a:r>
              <a:rPr kumimoji="1" lang="zh-CN" altLang="en-US" dirty="0">
                <a:solidFill>
                  <a:srgbClr val="C00000"/>
                </a:solidFill>
              </a:rPr>
              <a:t>数据封装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lvl="1"/>
            <a:r>
              <a:rPr lang="en" altLang="zh-CN" dirty="0"/>
              <a:t>Student</a:t>
            </a:r>
            <a:r>
              <a:rPr lang="zh-CN" altLang="en-US" dirty="0"/>
              <a:t>类中，每个实例拥有各自的</a:t>
            </a:r>
            <a:r>
              <a:rPr lang="en" altLang="zh-CN" dirty="0"/>
              <a:t>name</a:t>
            </a:r>
            <a:r>
              <a:rPr lang="zh-CN" altLang="en-US" dirty="0"/>
              <a:t>和</a:t>
            </a:r>
            <a:r>
              <a:rPr lang="en" altLang="zh-CN" dirty="0"/>
              <a:t>score</a:t>
            </a:r>
            <a:r>
              <a:rPr lang="zh-CN" altLang="en-US" dirty="0"/>
              <a:t>数据</a:t>
            </a:r>
            <a:endParaRPr lang="en-US" altLang="zh-CN" dirty="0"/>
          </a:p>
          <a:p>
            <a:pPr lvl="1"/>
            <a:r>
              <a:rPr lang="zh-CN" altLang="en-US" dirty="0"/>
              <a:t>可以通过函数来访问实例的数据，如打印某个学生的成绩</a:t>
            </a:r>
          </a:p>
          <a:p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数据封装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F0B83F-B743-624B-BAC4-FFC8DFFBB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92" y="2334339"/>
            <a:ext cx="7179408" cy="181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33030"/>
      </p:ext>
    </p:extLst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24FCE8-7C98-2F48-B0F8-CA1960296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001001" cy="2063198"/>
          </a:xfrm>
        </p:spPr>
        <p:txBody>
          <a:bodyPr>
            <a:normAutofit/>
          </a:bodyPr>
          <a:lstStyle/>
          <a:p>
            <a:r>
              <a:rPr lang="en-US" altLang="zh-CN" dirty="0"/>
              <a:t>Student </a:t>
            </a:r>
            <a:r>
              <a:rPr lang="zh-CN" altLang="en-US" dirty="0"/>
              <a:t>的实例本身就拥有这些数据，故要访问它们，可以直接在</a:t>
            </a:r>
            <a:r>
              <a:rPr lang="en-US" altLang="zh-CN" dirty="0"/>
              <a:t>Student </a:t>
            </a:r>
            <a:r>
              <a:rPr lang="zh-CN" altLang="en-US" dirty="0"/>
              <a:t>类的内部定义访问数据的函数，进而把“数据”封装。</a:t>
            </a:r>
            <a:endParaRPr lang="en-US" altLang="zh-CN" dirty="0"/>
          </a:p>
          <a:p>
            <a:r>
              <a:rPr lang="zh-CN" altLang="en-US" dirty="0"/>
              <a:t>封装数据的函数是和</a:t>
            </a:r>
            <a:r>
              <a:rPr lang="en" altLang="zh-CN" dirty="0"/>
              <a:t>Student</a:t>
            </a:r>
            <a:r>
              <a:rPr lang="zh-CN" altLang="en-US" dirty="0"/>
              <a:t>类本身是关联起来的，我们称之为</a:t>
            </a:r>
            <a:r>
              <a:rPr lang="zh-CN" altLang="en-US" dirty="0">
                <a:solidFill>
                  <a:srgbClr val="C00000"/>
                </a:solidFill>
              </a:rPr>
              <a:t>类的方法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数据封装</a:t>
            </a:r>
          </a:p>
        </p:txBody>
      </p:sp>
    </p:spTree>
    <p:extLst>
      <p:ext uri="{BB962C8B-B14F-4D97-AF65-F5344CB8AC3E}">
        <p14:creationId xmlns:p14="http://schemas.microsoft.com/office/powerpoint/2010/main" val="2540287681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24FCE8-7C98-2F48-B0F8-CA1960296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001001" cy="2063198"/>
          </a:xfrm>
        </p:spPr>
        <p:txBody>
          <a:bodyPr>
            <a:normAutofit/>
          </a:bodyPr>
          <a:lstStyle/>
          <a:p>
            <a:r>
              <a:rPr lang="en-US" altLang="zh-CN" dirty="0"/>
              <a:t>Student </a:t>
            </a:r>
            <a:r>
              <a:rPr lang="zh-CN" altLang="en-US" dirty="0"/>
              <a:t>的实例本身就拥有这些数据，故要访问它们，可以直接在</a:t>
            </a:r>
            <a:r>
              <a:rPr lang="en-US" altLang="zh-CN" dirty="0"/>
              <a:t>Student </a:t>
            </a:r>
            <a:r>
              <a:rPr lang="zh-CN" altLang="en-US" dirty="0"/>
              <a:t>类的内部定义访问数据的函数，进而把“数据”封装。</a:t>
            </a:r>
            <a:endParaRPr lang="en-US" altLang="zh-CN" dirty="0"/>
          </a:p>
          <a:p>
            <a:r>
              <a:rPr lang="zh-CN" altLang="en-US" dirty="0"/>
              <a:t>封装数据的函数是和</a:t>
            </a:r>
            <a:r>
              <a:rPr lang="en" altLang="zh-CN" dirty="0"/>
              <a:t>Student</a:t>
            </a:r>
            <a:r>
              <a:rPr lang="zh-CN" altLang="en-US" dirty="0"/>
              <a:t>类本身是关联起来的，我们称之为</a:t>
            </a:r>
            <a:r>
              <a:rPr lang="zh-CN" altLang="en-US" dirty="0">
                <a:solidFill>
                  <a:srgbClr val="C00000"/>
                </a:solidFill>
              </a:rPr>
              <a:t>类的方法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数据封装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2B2A0E-384B-004E-AC53-49D733FFF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489" y="2255818"/>
            <a:ext cx="6715589" cy="238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29682"/>
      </p:ext>
    </p:extLst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24FCE8-7C98-2F48-B0F8-CA1960296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001001" cy="2063198"/>
          </a:xfrm>
        </p:spPr>
        <p:txBody>
          <a:bodyPr>
            <a:normAutofit/>
          </a:bodyPr>
          <a:lstStyle/>
          <a:p>
            <a:r>
              <a:rPr lang="en-US" altLang="zh-CN" dirty="0"/>
              <a:t>Student </a:t>
            </a:r>
            <a:r>
              <a:rPr lang="zh-CN" altLang="en-US" dirty="0"/>
              <a:t>的实例本身就拥有这些数据，故要访问它们，可以直接在</a:t>
            </a:r>
            <a:r>
              <a:rPr lang="en-US" altLang="zh-CN" dirty="0"/>
              <a:t>Student </a:t>
            </a:r>
            <a:r>
              <a:rPr lang="zh-CN" altLang="en-US" dirty="0"/>
              <a:t>类的内部定义访问数据的函数，进而把“数据”封装。</a:t>
            </a:r>
            <a:endParaRPr lang="en-US" altLang="zh-CN" dirty="0"/>
          </a:p>
          <a:p>
            <a:r>
              <a:rPr lang="zh-CN" altLang="en-US" dirty="0"/>
              <a:t>封装数据的函数是和</a:t>
            </a:r>
            <a:r>
              <a:rPr lang="en" altLang="zh-CN" dirty="0"/>
              <a:t>Student</a:t>
            </a:r>
            <a:r>
              <a:rPr lang="zh-CN" altLang="en-US" dirty="0"/>
              <a:t>类本身是关联起来的，我们称之为</a:t>
            </a:r>
            <a:r>
              <a:rPr lang="zh-CN" altLang="en-US" dirty="0">
                <a:solidFill>
                  <a:srgbClr val="C00000"/>
                </a:solidFill>
              </a:rPr>
              <a:t>类的方法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数据封装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00E4AF-2B84-D646-B508-9F9EF1883B87}"/>
              </a:ext>
            </a:extLst>
          </p:cNvPr>
          <p:cNvSpPr/>
          <p:nvPr/>
        </p:nvSpPr>
        <p:spPr>
          <a:xfrm>
            <a:off x="1103243" y="4155073"/>
            <a:ext cx="71760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我们发现，要定义一个方法，除了第一个参数是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self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外，其他和普通函数一样。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33EF299-DD1A-F545-BFEC-B3343F746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096" y="2166795"/>
            <a:ext cx="4681220" cy="165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70830"/>
      </p:ext>
    </p:extLst>
  </p:cSld>
  <p:clrMapOvr>
    <a:masterClrMapping/>
  </p:clrMapOvr>
  <p:transition spd="slow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D006C-6656-B9DE-3DA8-472CDEC4D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473E9C-2756-8B48-A46C-94EA8FF61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Class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str(xxx):</a:t>
            </a:r>
          </a:p>
          <a:p>
            <a:pPr lvl="1"/>
            <a:endParaRPr kumimoji="1" lang="en-US" altLang="zh-CN" dirty="0"/>
          </a:p>
          <a:p>
            <a:pPr lvl="1"/>
            <a:r>
              <a:rPr kumimoji="1" lang="en-US" altLang="zh-CN" dirty="0"/>
              <a:t>def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replace(self,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src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tgt</a:t>
            </a:r>
            <a:r>
              <a:rPr kumimoji="1" lang="en-US" altLang="zh-CN" dirty="0"/>
              <a:t>):</a:t>
            </a:r>
          </a:p>
          <a:p>
            <a:pPr lvl="1"/>
            <a:endParaRPr kumimoji="1" lang="en-US" altLang="zh-CN" dirty="0"/>
          </a:p>
          <a:p>
            <a:pPr lvl="1"/>
            <a:r>
              <a:rPr kumimoji="1" lang="en-US" altLang="zh-CN" dirty="0"/>
              <a:t>def</a:t>
            </a:r>
            <a:r>
              <a:rPr kumimoji="1" lang="zh-CN" altLang="en-US" dirty="0"/>
              <a:t> </a:t>
            </a:r>
            <a:r>
              <a:rPr kumimoji="1" lang="en-US" altLang="zh-CN" dirty="0"/>
              <a:t>join(self,</a:t>
            </a:r>
            <a:r>
              <a:rPr kumimoji="1" lang="zh-CN" altLang="en-US" dirty="0"/>
              <a:t> </a:t>
            </a:r>
            <a:r>
              <a:rPr kumimoji="1" lang="en-US" altLang="zh-CN" dirty="0"/>
              <a:t>[])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2958002"/>
      </p:ext>
    </p:ext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数据封装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CFFB726-14CB-BC42-90D5-5C2D1E940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001001" cy="2391189"/>
          </a:xfrm>
        </p:spPr>
        <p:txBody>
          <a:bodyPr>
            <a:normAutofit/>
          </a:bodyPr>
          <a:lstStyle/>
          <a:p>
            <a:r>
              <a:rPr lang="zh-CN" altLang="en-US" dirty="0"/>
              <a:t>要调用一个方法，只需要在实例变量上直接调用即可。除了</a:t>
            </a:r>
            <a:r>
              <a:rPr lang="en-US" altLang="zh-CN" dirty="0"/>
              <a:t>self</a:t>
            </a:r>
            <a:r>
              <a:rPr lang="zh-CN" altLang="en-US" dirty="0"/>
              <a:t>不用传递，其他参数正常传入。</a:t>
            </a:r>
            <a:endParaRPr lang="en-US" altLang="zh-CN" dirty="0"/>
          </a:p>
          <a:p>
            <a:pPr lvl="1"/>
            <a:r>
              <a:rPr lang="zh-CN" altLang="en-US" dirty="0"/>
              <a:t>从调用方来看</a:t>
            </a:r>
            <a:r>
              <a:rPr lang="en-US" altLang="zh-CN" dirty="0"/>
              <a:t>Student </a:t>
            </a:r>
            <a:r>
              <a:rPr lang="zh-CN" altLang="en-US" dirty="0"/>
              <a:t>类，只需在创建实例时给定</a:t>
            </a:r>
            <a:r>
              <a:rPr lang="en-US" altLang="zh-CN" dirty="0"/>
              <a:t>name</a:t>
            </a:r>
            <a:r>
              <a:rPr lang="zh-CN" altLang="en-US" dirty="0"/>
              <a:t>和</a:t>
            </a:r>
            <a:r>
              <a:rPr lang="en-US" altLang="zh-CN" dirty="0"/>
              <a:t>score</a:t>
            </a:r>
          </a:p>
          <a:p>
            <a:pPr lvl="1"/>
            <a:r>
              <a:rPr lang="en-US" altLang="zh-CN" dirty="0"/>
              <a:t>score</a:t>
            </a:r>
            <a:r>
              <a:rPr lang="zh-CN" altLang="en-US" dirty="0"/>
              <a:t>打印会在</a:t>
            </a:r>
            <a:r>
              <a:rPr lang="en-US" altLang="zh-CN" dirty="0"/>
              <a:t>Student </a:t>
            </a:r>
            <a:r>
              <a:rPr lang="zh-CN" altLang="en-US" dirty="0"/>
              <a:t>类的内部实现。这些数据和逻辑被</a:t>
            </a:r>
            <a:r>
              <a:rPr lang="en-US" altLang="zh-CN" dirty="0"/>
              <a:t>『</a:t>
            </a:r>
            <a:r>
              <a:rPr lang="zh-CN" altLang="en-US" dirty="0"/>
              <a:t>封装</a:t>
            </a:r>
            <a:r>
              <a:rPr lang="en-US" altLang="zh-CN" dirty="0"/>
              <a:t>』</a:t>
            </a:r>
            <a:r>
              <a:rPr lang="zh-CN" altLang="en-US" dirty="0"/>
              <a:t>起来，调用会变得容易。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3715FE-2365-0D4E-B726-524F0E7A6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7" y="2767246"/>
            <a:ext cx="8482436" cy="119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72810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5C2B8EA-37B2-F644-9720-74837BE7A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635" y="1417619"/>
            <a:ext cx="4804837" cy="2780421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数据封装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CFFB726-14CB-BC42-90D5-5C2D1E940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001001" cy="2391189"/>
          </a:xfrm>
        </p:spPr>
        <p:txBody>
          <a:bodyPr>
            <a:normAutofit/>
          </a:bodyPr>
          <a:lstStyle/>
          <a:p>
            <a:r>
              <a:rPr lang="zh-CN" altLang="en-US" dirty="0"/>
              <a:t>通过封装，可以给</a:t>
            </a:r>
            <a:r>
              <a:rPr lang="en-US" altLang="zh-CN" dirty="0"/>
              <a:t>class</a:t>
            </a:r>
            <a:r>
              <a:rPr lang="zh-CN" altLang="en-US" dirty="0"/>
              <a:t>增加新的方法。</a:t>
            </a:r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12E2BE-1DBE-6E44-A091-E2C4116E32A4}"/>
              </a:ext>
            </a:extLst>
          </p:cNvPr>
          <p:cNvSpPr/>
          <p:nvPr/>
        </p:nvSpPr>
        <p:spPr>
          <a:xfrm>
            <a:off x="1875056" y="2982981"/>
            <a:ext cx="3342987" cy="12150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0758001"/>
      </p:ext>
    </p:extLst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85427" y="1091178"/>
            <a:ext cx="1454244" cy="1289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类和实例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数据封装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访问限制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09594" y="207944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24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访问限制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CFFB726-14CB-BC42-90D5-5C2D1E940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001001" cy="1752599"/>
          </a:xfr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class</a:t>
            </a:r>
            <a:r>
              <a:rPr lang="zh-CN" altLang="en-US" dirty="0"/>
              <a:t>内部，可以有属性和方法，而外部代码可以通过直接调用实例变量的方法来操作数据，从而隐藏了内部的复杂逻辑。</a:t>
            </a:r>
            <a:endParaRPr lang="en-US" altLang="zh-CN" dirty="0"/>
          </a:p>
          <a:p>
            <a:pPr lvl="1"/>
            <a:r>
              <a:rPr lang="zh-CN" altLang="en-US" dirty="0"/>
              <a:t>从示例</a:t>
            </a:r>
            <a:r>
              <a:rPr lang="en-US" altLang="zh-CN" dirty="0"/>
              <a:t>Student</a:t>
            </a:r>
            <a:r>
              <a:rPr lang="zh-CN" altLang="en-US" dirty="0"/>
              <a:t>类的定义来看，外部代码可以修改一个实例的属性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A386749-9A4B-2242-9ABC-290AF9DCA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64" y="2270116"/>
            <a:ext cx="8610504" cy="195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99074"/>
      </p:ext>
    </p:extLst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访问限制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CFFB726-14CB-BC42-90D5-5C2D1E940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001001" cy="3106807"/>
          </a:xfr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class</a:t>
            </a:r>
            <a:r>
              <a:rPr lang="zh-CN" altLang="en-US" dirty="0"/>
              <a:t>内部，可以有属性和方法，而外部代码可以通过直接调用实例变量的方法来操作数据，从而隐藏了内部的复杂逻辑。</a:t>
            </a:r>
            <a:endParaRPr lang="en-US" altLang="zh-CN" dirty="0"/>
          </a:p>
          <a:p>
            <a:pPr lvl="1"/>
            <a:r>
              <a:rPr lang="zh-CN" altLang="en-US" dirty="0"/>
              <a:t>从示例</a:t>
            </a:r>
            <a:r>
              <a:rPr lang="en-US" altLang="zh-CN" dirty="0"/>
              <a:t>Student</a:t>
            </a:r>
            <a:r>
              <a:rPr lang="zh-CN" altLang="en-US" dirty="0"/>
              <a:t>类的定义来看，外部代码可以修改一个实例的属性</a:t>
            </a:r>
            <a:endParaRPr lang="en-US" altLang="zh-CN" dirty="0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为了让</a:t>
            </a:r>
            <a:r>
              <a:rPr lang="zh-CN" altLang="en-US" dirty="0">
                <a:solidFill>
                  <a:srgbClr val="FF0000"/>
                </a:solidFill>
              </a:rPr>
              <a:t>内部属性不被外部访问，可以把属性的名称前加上两个下划线</a:t>
            </a:r>
            <a:r>
              <a:rPr lang="en-US" altLang="zh-CN" dirty="0">
                <a:solidFill>
                  <a:srgbClr val="FF0000"/>
                </a:solidFill>
              </a:rPr>
              <a:t>__</a:t>
            </a:r>
            <a:r>
              <a:rPr lang="zh-CN" altLang="en-US" dirty="0">
                <a:solidFill>
                  <a:srgbClr val="FF0000"/>
                </a:solidFill>
              </a:rPr>
              <a:t>，使其变为一个私有变量</a:t>
            </a:r>
            <a:r>
              <a:rPr lang="en-US" altLang="zh-CN" dirty="0">
                <a:solidFill>
                  <a:srgbClr val="FF0000"/>
                </a:solidFill>
              </a:rPr>
              <a:t>(private)</a:t>
            </a:r>
            <a:r>
              <a:rPr lang="zh-CN" altLang="en-US" dirty="0">
                <a:solidFill>
                  <a:srgbClr val="FF0000"/>
                </a:solidFill>
              </a:rPr>
              <a:t>，未加下划线则为公有变量</a:t>
            </a:r>
            <a:r>
              <a:rPr lang="en-US" altLang="zh-CN" dirty="0">
                <a:solidFill>
                  <a:srgbClr val="FF0000"/>
                </a:solidFill>
              </a:rPr>
              <a:t>(public)</a:t>
            </a:r>
          </a:p>
          <a:p>
            <a:pPr lvl="1"/>
            <a:r>
              <a:rPr lang="zh-CN" altLang="en-US" dirty="0"/>
              <a:t>私有变量只有内部可以访问，外部不能访问；</a:t>
            </a:r>
            <a:endParaRPr lang="en-US" altLang="zh-CN" dirty="0"/>
          </a:p>
          <a:p>
            <a:pPr lvl="1"/>
            <a:r>
              <a:rPr lang="zh-CN" altLang="en-US" dirty="0"/>
              <a:t>公有变量内部、外部皆可以访问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0729618"/>
      </p:ext>
    </p:extLst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4A29C08-C700-9040-83B9-CC006726D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06" y="998604"/>
            <a:ext cx="6607019" cy="3639898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访问限制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0359FCAA-EC53-CA4A-9179-2E5CF8098E1D}"/>
              </a:ext>
            </a:extLst>
          </p:cNvPr>
          <p:cNvCxnSpPr>
            <a:cxnSpLocks/>
          </p:cNvCxnSpPr>
          <p:nvPr/>
        </p:nvCxnSpPr>
        <p:spPr>
          <a:xfrm flipV="1">
            <a:off x="662466" y="3128052"/>
            <a:ext cx="795131" cy="1804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078F9851-1A6D-E645-840D-3F58CBCC138E}"/>
              </a:ext>
            </a:extLst>
          </p:cNvPr>
          <p:cNvCxnSpPr>
            <a:cxnSpLocks/>
          </p:cNvCxnSpPr>
          <p:nvPr/>
        </p:nvCxnSpPr>
        <p:spPr>
          <a:xfrm flipV="1">
            <a:off x="659575" y="4054689"/>
            <a:ext cx="795131" cy="1804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B3308CA6-3140-914F-8D7E-66EA4250923E}"/>
              </a:ext>
            </a:extLst>
          </p:cNvPr>
          <p:cNvSpPr/>
          <p:nvPr/>
        </p:nvSpPr>
        <p:spPr>
          <a:xfrm>
            <a:off x="1454706" y="3308465"/>
            <a:ext cx="5860494" cy="12635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0930604"/>
      </p:ext>
    </p:extLst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967F81-CA20-2B4D-9CCB-1EB9438AD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617" y="2753045"/>
            <a:ext cx="5348496" cy="1412811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访问限制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64A859-EBDF-804C-9DFA-28E2D5E51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617" y="1130808"/>
            <a:ext cx="5348496" cy="1365951"/>
          </a:xfrm>
          <a:prstGeom prst="rect">
            <a:avLst/>
          </a:prstGeom>
        </p:spPr>
      </p:pic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5D7A9A5-E79A-1F42-BCB3-26953E653335}"/>
              </a:ext>
            </a:extLst>
          </p:cNvPr>
          <p:cNvCxnSpPr>
            <a:cxnSpLocks/>
          </p:cNvCxnSpPr>
          <p:nvPr/>
        </p:nvCxnSpPr>
        <p:spPr>
          <a:xfrm flipV="1">
            <a:off x="1022486" y="4027008"/>
            <a:ext cx="795131" cy="1804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0631EFF5-5E70-E94E-B618-990F00DADBD0}"/>
              </a:ext>
            </a:extLst>
          </p:cNvPr>
          <p:cNvSpPr/>
          <p:nvPr/>
        </p:nvSpPr>
        <p:spPr>
          <a:xfrm>
            <a:off x="1817617" y="3899930"/>
            <a:ext cx="1879740" cy="1755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0346934"/>
      </p:ext>
    </p:extLst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访问限制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373748A-D57F-0144-A0E7-AD6D19F2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001001" cy="1596059"/>
          </a:xfrm>
        </p:spPr>
        <p:txBody>
          <a:bodyPr>
            <a:normAutofit/>
          </a:bodyPr>
          <a:lstStyle/>
          <a:p>
            <a:r>
              <a:rPr lang="zh-CN" altLang="en-US" dirty="0"/>
              <a:t>通过引入私有变量，可以确保外部代码不能随意修改对象内部的状态。即，通过访问限制的保护，使得代码更加健壮。</a:t>
            </a:r>
            <a:endParaRPr lang="en-US" altLang="zh-CN" dirty="0"/>
          </a:p>
          <a:p>
            <a:r>
              <a:rPr lang="zh-CN" altLang="en-US" dirty="0"/>
              <a:t>如果外部代码想访问、修改私有变量，可通过增加</a:t>
            </a:r>
            <a:r>
              <a:rPr lang="zh-CN" altLang="en-US" dirty="0">
                <a:solidFill>
                  <a:srgbClr val="C00000"/>
                </a:solidFill>
              </a:rPr>
              <a:t>类的方法</a:t>
            </a:r>
            <a:r>
              <a:rPr lang="zh-CN" altLang="en-US" dirty="0"/>
              <a:t>进行实现。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AA428E-6DB7-934D-9628-5222AD5AE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769" y="2415209"/>
            <a:ext cx="5716141" cy="20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19602"/>
      </p:ext>
    </p:extLst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访问限制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819F03-DD09-634B-BD10-C69D10E4EF6A}"/>
              </a:ext>
            </a:extLst>
          </p:cNvPr>
          <p:cNvSpPr/>
          <p:nvPr/>
        </p:nvSpPr>
        <p:spPr>
          <a:xfrm>
            <a:off x="904461" y="955068"/>
            <a:ext cx="7056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那么，类的方法会比直接通过外部访问</a:t>
            </a:r>
            <a:r>
              <a:rPr lang="en-US" altLang="zh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修改有什么优势呢？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BC65E53-7865-B047-9B68-EA843A532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782" y="1751198"/>
            <a:ext cx="6172201" cy="164110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FCAB104-2FA3-4E4F-A097-8D71DBE8B54F}"/>
              </a:ext>
            </a:extLst>
          </p:cNvPr>
          <p:cNvSpPr/>
          <p:nvPr/>
        </p:nvSpPr>
        <p:spPr>
          <a:xfrm>
            <a:off x="904461" y="3855591"/>
            <a:ext cx="7056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在类的方法中，可以对参数做相关的检查，避免出现异常错误。</a:t>
            </a:r>
          </a:p>
        </p:txBody>
      </p:sp>
    </p:spTree>
    <p:extLst>
      <p:ext uri="{BB962C8B-B14F-4D97-AF65-F5344CB8AC3E}">
        <p14:creationId xmlns:p14="http://schemas.microsoft.com/office/powerpoint/2010/main" val="468132223"/>
      </p:ext>
    </p:extLst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访问限制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373748A-D57F-0144-A0E7-AD6D19F2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001001" cy="3603763"/>
          </a:xfrm>
        </p:spPr>
        <p:txBody>
          <a:bodyPr>
            <a:normAutofit/>
          </a:bodyPr>
          <a:lstStyle/>
          <a:p>
            <a:r>
              <a:rPr lang="zh-CN" altLang="en-US" dirty="0"/>
              <a:t>注意：</a:t>
            </a:r>
            <a:endParaRPr lang="en-US" altLang="zh-CN" dirty="0"/>
          </a:p>
          <a:p>
            <a:pPr lvl="1"/>
            <a:r>
              <a:rPr lang="zh-CN" altLang="en-US" dirty="0"/>
              <a:t>类似于</a:t>
            </a:r>
            <a:r>
              <a:rPr lang="en-US" altLang="zh-CN" dirty="0"/>
              <a:t>__xxx</a:t>
            </a:r>
            <a:r>
              <a:rPr lang="zh-CN" altLang="en-US" dirty="0"/>
              <a:t>的变量是</a:t>
            </a:r>
            <a:r>
              <a:rPr lang="en-US" altLang="zh-CN" dirty="0"/>
              <a:t>private</a:t>
            </a:r>
            <a:r>
              <a:rPr lang="zh-CN" altLang="en-US" dirty="0"/>
              <a:t>变量，外部代码不能直接访问。</a:t>
            </a:r>
            <a:endParaRPr lang="en-US" altLang="zh-CN" dirty="0"/>
          </a:p>
          <a:p>
            <a:pPr lvl="1"/>
            <a:r>
              <a:rPr lang="zh-CN" altLang="en-US" dirty="0"/>
              <a:t>类似于</a:t>
            </a:r>
            <a:r>
              <a:rPr lang="en-US" altLang="zh-CN" dirty="0"/>
              <a:t>_xxx</a:t>
            </a:r>
            <a:r>
              <a:rPr lang="zh-CN" altLang="en-US" dirty="0"/>
              <a:t>的变量允许外部代码访问，但按照约定俗成的规定，当你看到这样的变量时，意思就是，“虽然我可以被访问，但请把我视为</a:t>
            </a:r>
            <a:r>
              <a:rPr lang="en-US" altLang="zh-CN" dirty="0"/>
              <a:t>private </a:t>
            </a:r>
            <a:r>
              <a:rPr lang="zh-CN" altLang="en-US" dirty="0"/>
              <a:t>变量，不要随意访问”</a:t>
            </a:r>
            <a:endParaRPr lang="en-US" altLang="zh-CN" dirty="0"/>
          </a:p>
          <a:p>
            <a:pPr lvl="1"/>
            <a:r>
              <a:rPr lang="zh-CN" altLang="en-US" dirty="0"/>
              <a:t>类似于</a:t>
            </a:r>
            <a:r>
              <a:rPr lang="en-US" altLang="zh-CN" dirty="0"/>
              <a:t>__</a:t>
            </a:r>
            <a:r>
              <a:rPr lang="en" altLang="zh-CN" dirty="0"/>
              <a:t>xxx__</a:t>
            </a:r>
            <a:r>
              <a:rPr lang="zh-CN" altLang="en-US" dirty="0"/>
              <a:t>的变量是特殊变量，不是</a:t>
            </a:r>
            <a:r>
              <a:rPr lang="en" altLang="zh-CN" dirty="0"/>
              <a:t>private </a:t>
            </a:r>
            <a:r>
              <a:rPr lang="zh-CN" altLang="en-US" dirty="0"/>
              <a:t>变量，外部代码可直接访问。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40539134"/>
      </p:ext>
    </p:extLst>
  </p:cSld>
  <p:clrMapOvr>
    <a:masterClrMapping/>
  </p:clrMapOvr>
  <p:transition spd="slow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9D181-93FE-C722-D470-F38E1C3A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66B206-23B0-5F0C-541C-9026F5D93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Class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rec{</a:t>
            </a:r>
          </a:p>
          <a:p>
            <a:pPr lvl="1"/>
            <a:r>
              <a:rPr kumimoji="1" lang="en-US" altLang="zh-CN" dirty="0"/>
              <a:t>Private:</a:t>
            </a:r>
          </a:p>
          <a:p>
            <a:pPr lvl="2"/>
            <a:r>
              <a:rPr kumimoji="1" lang="en-US" altLang="zh-CN" dirty="0"/>
              <a:t>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x;</a:t>
            </a:r>
          </a:p>
          <a:p>
            <a:pPr lvl="2"/>
            <a:r>
              <a:rPr kumimoji="1" lang="en-US" altLang="zh-CN" dirty="0"/>
              <a:t>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y;</a:t>
            </a:r>
          </a:p>
          <a:p>
            <a:r>
              <a:rPr kumimoji="1"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8972344"/>
      </p:ext>
    </p:extLst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6CC9094-4A66-CD4F-8CB1-ECFFF7E6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访问限制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373748A-D57F-0144-A0E7-AD6D19F2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001001" cy="701537"/>
          </a:xfrm>
        </p:spPr>
        <p:txBody>
          <a:bodyPr>
            <a:normAutofit/>
          </a:bodyPr>
          <a:lstStyle/>
          <a:p>
            <a:r>
              <a:rPr lang="zh-CN" altLang="en-US" dirty="0"/>
              <a:t>再回来分析这个示例：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CFF60C-DC66-E740-B85B-033EB5E6C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752" y="1444344"/>
            <a:ext cx="5348496" cy="119449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4D6873C-127D-274C-9061-8D69E1E35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752" y="2840613"/>
            <a:ext cx="5348496" cy="846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C8CC3F4-D161-E941-A4DC-E70DAFA3D7F5}"/>
              </a:ext>
            </a:extLst>
          </p:cNvPr>
          <p:cNvSpPr/>
          <p:nvPr/>
        </p:nvSpPr>
        <p:spPr>
          <a:xfrm>
            <a:off x="834886" y="3889229"/>
            <a:ext cx="705678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内部的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__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score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变量已经被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解释器自动改成了</a:t>
            </a:r>
            <a:r>
              <a:rPr lang="en-US" altLang="zh-CN" sz="1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</a:t>
            </a:r>
            <a:r>
              <a:rPr lang="en" altLang="zh-CN" sz="160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Student__score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外部代码给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</a:t>
            </a:r>
            <a:r>
              <a:rPr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chael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实例新增了一个</a:t>
            </a:r>
            <a:r>
              <a:rPr lang="en-US" altLang="zh-CN" sz="1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__score</a:t>
            </a:r>
            <a:r>
              <a:rPr lang="zh-CN" altLang="en-US" sz="1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endParaRPr lang="en" altLang="zh-CN" sz="16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4385592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85427" y="1091178"/>
            <a:ext cx="1454244" cy="1289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类和实例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数据封装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访问限制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09594" y="207944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26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6364D41-A50D-49AE-B0E7-1C9E44CC7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4223775804"/>
      </p:ext>
    </p:extLst>
  </p:cSld>
  <p:clrMapOvr>
    <a:masterClrMapping/>
  </p:clrMapOvr>
  <p:transition spd="slow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11480</TotalTime>
  <Words>2139</Words>
  <Application>Microsoft Macintosh PowerPoint</Application>
  <PresentationFormat>全屏显示(16:9)</PresentationFormat>
  <Paragraphs>160</Paragraphs>
  <Slides>41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7" baseType="lpstr">
      <vt:lpstr>方正兰亭细黑_GBK</vt:lpstr>
      <vt:lpstr>Microsoft YaHei</vt:lpstr>
      <vt:lpstr>Microsoft YaHei</vt:lpstr>
      <vt:lpstr>Arial</vt:lpstr>
      <vt:lpstr>Calibri</vt:lpstr>
      <vt:lpstr>清风素材 https://12sc.taobao.com/</vt:lpstr>
      <vt:lpstr>PowerPoint 演示文稿</vt:lpstr>
      <vt:lpstr>PowerPoint 演示文稿</vt:lpstr>
      <vt:lpstr>Python 面向对象编程（一）</vt:lpstr>
      <vt:lpstr>Python 面向对象编程（一）</vt:lpstr>
      <vt:lpstr>Python 面向对象编程（一）</vt:lpstr>
      <vt:lpstr>Python 面向对象编程（一）</vt:lpstr>
      <vt:lpstr>Python 面向对象编程（一）</vt:lpstr>
      <vt:lpstr>Python 面向对象编程（一）</vt:lpstr>
      <vt:lpstr>Python 面向对象编程（一）</vt:lpstr>
      <vt:lpstr>Python 面向对象编程（一）</vt:lpstr>
      <vt:lpstr>PowerPoint 演示文稿</vt:lpstr>
      <vt:lpstr>类和实例</vt:lpstr>
      <vt:lpstr>类和实例</vt:lpstr>
      <vt:lpstr>类和实例</vt:lpstr>
      <vt:lpstr>类和实例</vt:lpstr>
      <vt:lpstr>类和实例</vt:lpstr>
      <vt:lpstr>PowerPoint 演示文稿</vt:lpstr>
      <vt:lpstr>类和实例</vt:lpstr>
      <vt:lpstr>类和实例</vt:lpstr>
      <vt:lpstr>类和实例</vt:lpstr>
      <vt:lpstr>类和实例</vt:lpstr>
      <vt:lpstr>PowerPoint 演示文稿</vt:lpstr>
      <vt:lpstr>数据封装</vt:lpstr>
      <vt:lpstr>数据封装</vt:lpstr>
      <vt:lpstr>数据封装</vt:lpstr>
      <vt:lpstr>数据封装</vt:lpstr>
      <vt:lpstr>PowerPoint 演示文稿</vt:lpstr>
      <vt:lpstr>数据封装</vt:lpstr>
      <vt:lpstr>数据封装</vt:lpstr>
      <vt:lpstr>PowerPoint 演示文稿</vt:lpstr>
      <vt:lpstr>访问限制</vt:lpstr>
      <vt:lpstr>访问限制</vt:lpstr>
      <vt:lpstr>访问限制</vt:lpstr>
      <vt:lpstr>访问限制</vt:lpstr>
      <vt:lpstr>访问限制</vt:lpstr>
      <vt:lpstr>访问限制</vt:lpstr>
      <vt:lpstr>访问限制</vt:lpstr>
      <vt:lpstr>PowerPoint 演示文稿</vt:lpstr>
      <vt:lpstr>访问限制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BatmanFly</cp:lastModifiedBy>
  <cp:revision>269</cp:revision>
  <dcterms:created xsi:type="dcterms:W3CDTF">2015-01-23T04:02:45Z</dcterms:created>
  <dcterms:modified xsi:type="dcterms:W3CDTF">2025-03-28T08:07:27Z</dcterms:modified>
  <cp:category/>
  <cp:contentStatus>12sc.taobao.com</cp:contentStatus>
</cp:coreProperties>
</file>