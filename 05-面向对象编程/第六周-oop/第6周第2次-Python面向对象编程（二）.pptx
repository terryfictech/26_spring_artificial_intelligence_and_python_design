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301" r:id="rId2"/>
    <p:sldId id="1201" r:id="rId3"/>
    <p:sldId id="295" r:id="rId4"/>
    <p:sldId id="402" r:id="rId5"/>
    <p:sldId id="404" r:id="rId6"/>
    <p:sldId id="405" r:id="rId7"/>
    <p:sldId id="407" r:id="rId8"/>
    <p:sldId id="409" r:id="rId9"/>
    <p:sldId id="406" r:id="rId10"/>
    <p:sldId id="411" r:id="rId11"/>
    <p:sldId id="412" r:id="rId12"/>
    <p:sldId id="413" r:id="rId13"/>
    <p:sldId id="1203" r:id="rId14"/>
    <p:sldId id="414" r:id="rId15"/>
    <p:sldId id="416" r:id="rId16"/>
    <p:sldId id="418" r:id="rId17"/>
    <p:sldId id="419" r:id="rId18"/>
    <p:sldId id="1205" r:id="rId19"/>
    <p:sldId id="1216" r:id="rId20"/>
    <p:sldId id="1217" r:id="rId21"/>
    <p:sldId id="1218" r:id="rId22"/>
    <p:sldId id="1219" r:id="rId23"/>
    <p:sldId id="1221" r:id="rId24"/>
    <p:sldId id="1220" r:id="rId25"/>
    <p:sldId id="1222" r:id="rId26"/>
    <p:sldId id="1223" r:id="rId27"/>
    <p:sldId id="1224" r:id="rId28"/>
    <p:sldId id="1225" r:id="rId29"/>
    <p:sldId id="1227" r:id="rId30"/>
    <p:sldId id="1226" r:id="rId31"/>
    <p:sldId id="1229" r:id="rId32"/>
    <p:sldId id="1228" r:id="rId33"/>
    <p:sldId id="1230" r:id="rId34"/>
    <p:sldId id="1232" r:id="rId35"/>
    <p:sldId id="1231" r:id="rId36"/>
    <p:sldId id="1234" r:id="rId37"/>
    <p:sldId id="1236" r:id="rId38"/>
    <p:sldId id="1237" r:id="rId39"/>
    <p:sldId id="1238" r:id="rId40"/>
    <p:sldId id="1239" r:id="rId41"/>
    <p:sldId id="1206" r:id="rId42"/>
    <p:sldId id="1199" r:id="rId43"/>
  </p:sldIdLst>
  <p:sldSz cx="9144000" cy="5143500" type="screen16x9"/>
  <p:notesSz cx="6858000" cy="9144000"/>
  <p:custDataLst>
    <p:tags r:id="rId4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3F6C"/>
    <a:srgbClr val="0E22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59" autoAdjust="0"/>
    <p:restoredTop sz="94000" autoAdjust="0"/>
  </p:normalViewPr>
  <p:slideViewPr>
    <p:cSldViewPr snapToGrid="0">
      <p:cViewPr varScale="1">
        <p:scale>
          <a:sx n="99" d="100"/>
          <a:sy n="99" d="100"/>
        </p:scale>
        <p:origin x="1192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7FD7A-F41B-4FED-8E35-F78DB9F4D037}" type="datetimeFigureOut">
              <a:rPr lang="zh-CN" altLang="en-US" smtClean="0"/>
              <a:t>2025/3/24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37CBA-0E44-4282-A4F0-C3BCC1A4C2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836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22027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053102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8526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51122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223271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41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5460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3CF4CA7-7AAC-4C45-88E6-57EAF6DA16C9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011272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>
            <a:no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3937000"/>
          </a:xfrm>
        </p:spPr>
        <p:txBody>
          <a:bodyPr>
            <a:normAutofit/>
          </a:bodyPr>
          <a:lstStyle>
            <a:lvl1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4426" y="4482306"/>
            <a:ext cx="409574" cy="273844"/>
          </a:xfrm>
        </p:spPr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EDCEBCB-EE73-45D6-92CE-B2AE1D434CFB}"/>
              </a:ext>
            </a:extLst>
          </p:cNvPr>
          <p:cNvSpPr/>
          <p:nvPr userDrawn="1"/>
        </p:nvSpPr>
        <p:spPr>
          <a:xfrm>
            <a:off x="646880" y="268997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67744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218166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2025/3/24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850969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2025/3/24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861265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2025/3/24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343882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2025/3/24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712181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2025/3/24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7382833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2025/3/24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4744713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5365753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847810"/>
      </p:ext>
    </p:extLst>
  </p:cSld>
  <p:clrMapOvr>
    <a:masterClrMapping/>
  </p:clrMapOvr>
  <p:transition spd="slow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515257" y="624114"/>
            <a:ext cx="3192647" cy="523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5436096" y="629351"/>
            <a:ext cx="326465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2327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026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0016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0957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标题幻灯片">
    <p:bg>
      <p:bgPr>
        <a:pattFill prst="ltUpDiag">
          <a:fgClr>
            <a:schemeClr val="accent6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6B1EA47-AA99-4F55-AEF3-3DA66267A0C2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9470B42-93C0-4049-B9CB-A8EBAAC780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054" y="0"/>
            <a:ext cx="1064467" cy="96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37429"/>
      </p:ext>
    </p:extLst>
  </p:cSld>
  <p:clrMapOvr>
    <a:masterClrMapping/>
  </p:clrMapOvr>
  <p:transition spd="slow">
    <p:cover dir="r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1E9E4D-0BE1-4AAA-A57B-DA425863F4AF}" type="datetimeFigureOut">
              <a:rPr lang="zh-CN" altLang="en-US" smtClean="0"/>
              <a:t>2025/3/24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41F63DC-E866-4077-8215-C471E38E7305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054" y="0"/>
            <a:ext cx="1064467" cy="96388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FFCFCD4-6DCF-4A23-AD20-AF62BB293DA8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78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64" r:id="rId15"/>
    <p:sldLayoutId id="2147483669" r:id="rId16"/>
  </p:sldLayoutIdLst>
  <p:transition spd="slow">
    <p:pull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059145"/>
            <a:ext cx="9144000" cy="854123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  <p:pic>
        <p:nvPicPr>
          <p:cNvPr id="103" name="Picture 2" descr="C:\Users\Administrator\Desktop\微立体创业计划\001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941" y="158700"/>
            <a:ext cx="1967244" cy="196697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" name="Picture 3" descr="C:\Users\Administrator\Desktop\微立体创业计划\002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1057" y="27073"/>
            <a:ext cx="2230535" cy="2230233"/>
          </a:xfrm>
          <a:prstGeom prst="rect">
            <a:avLst/>
          </a:prstGeom>
          <a:noFill/>
          <a:effectLst>
            <a:outerShdw blurRad="292100" dist="177800" dir="2460000" sx="99000" sy="99000" algn="l" rotWithShape="0">
              <a:prstClr val="black">
                <a:alpha val="39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5" name="Group 91"/>
          <p:cNvGrpSpPr>
            <a:grpSpLocks/>
          </p:cNvGrpSpPr>
          <p:nvPr/>
        </p:nvGrpSpPr>
        <p:grpSpPr bwMode="auto">
          <a:xfrm>
            <a:off x="1822357" y="3309841"/>
            <a:ext cx="390552" cy="616758"/>
            <a:chOff x="936" y="1480"/>
            <a:chExt cx="1589" cy="2510"/>
          </a:xfrm>
        </p:grpSpPr>
        <p:grpSp>
          <p:nvGrpSpPr>
            <p:cNvPr id="26" name="组合 33"/>
            <p:cNvGrpSpPr>
              <a:grpSpLocks/>
            </p:cNvGrpSpPr>
            <p:nvPr/>
          </p:nvGrpSpPr>
          <p:grpSpPr bwMode="auto">
            <a:xfrm>
              <a:off x="985" y="1583"/>
              <a:ext cx="1441" cy="2407"/>
              <a:chOff x="1754168" y="3653262"/>
              <a:chExt cx="1857599" cy="3107815"/>
            </a:xfrm>
          </p:grpSpPr>
          <p:sp>
            <p:nvSpPr>
              <p:cNvPr id="31" name="椭圆 30"/>
              <p:cNvSpPr/>
              <p:nvPr/>
            </p:nvSpPr>
            <p:spPr>
              <a:xfrm>
                <a:off x="1754168" y="3653262"/>
                <a:ext cx="1857599" cy="1857597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zh-CN" altLang="en-US" sz="3000" dirty="0">
                  <a:latin typeface="+mj-lt"/>
                  <a:ea typeface="方正超粗黑简体" panose="03000509000000000000" pitchFamily="65" charset="-122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1911556" y="3810650"/>
                <a:ext cx="1542822" cy="1542820"/>
              </a:xfrm>
              <a:prstGeom prst="ellipse">
                <a:avLst/>
              </a:prstGeom>
              <a:solidFill>
                <a:srgbClr val="C20100"/>
              </a:solidFill>
              <a:ln w="28575">
                <a:gradFill flip="none" rotWithShape="1">
                  <a:gsLst>
                    <a:gs pos="100000">
                      <a:srgbClr val="FFFFFF"/>
                    </a:gs>
                    <a:gs pos="0">
                      <a:srgbClr val="CECED0"/>
                    </a:gs>
                  </a:gsLst>
                  <a:lin ang="13500000" scaled="1"/>
                  <a:tileRect/>
                </a:gradFill>
              </a:ln>
              <a:effectLst>
                <a:outerShdw blurRad="190500" dist="88900" dir="2700000" algn="tl" rotWithShape="0">
                  <a:prstClr val="black">
                    <a:alpha val="3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1890879" y="3789973"/>
                <a:ext cx="1584176" cy="1584174"/>
              </a:xfrm>
              <a:prstGeom prst="ellipse">
                <a:avLst/>
              </a:prstGeom>
              <a:solidFill>
                <a:srgbClr val="1A3F6C"/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zh-CN" altLang="en-US" sz="3000" dirty="0">
                  <a:solidFill>
                    <a:srgbClr val="0087CF"/>
                  </a:solidFill>
                  <a:latin typeface="+mj-lt"/>
                  <a:ea typeface="方正超粗黑简体" panose="03000509000000000000" pitchFamily="65" charset="-122"/>
                </a:endParaRPr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2196990" y="4093185"/>
                <a:ext cx="968886" cy="26678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/>
                <a:endParaRPr lang="zh-CN" altLang="zh-CN" sz="2700" b="1">
                  <a:solidFill>
                    <a:srgbClr val="CA0098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27" name="组合 4"/>
            <p:cNvGrpSpPr>
              <a:grpSpLocks/>
            </p:cNvGrpSpPr>
            <p:nvPr/>
          </p:nvGrpSpPr>
          <p:grpSpPr bwMode="auto">
            <a:xfrm>
              <a:off x="936" y="1480"/>
              <a:ext cx="1589" cy="1588"/>
              <a:chOff x="3733576" y="3930057"/>
              <a:chExt cx="1801556" cy="1800152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4003576" y="4200057"/>
                <a:ext cx="1260000" cy="126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100000">
                      <a:schemeClr val="bg1"/>
                    </a:gs>
                    <a:gs pos="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任意多边形 6"/>
              <p:cNvSpPr/>
              <p:nvPr/>
            </p:nvSpPr>
            <p:spPr>
              <a:xfrm>
                <a:off x="3734710" y="3930057"/>
                <a:ext cx="1800422" cy="1800152"/>
              </a:xfrm>
              <a:custGeom>
                <a:avLst/>
                <a:gdLst>
                  <a:gd name="connsiteX0" fmla="*/ 900000 w 1800000"/>
                  <a:gd name="connsiteY0" fmla="*/ 0 h 1800000"/>
                  <a:gd name="connsiteX1" fmla="*/ 1800000 w 1800000"/>
                  <a:gd name="connsiteY1" fmla="*/ 900000 h 1800000"/>
                  <a:gd name="connsiteX2" fmla="*/ 900000 w 1800000"/>
                  <a:gd name="connsiteY2" fmla="*/ 1800000 h 1800000"/>
                  <a:gd name="connsiteX3" fmla="*/ 0 w 1800000"/>
                  <a:gd name="connsiteY3" fmla="*/ 900000 h 1800000"/>
                  <a:gd name="connsiteX4" fmla="*/ 900000 w 1800000"/>
                  <a:gd name="connsiteY4" fmla="*/ 0 h 1800000"/>
                  <a:gd name="connsiteX5" fmla="*/ 900000 w 1800000"/>
                  <a:gd name="connsiteY5" fmla="*/ 270000 h 1800000"/>
                  <a:gd name="connsiteX6" fmla="*/ 270000 w 1800000"/>
                  <a:gd name="connsiteY6" fmla="*/ 900000 h 1800000"/>
                  <a:gd name="connsiteX7" fmla="*/ 900000 w 1800000"/>
                  <a:gd name="connsiteY7" fmla="*/ 1530000 h 1800000"/>
                  <a:gd name="connsiteX8" fmla="*/ 1530000 w 1800000"/>
                  <a:gd name="connsiteY8" fmla="*/ 900000 h 1800000"/>
                  <a:gd name="connsiteX9" fmla="*/ 900000 w 1800000"/>
                  <a:gd name="connsiteY9" fmla="*/ 270000 h 18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000" h="1800000">
                    <a:moveTo>
                      <a:pt x="900000" y="0"/>
                    </a:moveTo>
                    <a:cubicBezTo>
                      <a:pt x="1397056" y="0"/>
                      <a:pt x="1800000" y="402944"/>
                      <a:pt x="1800000" y="900000"/>
                    </a:cubicBezTo>
                    <a:cubicBezTo>
                      <a:pt x="1800000" y="1397056"/>
                      <a:pt x="1397056" y="1800000"/>
                      <a:pt x="900000" y="1800000"/>
                    </a:cubicBezTo>
                    <a:cubicBezTo>
                      <a:pt x="402944" y="1800000"/>
                      <a:pt x="0" y="1397056"/>
                      <a:pt x="0" y="900000"/>
                    </a:cubicBezTo>
                    <a:cubicBezTo>
                      <a:pt x="0" y="402944"/>
                      <a:pt x="402944" y="0"/>
                      <a:pt x="900000" y="0"/>
                    </a:cubicBezTo>
                    <a:close/>
                    <a:moveTo>
                      <a:pt x="900000" y="270000"/>
                    </a:moveTo>
                    <a:cubicBezTo>
                      <a:pt x="552061" y="270000"/>
                      <a:pt x="270000" y="552061"/>
                      <a:pt x="270000" y="900000"/>
                    </a:cubicBezTo>
                    <a:cubicBezTo>
                      <a:pt x="270000" y="1247939"/>
                      <a:pt x="552061" y="1530000"/>
                      <a:pt x="900000" y="1530000"/>
                    </a:cubicBezTo>
                    <a:cubicBezTo>
                      <a:pt x="1247939" y="1530000"/>
                      <a:pt x="1530000" y="1247939"/>
                      <a:pt x="1530000" y="900000"/>
                    </a:cubicBezTo>
                    <a:cubicBezTo>
                      <a:pt x="1530000" y="552061"/>
                      <a:pt x="1247939" y="270000"/>
                      <a:pt x="900000" y="27000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0F0F0"/>
                  </a:gs>
                  <a:gs pos="100000">
                    <a:srgbClr val="DBDBDB"/>
                  </a:gs>
                </a:gsLst>
                <a:lin ang="2700000" scaled="1"/>
              </a:gradFill>
              <a:ln>
                <a:noFill/>
              </a:ln>
              <a:effectLst>
                <a:outerShdw blurRad="88900" dist="635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0" name="椭圆 7"/>
              <p:cNvSpPr/>
              <p:nvPr/>
            </p:nvSpPr>
            <p:spPr>
              <a:xfrm>
                <a:off x="3733576" y="3930057"/>
                <a:ext cx="1800000" cy="180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2" name="TextBox 1"/>
          <p:cNvSpPr txBox="1"/>
          <p:nvPr/>
        </p:nvSpPr>
        <p:spPr>
          <a:xfrm>
            <a:off x="122153" y="2169137"/>
            <a:ext cx="8945065" cy="523192"/>
          </a:xfrm>
          <a:prstGeom prst="rect">
            <a:avLst/>
          </a:prstGeom>
          <a:noFill/>
        </p:spPr>
        <p:txBody>
          <a:bodyPr wrap="square" lIns="91413" tIns="45706" rIns="91413" bIns="45706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人工智能与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》—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面向对象编程（二）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BCD51C3F-89DD-1746-A9EC-2FE3C2C6AF11}"/>
              </a:ext>
            </a:extLst>
          </p:cNvPr>
          <p:cNvSpPr/>
          <p:nvPr/>
        </p:nvSpPr>
        <p:spPr>
          <a:xfrm>
            <a:off x="2349113" y="3309842"/>
            <a:ext cx="3919063" cy="40913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人工智能与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 教研组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7734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24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2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2" fill="hold" grpId="0" nodeType="withEffect">
                                  <p:stCondLst>
                                    <p:cond delay="1700"/>
                                  </p:stCondLst>
                                  <p:iterate type="lt">
                                    <p:tmPct val="23333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733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233"/>
                            </p:stCondLst>
                            <p:childTnLst>
                              <p:par>
                                <p:cTn id="2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6.17284E-7 L 0.42031 0.00093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007" y="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233"/>
                            </p:stCondLst>
                            <p:childTnLst>
                              <p:par>
                                <p:cTn id="3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8733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/>
      <p:bldP spid="1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方正兰亭细黑_GBK" pitchFamily="2" charset="-122"/>
                <a:ea typeface="方正兰亭细黑_GBK" pitchFamily="2" charset="-122"/>
              </a:rPr>
              <a:t>回顾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2101" y="3053758"/>
            <a:ext cx="269782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人工智能与</a:t>
            </a:r>
            <a:endParaRPr lang="en-US" altLang="zh-CN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程序设计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KSO_Shape"/>
            <p:cNvSpPr>
              <a:spLocks/>
            </p:cNvSpPr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285427" y="1091178"/>
            <a:ext cx="1685077" cy="17054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类和实例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数据封装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访问限制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继承和多态</a:t>
            </a:r>
          </a:p>
        </p:txBody>
      </p:sp>
      <p:sp>
        <p:nvSpPr>
          <p:cNvPr id="24" name="椭圆 23"/>
          <p:cNvSpPr/>
          <p:nvPr/>
        </p:nvSpPr>
        <p:spPr>
          <a:xfrm>
            <a:off x="3909594" y="1632361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3909594" y="2476059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909594" y="2079445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E285C2D4-1734-D84F-BD33-D79F098E43AF}"/>
              </a:ext>
            </a:extLst>
          </p:cNvPr>
          <p:cNvSpPr/>
          <p:nvPr/>
        </p:nvSpPr>
        <p:spPr>
          <a:xfrm>
            <a:off x="3909594" y="1235747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5267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5" grpId="0"/>
      <p:bldP spid="24" grpId="0" animBg="1"/>
      <p:bldP spid="25" grpId="0" animBg="1"/>
      <p:bldP spid="30" grpId="0" animBg="1"/>
      <p:bldP spid="3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方正兰亭细黑_GBK" pitchFamily="2" charset="-122"/>
                <a:ea typeface="方正兰亭细黑_GBK" pitchFamily="2" charset="-122"/>
              </a:rPr>
              <a:t>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2101" y="3053758"/>
            <a:ext cx="269782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人工智能与</a:t>
            </a:r>
            <a:endParaRPr lang="en-US" altLang="zh-CN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程序设计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KSO_Shape"/>
            <p:cNvSpPr>
              <a:spLocks/>
            </p:cNvSpPr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314053" y="1054436"/>
            <a:ext cx="3848924" cy="1289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获取对象信息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实例属性和类属性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实现二维列表类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909594" y="1632361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E285C2D4-1734-D84F-BD33-D79F098E43AF}"/>
              </a:ext>
            </a:extLst>
          </p:cNvPr>
          <p:cNvSpPr/>
          <p:nvPr/>
        </p:nvSpPr>
        <p:spPr>
          <a:xfrm>
            <a:off x="3909594" y="1235747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61CD2AC-283D-704B-B47F-9231BEE8F30A}"/>
              </a:ext>
            </a:extLst>
          </p:cNvPr>
          <p:cNvSpPr/>
          <p:nvPr/>
        </p:nvSpPr>
        <p:spPr>
          <a:xfrm>
            <a:off x="3909594" y="2041009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9238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5" grpId="0"/>
      <p:bldP spid="24" grpId="0" animBg="1"/>
      <p:bldP spid="31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E439C2-5ACF-374E-A586-7C56E84A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获取对象信息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AA9A807-4704-8549-8F39-D09C018BD18B}"/>
              </a:ext>
            </a:extLst>
          </p:cNvPr>
          <p:cNvSpPr txBox="1">
            <a:spLocks/>
          </p:cNvSpPr>
          <p:nvPr/>
        </p:nvSpPr>
        <p:spPr>
          <a:xfrm>
            <a:off x="457200" y="3518296"/>
            <a:ext cx="8229600" cy="28384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/>
              <a:t>	</a:t>
            </a:r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18549E24-73A9-0F44-B587-17A73563A75B}"/>
              </a:ext>
            </a:extLst>
          </p:cNvPr>
          <p:cNvSpPr txBox="1">
            <a:spLocks/>
          </p:cNvSpPr>
          <p:nvPr/>
        </p:nvSpPr>
        <p:spPr>
          <a:xfrm>
            <a:off x="457200" y="819149"/>
            <a:ext cx="8229600" cy="23216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获取对象类型与方法</a:t>
            </a:r>
            <a:endParaRPr lang="en-US" altLang="zh-CN" dirty="0"/>
          </a:p>
          <a:p>
            <a:pPr lvl="1"/>
            <a:r>
              <a:rPr lang="zh-CN" altLang="en-US" dirty="0"/>
              <a:t>判断对象类型，使用</a:t>
            </a:r>
            <a:r>
              <a:rPr lang="en" altLang="zh-CN" dirty="0"/>
              <a:t>type()</a:t>
            </a:r>
            <a:r>
              <a:rPr lang="zh-CN" altLang="en-US" dirty="0"/>
              <a:t>函数</a:t>
            </a:r>
          </a:p>
          <a:p>
            <a:endParaRPr lang="zh-CN" altLang="en-US" dirty="0"/>
          </a:p>
          <a:p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4CDC60D-1223-4F45-ABBE-A0466F74E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382" y="1586328"/>
            <a:ext cx="6869236" cy="3108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793885"/>
      </p:ext>
    </p:extLst>
  </p:cSld>
  <p:clrMapOvr>
    <a:masterClrMapping/>
  </p:clrMapOvr>
  <p:transition spd="slow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E439C2-5ACF-374E-A586-7C56E84A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获取对象信息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18549E24-73A9-0F44-B587-17A73563A75B}"/>
              </a:ext>
            </a:extLst>
          </p:cNvPr>
          <p:cNvSpPr txBox="1">
            <a:spLocks/>
          </p:cNvSpPr>
          <p:nvPr/>
        </p:nvSpPr>
        <p:spPr>
          <a:xfrm>
            <a:off x="457200" y="819149"/>
            <a:ext cx="8229600" cy="2105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获取对象类型与方法</a:t>
            </a:r>
            <a:endParaRPr lang="en-US" altLang="zh-CN" dirty="0"/>
          </a:p>
          <a:p>
            <a:pPr lvl="1"/>
            <a:r>
              <a:rPr lang="zh-CN" altLang="en-US" dirty="0"/>
              <a:t>判断对象类型，使用</a:t>
            </a:r>
            <a:r>
              <a:rPr lang="en" altLang="zh-CN" dirty="0"/>
              <a:t>type()</a:t>
            </a:r>
            <a:r>
              <a:rPr lang="zh-CN" altLang="en-US" dirty="0"/>
              <a:t>函数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22DEE02-C4B9-3946-8DA6-2E1D495106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668"/>
          <a:stretch/>
        </p:blipFill>
        <p:spPr>
          <a:xfrm>
            <a:off x="871267" y="2004831"/>
            <a:ext cx="2984740" cy="206764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E39BDF8-9565-3F4E-A92A-8B450E775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0792" y="1991827"/>
            <a:ext cx="3281752" cy="208065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A28D23A9-2F5D-124F-BA1C-5065241FDEEF}"/>
              </a:ext>
            </a:extLst>
          </p:cNvPr>
          <p:cNvSpPr/>
          <p:nvPr/>
        </p:nvSpPr>
        <p:spPr>
          <a:xfrm>
            <a:off x="2872178" y="4300989"/>
            <a:ext cx="274786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父类与子类的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class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差异</a:t>
            </a: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80518189"/>
      </p:ext>
    </p:extLst>
  </p:cSld>
  <p:clrMapOvr>
    <a:masterClrMapping/>
  </p:clrMapOvr>
  <p:transition spd="slow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E439C2-5ACF-374E-A586-7C56E84A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获取对象信息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18549E24-73A9-0F44-B587-17A73563A75B}"/>
              </a:ext>
            </a:extLst>
          </p:cNvPr>
          <p:cNvSpPr txBox="1">
            <a:spLocks/>
          </p:cNvSpPr>
          <p:nvPr/>
        </p:nvSpPr>
        <p:spPr>
          <a:xfrm>
            <a:off x="457200" y="819149"/>
            <a:ext cx="8229600" cy="2105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获取对象类型与方法</a:t>
            </a:r>
            <a:endParaRPr lang="en-US" altLang="zh-CN" dirty="0"/>
          </a:p>
          <a:p>
            <a:pPr lvl="1"/>
            <a:r>
              <a:rPr lang="zh-CN" altLang="en-US" dirty="0"/>
              <a:t>判断对象类型，使用</a:t>
            </a:r>
            <a:r>
              <a:rPr lang="en" altLang="zh-CN" dirty="0"/>
              <a:t>type()</a:t>
            </a:r>
            <a:r>
              <a:rPr lang="zh-CN" altLang="en-US" dirty="0"/>
              <a:t>函数</a:t>
            </a:r>
            <a:endParaRPr lang="en-US" altLang="zh-CN" dirty="0"/>
          </a:p>
          <a:p>
            <a:pPr lvl="1"/>
            <a:r>
              <a:rPr lang="zh-CN" altLang="en-US" dirty="0"/>
              <a:t>针对</a:t>
            </a:r>
            <a:r>
              <a:rPr lang="en-US" altLang="zh-CN" dirty="0"/>
              <a:t>class</a:t>
            </a:r>
            <a:r>
              <a:rPr lang="zh-CN" altLang="en-US" dirty="0"/>
              <a:t>的继承关系，使用</a:t>
            </a:r>
            <a:r>
              <a:rPr lang="en" altLang="zh-CN" dirty="0" err="1"/>
              <a:t>isinstance</a:t>
            </a:r>
            <a:r>
              <a:rPr lang="en" altLang="zh-CN" dirty="0"/>
              <a:t>()</a:t>
            </a:r>
            <a:r>
              <a:rPr lang="zh-CN" altLang="en" dirty="0"/>
              <a:t>函数</a:t>
            </a:r>
            <a:r>
              <a:rPr lang="zh-CN" altLang="en-US" dirty="0"/>
              <a:t>判断</a:t>
            </a:r>
            <a:r>
              <a:rPr lang="en-US" altLang="zh-CN" dirty="0"/>
              <a:t>class</a:t>
            </a:r>
            <a:r>
              <a:rPr lang="zh-CN" altLang="en-US" dirty="0"/>
              <a:t>类型。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例如继承关系：</a:t>
            </a:r>
            <a:r>
              <a:rPr lang="en" altLang="zh-CN" dirty="0"/>
              <a:t>object -&gt; Animal -&gt; Dog -&gt; Husky</a:t>
            </a:r>
            <a:endParaRPr lang="en-US" altLang="zh-CN" dirty="0"/>
          </a:p>
          <a:p>
            <a:pPr lvl="1"/>
            <a:endParaRPr lang="en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B5FC810-E0BF-334D-BCF7-21C7DC4FB1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7816"/>
          <a:stretch/>
        </p:blipFill>
        <p:spPr>
          <a:xfrm>
            <a:off x="750497" y="3068833"/>
            <a:ext cx="1430561" cy="74691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781CFB6-784D-9C42-B763-43CF70D56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5094" y="2780388"/>
            <a:ext cx="2430757" cy="128236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B88D291-35BD-EF4C-830C-BB95BEB811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1110" y="2779982"/>
            <a:ext cx="2517116" cy="128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767907"/>
      </p:ext>
    </p:extLst>
  </p:cSld>
  <p:clrMapOvr>
    <a:masterClrMapping/>
  </p:clrMapOvr>
  <p:transition spd="slow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E439C2-5ACF-374E-A586-7C56E84A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获取对象信息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A45C470C-B888-4D42-8E3B-1ADD94F3751B}"/>
              </a:ext>
            </a:extLst>
          </p:cNvPr>
          <p:cNvSpPr txBox="1">
            <a:spLocks/>
          </p:cNvSpPr>
          <p:nvPr/>
        </p:nvSpPr>
        <p:spPr>
          <a:xfrm>
            <a:off x="457200" y="819149"/>
            <a:ext cx="8229600" cy="1820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获取对象类型与方法</a:t>
            </a:r>
            <a:endParaRPr lang="en-US" altLang="zh-CN" dirty="0"/>
          </a:p>
          <a:p>
            <a:pPr lvl="1"/>
            <a:r>
              <a:rPr lang="zh-CN" altLang="en-US" dirty="0"/>
              <a:t>判断对象类型，使用</a:t>
            </a:r>
            <a:r>
              <a:rPr lang="en" altLang="zh-CN" dirty="0"/>
              <a:t>type()</a:t>
            </a:r>
            <a:r>
              <a:rPr lang="zh-CN" altLang="en-US" dirty="0"/>
              <a:t>函数</a:t>
            </a:r>
            <a:endParaRPr lang="en-US" altLang="zh-CN" dirty="0"/>
          </a:p>
          <a:p>
            <a:pPr lvl="1"/>
            <a:r>
              <a:rPr lang="zh-CN" altLang="en-US" dirty="0"/>
              <a:t>针对</a:t>
            </a:r>
            <a:r>
              <a:rPr lang="en-US" altLang="zh-CN" dirty="0"/>
              <a:t>class</a:t>
            </a:r>
            <a:r>
              <a:rPr lang="zh-CN" altLang="en-US" dirty="0"/>
              <a:t>的继承关系，使用</a:t>
            </a:r>
            <a:r>
              <a:rPr lang="en" altLang="zh-CN" dirty="0" err="1"/>
              <a:t>isinstance</a:t>
            </a:r>
            <a:r>
              <a:rPr lang="en" altLang="zh-CN" dirty="0"/>
              <a:t>()</a:t>
            </a:r>
            <a:r>
              <a:rPr lang="zh-CN" altLang="en" dirty="0"/>
              <a:t>函数</a:t>
            </a:r>
            <a:r>
              <a:rPr lang="zh-CN" altLang="en-US" dirty="0"/>
              <a:t>判断</a:t>
            </a:r>
            <a:r>
              <a:rPr lang="en-US" altLang="zh-CN" dirty="0"/>
              <a:t>class</a:t>
            </a:r>
            <a:r>
              <a:rPr lang="zh-CN" altLang="en-US" dirty="0"/>
              <a:t>类型。</a:t>
            </a:r>
            <a:endParaRPr lang="en-US" altLang="zh-CN" dirty="0"/>
          </a:p>
          <a:p>
            <a:pPr lvl="1"/>
            <a:r>
              <a:rPr lang="zh-CN" altLang="en-US" dirty="0"/>
              <a:t>使用</a:t>
            </a:r>
            <a:r>
              <a:rPr lang="en" altLang="zh-CN" dirty="0" err="1"/>
              <a:t>dir</a:t>
            </a:r>
            <a:r>
              <a:rPr lang="en" altLang="zh-CN" dirty="0"/>
              <a:t>()</a:t>
            </a:r>
            <a:r>
              <a:rPr lang="zh-CN" altLang="en-US" dirty="0"/>
              <a:t>来获得一个对象的所有属性和方法，并以一个字符串列表返回</a:t>
            </a:r>
            <a:endParaRPr lang="en-US" altLang="zh-CN" dirty="0"/>
          </a:p>
          <a:p>
            <a:pPr lvl="1"/>
            <a:endParaRPr lang="en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2D88AFA-C6A5-E449-A192-D704B6755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3366" y="2347402"/>
            <a:ext cx="5012666" cy="183632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138458A-F08D-904A-B6B5-B7EFBC286F4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7816"/>
          <a:stretch/>
        </p:blipFill>
        <p:spPr>
          <a:xfrm>
            <a:off x="1137968" y="3023094"/>
            <a:ext cx="1307025" cy="682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866334"/>
      </p:ext>
    </p:extLst>
  </p:cSld>
  <p:clrMapOvr>
    <a:masterClrMapping/>
  </p:clrMapOvr>
  <p:transition spd="slow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E439C2-5ACF-374E-A586-7C56E84A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获取对象信息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A45C470C-B888-4D42-8E3B-1ADD94F3751B}"/>
              </a:ext>
            </a:extLst>
          </p:cNvPr>
          <p:cNvSpPr txBox="1">
            <a:spLocks/>
          </p:cNvSpPr>
          <p:nvPr/>
        </p:nvSpPr>
        <p:spPr>
          <a:xfrm>
            <a:off x="457200" y="819149"/>
            <a:ext cx="8229600" cy="1820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获取对象类型与方法</a:t>
            </a:r>
            <a:endParaRPr lang="en-US" altLang="zh-CN" dirty="0"/>
          </a:p>
          <a:p>
            <a:pPr lvl="1"/>
            <a:r>
              <a:rPr lang="zh-CN" altLang="en-US" dirty="0"/>
              <a:t>判断对象类型，使用</a:t>
            </a:r>
            <a:r>
              <a:rPr lang="en" altLang="zh-CN" dirty="0"/>
              <a:t>type()</a:t>
            </a:r>
            <a:r>
              <a:rPr lang="zh-CN" altLang="en-US" dirty="0"/>
              <a:t>函数</a:t>
            </a:r>
            <a:endParaRPr lang="en-US" altLang="zh-CN" dirty="0"/>
          </a:p>
          <a:p>
            <a:pPr lvl="1"/>
            <a:r>
              <a:rPr lang="zh-CN" altLang="en-US" dirty="0"/>
              <a:t>针对</a:t>
            </a:r>
            <a:r>
              <a:rPr lang="en-US" altLang="zh-CN" dirty="0"/>
              <a:t>class</a:t>
            </a:r>
            <a:r>
              <a:rPr lang="zh-CN" altLang="en-US" dirty="0"/>
              <a:t>的继承关系，使用</a:t>
            </a:r>
            <a:r>
              <a:rPr lang="en" altLang="zh-CN" dirty="0" err="1"/>
              <a:t>isinstance</a:t>
            </a:r>
            <a:r>
              <a:rPr lang="en" altLang="zh-CN" dirty="0"/>
              <a:t>()</a:t>
            </a:r>
            <a:r>
              <a:rPr lang="zh-CN" altLang="en" dirty="0"/>
              <a:t>函数</a:t>
            </a:r>
            <a:r>
              <a:rPr lang="zh-CN" altLang="en-US" dirty="0"/>
              <a:t>判断</a:t>
            </a:r>
            <a:r>
              <a:rPr lang="en-US" altLang="zh-CN" dirty="0"/>
              <a:t>class</a:t>
            </a:r>
            <a:r>
              <a:rPr lang="zh-CN" altLang="en-US" dirty="0"/>
              <a:t>类型。</a:t>
            </a:r>
            <a:endParaRPr lang="en-US" altLang="zh-CN" dirty="0"/>
          </a:p>
          <a:p>
            <a:pPr lvl="1"/>
            <a:r>
              <a:rPr lang="zh-CN" altLang="en-US" dirty="0"/>
              <a:t>使用</a:t>
            </a:r>
            <a:r>
              <a:rPr lang="en" altLang="zh-CN" dirty="0" err="1"/>
              <a:t>dir</a:t>
            </a:r>
            <a:r>
              <a:rPr lang="en" altLang="zh-CN" dirty="0"/>
              <a:t>()</a:t>
            </a:r>
            <a:r>
              <a:rPr lang="zh-CN" altLang="en-US" dirty="0"/>
              <a:t>来获得一个对象的所有属性和方法，并以一个字符串列表返回</a:t>
            </a:r>
            <a:endParaRPr lang="en-US" altLang="zh-CN" dirty="0"/>
          </a:p>
          <a:p>
            <a:pPr lvl="1"/>
            <a:endParaRPr lang="en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2D88AFA-C6A5-E449-A192-D704B6755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3366" y="2347402"/>
            <a:ext cx="5012666" cy="183632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138458A-F08D-904A-B6B5-B7EFBC286F4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7816"/>
          <a:stretch/>
        </p:blipFill>
        <p:spPr>
          <a:xfrm>
            <a:off x="1137968" y="3023094"/>
            <a:ext cx="1307025" cy="68241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DC15527-6BB9-BF46-871A-AD5FE61203A8}"/>
              </a:ext>
            </a:extLst>
          </p:cNvPr>
          <p:cNvSpPr/>
          <p:nvPr/>
        </p:nvSpPr>
        <p:spPr>
          <a:xfrm>
            <a:off x="2713367" y="4231402"/>
            <a:ext cx="557266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类似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__</a:t>
            </a:r>
            <a:r>
              <a:rPr lang="e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xxx__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的属性和方法在</a:t>
            </a:r>
            <a:r>
              <a:rPr lang="e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Python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中都是有特殊用途的，比如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__class</a:t>
            </a:r>
            <a:r>
              <a:rPr lang="e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__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方法返回所属类。</a:t>
            </a:r>
          </a:p>
        </p:txBody>
      </p:sp>
    </p:spTree>
    <p:extLst>
      <p:ext uri="{BB962C8B-B14F-4D97-AF65-F5344CB8AC3E}">
        <p14:creationId xmlns:p14="http://schemas.microsoft.com/office/powerpoint/2010/main" val="740878013"/>
      </p:ext>
    </p:extLst>
  </p:cSld>
  <p:clrMapOvr>
    <a:masterClrMapping/>
  </p:clrMapOvr>
  <p:transition spd="slow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E439C2-5ACF-374E-A586-7C56E84A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获取对象信息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A45C470C-B888-4D42-8E3B-1ADD94F3751B}"/>
              </a:ext>
            </a:extLst>
          </p:cNvPr>
          <p:cNvSpPr txBox="1">
            <a:spLocks/>
          </p:cNvSpPr>
          <p:nvPr/>
        </p:nvSpPr>
        <p:spPr>
          <a:xfrm>
            <a:off x="457200" y="819149"/>
            <a:ext cx="8229600" cy="1820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获取对象类型与方法</a:t>
            </a:r>
            <a:endParaRPr lang="en-US" altLang="zh-CN" dirty="0"/>
          </a:p>
          <a:p>
            <a:pPr lvl="1"/>
            <a:r>
              <a:rPr lang="zh-CN" altLang="en-US" dirty="0"/>
              <a:t>判断对象类型，使用</a:t>
            </a:r>
            <a:r>
              <a:rPr lang="en" altLang="zh-CN" dirty="0"/>
              <a:t>type()</a:t>
            </a:r>
            <a:r>
              <a:rPr lang="zh-CN" altLang="en-US" dirty="0"/>
              <a:t>函数</a:t>
            </a:r>
            <a:endParaRPr lang="en-US" altLang="zh-CN" dirty="0"/>
          </a:p>
          <a:p>
            <a:pPr lvl="1"/>
            <a:r>
              <a:rPr lang="zh-CN" altLang="en-US" dirty="0"/>
              <a:t>针对</a:t>
            </a:r>
            <a:r>
              <a:rPr lang="en-US" altLang="zh-CN" dirty="0"/>
              <a:t>class</a:t>
            </a:r>
            <a:r>
              <a:rPr lang="zh-CN" altLang="en-US" dirty="0"/>
              <a:t>的继承关系，使用</a:t>
            </a:r>
            <a:r>
              <a:rPr lang="en" altLang="zh-CN" dirty="0" err="1"/>
              <a:t>isinstance</a:t>
            </a:r>
            <a:r>
              <a:rPr lang="en" altLang="zh-CN" dirty="0"/>
              <a:t>()</a:t>
            </a:r>
            <a:r>
              <a:rPr lang="zh-CN" altLang="en" dirty="0"/>
              <a:t>函数</a:t>
            </a:r>
            <a:r>
              <a:rPr lang="zh-CN" altLang="en-US" dirty="0"/>
              <a:t>判断</a:t>
            </a:r>
            <a:r>
              <a:rPr lang="en-US" altLang="zh-CN" dirty="0"/>
              <a:t>class</a:t>
            </a:r>
            <a:r>
              <a:rPr lang="zh-CN" altLang="en-US" dirty="0"/>
              <a:t>类型。</a:t>
            </a:r>
            <a:endParaRPr lang="en-US" altLang="zh-CN" dirty="0"/>
          </a:p>
          <a:p>
            <a:pPr lvl="1"/>
            <a:r>
              <a:rPr lang="zh-CN" altLang="en-US" dirty="0"/>
              <a:t>使用</a:t>
            </a:r>
            <a:r>
              <a:rPr lang="en" altLang="zh-CN" dirty="0" err="1"/>
              <a:t>dir</a:t>
            </a:r>
            <a:r>
              <a:rPr lang="en" altLang="zh-CN" dirty="0"/>
              <a:t>()</a:t>
            </a:r>
            <a:r>
              <a:rPr lang="zh-CN" altLang="en-US" dirty="0"/>
              <a:t>来获得一个对象的所有属性和方法，并以一个字符串列表返回</a:t>
            </a:r>
            <a:endParaRPr lang="en-US" altLang="zh-CN" dirty="0"/>
          </a:p>
          <a:p>
            <a:pPr lvl="1"/>
            <a:endParaRPr lang="en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4C9F9E1-A217-6E42-BB83-E35EF901E1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7816"/>
          <a:stretch/>
        </p:blipFill>
        <p:spPr>
          <a:xfrm>
            <a:off x="1137968" y="3023094"/>
            <a:ext cx="1307025" cy="68241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2A27314-2A0F-844E-BCD4-2701910A56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3366" y="2347402"/>
            <a:ext cx="5012666" cy="1836323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C0485794-1E7A-E748-A429-56D326D575B5}"/>
              </a:ext>
            </a:extLst>
          </p:cNvPr>
          <p:cNvSpPr/>
          <p:nvPr/>
        </p:nvSpPr>
        <p:spPr>
          <a:xfrm>
            <a:off x="3545456" y="3364303"/>
            <a:ext cx="966088" cy="15981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52F4280-7E8A-FD4A-BED4-3912CDB8953A}"/>
              </a:ext>
            </a:extLst>
          </p:cNvPr>
          <p:cNvSpPr/>
          <p:nvPr/>
        </p:nvSpPr>
        <p:spPr>
          <a:xfrm>
            <a:off x="2993366" y="4324351"/>
            <a:ext cx="557266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dir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()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也会返回类内的方法</a:t>
            </a:r>
          </a:p>
        </p:txBody>
      </p:sp>
    </p:spTree>
    <p:extLst>
      <p:ext uri="{BB962C8B-B14F-4D97-AF65-F5344CB8AC3E}">
        <p14:creationId xmlns:p14="http://schemas.microsoft.com/office/powerpoint/2010/main" val="2732913974"/>
      </p:ext>
    </p:extLst>
  </p:cSld>
  <p:clrMapOvr>
    <a:masterClrMapping/>
  </p:clrMapOvr>
  <p:transition spd="slow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E439C2-5ACF-374E-A586-7C56E84A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获取对象信息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A45C470C-B888-4D42-8E3B-1ADD94F3751B}"/>
              </a:ext>
            </a:extLst>
          </p:cNvPr>
          <p:cNvSpPr txBox="1">
            <a:spLocks/>
          </p:cNvSpPr>
          <p:nvPr/>
        </p:nvSpPr>
        <p:spPr>
          <a:xfrm>
            <a:off x="457200" y="819149"/>
            <a:ext cx="8229600" cy="1820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获取对象类型与方法</a:t>
            </a:r>
            <a:endParaRPr lang="en-US" altLang="zh-CN" dirty="0"/>
          </a:p>
          <a:p>
            <a:pPr lvl="1"/>
            <a:r>
              <a:rPr lang="zh-CN" altLang="en-US" dirty="0"/>
              <a:t>判断对象类型，使用</a:t>
            </a:r>
            <a:r>
              <a:rPr lang="en" altLang="zh-CN" dirty="0"/>
              <a:t>type()</a:t>
            </a:r>
            <a:r>
              <a:rPr lang="zh-CN" altLang="en-US" dirty="0"/>
              <a:t>函数</a:t>
            </a:r>
            <a:endParaRPr lang="en-US" altLang="zh-CN" dirty="0"/>
          </a:p>
          <a:p>
            <a:pPr lvl="1"/>
            <a:r>
              <a:rPr lang="zh-CN" altLang="en-US" dirty="0"/>
              <a:t>针对</a:t>
            </a:r>
            <a:r>
              <a:rPr lang="en-US" altLang="zh-CN" dirty="0"/>
              <a:t>class</a:t>
            </a:r>
            <a:r>
              <a:rPr lang="zh-CN" altLang="en-US" dirty="0"/>
              <a:t>的继承关系，使用</a:t>
            </a:r>
            <a:r>
              <a:rPr lang="en" altLang="zh-CN" dirty="0" err="1"/>
              <a:t>isinstance</a:t>
            </a:r>
            <a:r>
              <a:rPr lang="en" altLang="zh-CN" dirty="0"/>
              <a:t>()</a:t>
            </a:r>
            <a:r>
              <a:rPr lang="zh-CN" altLang="en" dirty="0"/>
              <a:t>函数</a:t>
            </a:r>
            <a:r>
              <a:rPr lang="zh-CN" altLang="en-US" dirty="0"/>
              <a:t>判断</a:t>
            </a:r>
            <a:r>
              <a:rPr lang="en-US" altLang="zh-CN" dirty="0"/>
              <a:t>class</a:t>
            </a:r>
            <a:r>
              <a:rPr lang="zh-CN" altLang="en-US" dirty="0"/>
              <a:t>类型。</a:t>
            </a:r>
            <a:endParaRPr lang="en-US" altLang="zh-CN" dirty="0"/>
          </a:p>
          <a:p>
            <a:pPr lvl="1"/>
            <a:r>
              <a:rPr lang="zh-CN" altLang="en-US" dirty="0"/>
              <a:t>使用</a:t>
            </a:r>
            <a:r>
              <a:rPr lang="en" altLang="zh-CN" dirty="0" err="1"/>
              <a:t>dir</a:t>
            </a:r>
            <a:r>
              <a:rPr lang="en" altLang="zh-CN" dirty="0"/>
              <a:t>()</a:t>
            </a:r>
            <a:r>
              <a:rPr lang="zh-CN" altLang="en-US" dirty="0"/>
              <a:t>来获得一个对象的所有属性和方法，并以一个字符串列表返回</a:t>
            </a:r>
            <a:endParaRPr lang="en-US" altLang="zh-CN" dirty="0"/>
          </a:p>
          <a:p>
            <a:pPr lvl="1"/>
            <a:endParaRPr lang="en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52F4280-7E8A-FD4A-BED4-3912CDB8953A}"/>
              </a:ext>
            </a:extLst>
          </p:cNvPr>
          <p:cNvSpPr/>
          <p:nvPr/>
        </p:nvSpPr>
        <p:spPr>
          <a:xfrm>
            <a:off x="2958860" y="4396443"/>
            <a:ext cx="557266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dir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()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亦可用于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Python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内置数据类型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6507EED-C640-1148-B26C-11B7F0AD7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849" y="2274968"/>
            <a:ext cx="656721" cy="246642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53202B1D-A70F-AE42-BD0B-9C22D3A4C501}"/>
              </a:ext>
            </a:extLst>
          </p:cNvPr>
          <p:cNvSpPr/>
          <p:nvPr/>
        </p:nvSpPr>
        <p:spPr>
          <a:xfrm>
            <a:off x="1787849" y="4190694"/>
            <a:ext cx="472287" cy="57046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52F0CFD5-6FD7-AC40-952C-B9E59A067AA7}"/>
              </a:ext>
            </a:extLst>
          </p:cNvPr>
          <p:cNvCxnSpPr>
            <a:cxnSpLocks/>
          </p:cNvCxnSpPr>
          <p:nvPr/>
        </p:nvCxnSpPr>
        <p:spPr>
          <a:xfrm flipV="1">
            <a:off x="2337758" y="3190982"/>
            <a:ext cx="2094069" cy="113336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2AD43277-8558-9549-B7AC-2F55DE6AD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474893"/>
            <a:ext cx="1019355" cy="1529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682620"/>
      </p:ext>
    </p:extLst>
  </p:cSld>
  <p:clrMapOvr>
    <a:masterClrMapping/>
  </p:clrMapOvr>
  <p:transition spd="slow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E439C2-5ACF-374E-A586-7C56E84A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获取对象信息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A45C470C-B888-4D42-8E3B-1ADD94F3751B}"/>
              </a:ext>
            </a:extLst>
          </p:cNvPr>
          <p:cNvSpPr txBox="1">
            <a:spLocks/>
          </p:cNvSpPr>
          <p:nvPr/>
        </p:nvSpPr>
        <p:spPr>
          <a:xfrm>
            <a:off x="457200" y="819149"/>
            <a:ext cx="8229600" cy="2519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获取对象类型与方法</a:t>
            </a:r>
            <a:endParaRPr lang="en-US" altLang="zh-CN" dirty="0"/>
          </a:p>
          <a:p>
            <a:pPr lvl="1"/>
            <a:r>
              <a:rPr lang="zh-CN" altLang="en-US" dirty="0"/>
              <a:t>判断对象类型，使用</a:t>
            </a:r>
            <a:r>
              <a:rPr lang="en" altLang="zh-CN" dirty="0"/>
              <a:t>type()</a:t>
            </a:r>
            <a:r>
              <a:rPr lang="zh-CN" altLang="en-US" dirty="0"/>
              <a:t>函数</a:t>
            </a:r>
            <a:endParaRPr lang="en-US" altLang="zh-CN" dirty="0"/>
          </a:p>
          <a:p>
            <a:pPr lvl="1"/>
            <a:r>
              <a:rPr lang="zh-CN" altLang="en-US" dirty="0"/>
              <a:t>针对</a:t>
            </a:r>
            <a:r>
              <a:rPr lang="en-US" altLang="zh-CN" dirty="0"/>
              <a:t>class</a:t>
            </a:r>
            <a:r>
              <a:rPr lang="zh-CN" altLang="en-US" dirty="0"/>
              <a:t>的继承关系，使用</a:t>
            </a:r>
            <a:r>
              <a:rPr lang="en" altLang="zh-CN" dirty="0" err="1"/>
              <a:t>isinstance</a:t>
            </a:r>
            <a:r>
              <a:rPr lang="en" altLang="zh-CN" dirty="0"/>
              <a:t>()</a:t>
            </a:r>
            <a:r>
              <a:rPr lang="zh-CN" altLang="en" dirty="0"/>
              <a:t>函数</a:t>
            </a:r>
            <a:r>
              <a:rPr lang="zh-CN" altLang="en-US" dirty="0"/>
              <a:t>判断</a:t>
            </a:r>
            <a:r>
              <a:rPr lang="en-US" altLang="zh-CN" dirty="0"/>
              <a:t>class</a:t>
            </a:r>
            <a:r>
              <a:rPr lang="zh-CN" altLang="en-US" dirty="0"/>
              <a:t>类型。</a:t>
            </a:r>
            <a:endParaRPr lang="en-US" altLang="zh-CN" dirty="0"/>
          </a:p>
          <a:p>
            <a:pPr lvl="1"/>
            <a:r>
              <a:rPr lang="zh-CN" altLang="en-US" dirty="0"/>
              <a:t>使用</a:t>
            </a:r>
            <a:r>
              <a:rPr lang="en" altLang="zh-CN" dirty="0" err="1"/>
              <a:t>dir</a:t>
            </a:r>
            <a:r>
              <a:rPr lang="en" altLang="zh-CN" dirty="0"/>
              <a:t>()</a:t>
            </a:r>
            <a:r>
              <a:rPr lang="zh-CN" altLang="en-US" dirty="0"/>
              <a:t>来获得一个对象的所有属性和方法，并以一个字符串列表返回</a:t>
            </a:r>
            <a:endParaRPr lang="en-US" altLang="zh-CN" dirty="0"/>
          </a:p>
          <a:p>
            <a:pPr lvl="1"/>
            <a:r>
              <a:rPr lang="zh-CN" altLang="en-US" dirty="0"/>
              <a:t>仅仅把属性和方法列出来是不够的，配合</a:t>
            </a:r>
            <a:r>
              <a:rPr lang="en" altLang="zh-CN" dirty="0" err="1"/>
              <a:t>getattr</a:t>
            </a:r>
            <a:r>
              <a:rPr lang="en" altLang="zh-CN" dirty="0"/>
              <a:t>()</a:t>
            </a:r>
            <a:r>
              <a:rPr lang="zh-CN" altLang="en" dirty="0"/>
              <a:t>、</a:t>
            </a:r>
            <a:r>
              <a:rPr lang="en" altLang="zh-CN" dirty="0" err="1"/>
              <a:t>setattr</a:t>
            </a:r>
            <a:r>
              <a:rPr lang="en" altLang="zh-CN" dirty="0"/>
              <a:t>()</a:t>
            </a:r>
            <a:r>
              <a:rPr lang="zh-CN" altLang="en-US" dirty="0"/>
              <a:t>以及</a:t>
            </a:r>
            <a:r>
              <a:rPr lang="en" altLang="zh-CN" dirty="0" err="1"/>
              <a:t>hasattr</a:t>
            </a:r>
            <a:r>
              <a:rPr lang="en" altLang="zh-CN" dirty="0"/>
              <a:t>()</a:t>
            </a:r>
            <a:r>
              <a:rPr lang="zh-CN" altLang="en" dirty="0"/>
              <a:t>，</a:t>
            </a:r>
            <a:r>
              <a:rPr lang="zh-CN" altLang="en-US" dirty="0"/>
              <a:t>可直接操作一个对象的状态</a:t>
            </a:r>
            <a:endParaRPr lang="en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C563E8C-CCFF-3445-A709-87FFC9813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060" y="3277199"/>
            <a:ext cx="2565280" cy="80393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0DCADB6-FD84-F64E-86F9-69776CA38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1433" y="3095365"/>
            <a:ext cx="2565280" cy="1075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945687"/>
      </p:ext>
    </p:extLst>
  </p:cSld>
  <p:clrMapOvr>
    <a:masterClrMapping/>
  </p:clrMapOvr>
  <p:transition spd="slow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E439C2-5ACF-374E-A586-7C56E84A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获取对象信息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A45C470C-B888-4D42-8E3B-1ADD94F3751B}"/>
              </a:ext>
            </a:extLst>
          </p:cNvPr>
          <p:cNvSpPr txBox="1">
            <a:spLocks/>
          </p:cNvSpPr>
          <p:nvPr/>
        </p:nvSpPr>
        <p:spPr>
          <a:xfrm>
            <a:off x="457200" y="819149"/>
            <a:ext cx="8229600" cy="1544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注意：</a:t>
            </a:r>
            <a:endParaRPr lang="en-US" altLang="zh-CN" dirty="0"/>
          </a:p>
          <a:p>
            <a:pPr lvl="1"/>
            <a:r>
              <a:rPr lang="zh-CN" altLang="en-US" dirty="0"/>
              <a:t>通过内置的一系列函数，我们可以对任意一个</a:t>
            </a:r>
            <a:r>
              <a:rPr lang="en" altLang="zh-CN" dirty="0"/>
              <a:t>Python</a:t>
            </a:r>
            <a:r>
              <a:rPr lang="zh-CN" altLang="en-US" dirty="0"/>
              <a:t>对象进行剖析，拿到其内部的数据。要注意的是，只有在不知道对象信息的时候，我们才会去获取对象信息。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21A6325-194F-904B-AE6F-667C5BD3CFFE}"/>
              </a:ext>
            </a:extLst>
          </p:cNvPr>
          <p:cNvSpPr/>
          <p:nvPr/>
        </p:nvSpPr>
        <p:spPr>
          <a:xfrm>
            <a:off x="1511878" y="2308660"/>
            <a:ext cx="162095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如果可以直接写</a:t>
            </a:r>
            <a:endParaRPr lang="zh-CN" altLang="en-US" sz="1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A5E1291-A485-9E4A-92E0-68EE5DF18EE8}"/>
              </a:ext>
            </a:extLst>
          </p:cNvPr>
          <p:cNvSpPr/>
          <p:nvPr/>
        </p:nvSpPr>
        <p:spPr>
          <a:xfrm>
            <a:off x="1511878" y="3514595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就不要写</a:t>
            </a:r>
            <a:endParaRPr lang="zh-CN" altLang="en-US" sz="16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ABB37D3-2F19-094D-8E7B-A49AC6116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351" y="2894054"/>
            <a:ext cx="5270740" cy="33215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EE9F62B-4C39-7B49-886F-7C35CCD00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351" y="4093588"/>
            <a:ext cx="5531316" cy="351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209444"/>
      </p:ext>
    </p:extLst>
  </p:cSld>
  <p:clrMapOvr>
    <a:masterClrMapping/>
  </p:clrMapOvr>
  <p:transition spd="slow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方正兰亭细黑_GBK" pitchFamily="2" charset="-122"/>
                <a:ea typeface="方正兰亭细黑_GBK" pitchFamily="2" charset="-122"/>
              </a:rPr>
              <a:t>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2101" y="3053758"/>
            <a:ext cx="269782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人工智能与</a:t>
            </a:r>
            <a:endParaRPr lang="en-US" altLang="zh-CN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程序设计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KSO_Shape"/>
            <p:cNvSpPr>
              <a:spLocks/>
            </p:cNvSpPr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314053" y="1054436"/>
            <a:ext cx="3848924" cy="1289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获取对象信息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实例属性和类属性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实现二维列表类</a:t>
            </a:r>
          </a:p>
        </p:txBody>
      </p:sp>
      <p:sp>
        <p:nvSpPr>
          <p:cNvPr id="24" name="椭圆 23"/>
          <p:cNvSpPr/>
          <p:nvPr/>
        </p:nvSpPr>
        <p:spPr>
          <a:xfrm>
            <a:off x="3909594" y="1632361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E285C2D4-1734-D84F-BD33-D79F098E43AF}"/>
              </a:ext>
            </a:extLst>
          </p:cNvPr>
          <p:cNvSpPr/>
          <p:nvPr/>
        </p:nvSpPr>
        <p:spPr>
          <a:xfrm>
            <a:off x="3909594" y="1235747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61CD2AC-283D-704B-B47F-9231BEE8F30A}"/>
              </a:ext>
            </a:extLst>
          </p:cNvPr>
          <p:cNvSpPr/>
          <p:nvPr/>
        </p:nvSpPr>
        <p:spPr>
          <a:xfrm>
            <a:off x="3909594" y="2041009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5623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5" grpId="0"/>
      <p:bldP spid="24" grpId="0" animBg="1"/>
      <p:bldP spid="31" grpId="0" animBg="1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1F0103-B7E0-704B-A66F-93C6E45EF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实例属性与类属性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7B17D8-BF14-7F4F-A134-EFDC4D0DA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由于</a:t>
            </a:r>
            <a:r>
              <a:rPr kumimoji="1" lang="en" altLang="zh-CN" dirty="0"/>
              <a:t>Python</a:t>
            </a:r>
            <a:r>
              <a:rPr kumimoji="1" lang="zh-CN" altLang="en-US" dirty="0"/>
              <a:t>是动态语言，根据类创建的实例可以任意绑定属性。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给实例绑定属性的方法是通过实例变量，或者通过</a:t>
            </a:r>
            <a:r>
              <a:rPr kumimoji="1" lang="en" altLang="zh-CN" dirty="0"/>
              <a:t>self</a:t>
            </a:r>
            <a:r>
              <a:rPr kumimoji="1" lang="zh-CN" altLang="en-US" dirty="0"/>
              <a:t>变量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5080CEB-CE1B-7549-A62E-3E71A3D14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910" y="2343228"/>
            <a:ext cx="5546786" cy="1164367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D8AE58A-BAFC-6748-A2C5-FB719F4E6B48}"/>
              </a:ext>
            </a:extLst>
          </p:cNvPr>
          <p:cNvSpPr/>
          <p:nvPr/>
        </p:nvSpPr>
        <p:spPr>
          <a:xfrm>
            <a:off x="1796476" y="3201796"/>
            <a:ext cx="989857" cy="21426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FF55750-078E-AA45-9BBD-193A35E37965}"/>
              </a:ext>
            </a:extLst>
          </p:cNvPr>
          <p:cNvSpPr/>
          <p:nvPr/>
        </p:nvSpPr>
        <p:spPr>
          <a:xfrm>
            <a:off x="2406076" y="2711146"/>
            <a:ext cx="1415426" cy="21426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2163666"/>
      </p:ext>
    </p:extLst>
  </p:cSld>
  <p:clrMapOvr>
    <a:masterClrMapping/>
  </p:clrMapOvr>
  <p:transition spd="slow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1F0103-B7E0-704B-A66F-93C6E45EF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实例属性与类属性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7B17D8-BF14-7F4F-A134-EFDC4D0DA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1855039"/>
          </a:xfrm>
        </p:spPr>
        <p:txBody>
          <a:bodyPr/>
          <a:lstStyle/>
          <a:p>
            <a:r>
              <a:rPr kumimoji="1" lang="zh-CN" altLang="en-US" dirty="0"/>
              <a:t>由于</a:t>
            </a:r>
            <a:r>
              <a:rPr kumimoji="1" lang="en" altLang="zh-CN" dirty="0"/>
              <a:t>Python</a:t>
            </a:r>
            <a:r>
              <a:rPr kumimoji="1" lang="zh-CN" altLang="en-US" dirty="0"/>
              <a:t>是动态语言，根据类创建的实例可以任意绑定属性。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给实例绑定属性的方法是通过实例变量，或者通过</a:t>
            </a:r>
            <a:r>
              <a:rPr kumimoji="1" lang="en" altLang="zh-CN" dirty="0"/>
              <a:t>self</a:t>
            </a:r>
            <a:r>
              <a:rPr kumimoji="1" lang="zh-CN" altLang="en-US" dirty="0"/>
              <a:t>变量</a:t>
            </a:r>
            <a:endParaRPr kumimoji="1" lang="en-US" altLang="zh-CN" dirty="0"/>
          </a:p>
          <a:p>
            <a:r>
              <a:rPr kumimoji="1" lang="zh-CN" altLang="en-US" dirty="0"/>
              <a:t>给类本身绑定属性，可以直接在</a:t>
            </a:r>
            <a:r>
              <a:rPr kumimoji="1" lang="en" altLang="zh-CN" dirty="0"/>
              <a:t>class</a:t>
            </a:r>
            <a:r>
              <a:rPr kumimoji="1" lang="zh-CN" altLang="en-US" dirty="0"/>
              <a:t>中定义属性，称为类属性，归类所有</a:t>
            </a:r>
            <a:endParaRPr kumimoji="1" lang="en-US" altLang="zh-CN" dirty="0"/>
          </a:p>
          <a:p>
            <a:endParaRPr kumimoji="1"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68CE361-7BC5-DD4F-8C22-9AC62B748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293" y="2404707"/>
            <a:ext cx="6063771" cy="107305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D41D806-25DC-EF4D-8CDA-62872DE5481A}"/>
              </a:ext>
            </a:extLst>
          </p:cNvPr>
          <p:cNvSpPr/>
          <p:nvPr/>
        </p:nvSpPr>
        <p:spPr>
          <a:xfrm>
            <a:off x="2121404" y="2674189"/>
            <a:ext cx="1415426" cy="21426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444121"/>
      </p:ext>
    </p:extLst>
  </p:cSld>
  <p:clrMapOvr>
    <a:masterClrMapping/>
  </p:clrMapOvr>
  <p:transition spd="slow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1F0103-B7E0-704B-A66F-93C6E45EF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实例属性与类属性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7B17D8-BF14-7F4F-A134-EFDC4D0DA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1855039"/>
          </a:xfrm>
        </p:spPr>
        <p:txBody>
          <a:bodyPr/>
          <a:lstStyle/>
          <a:p>
            <a:r>
              <a:rPr kumimoji="1" lang="zh-CN" altLang="en-US" dirty="0"/>
              <a:t>由于</a:t>
            </a:r>
            <a:r>
              <a:rPr kumimoji="1" lang="en" altLang="zh-CN" dirty="0"/>
              <a:t>Python</a:t>
            </a:r>
            <a:r>
              <a:rPr kumimoji="1" lang="zh-CN" altLang="en-US" dirty="0"/>
              <a:t>是动态语言，根据类创建的实例可以任意绑定属性。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给实例绑定属性的方法是通过实例变量，或者通过</a:t>
            </a:r>
            <a:r>
              <a:rPr kumimoji="1" lang="en" altLang="zh-CN" dirty="0"/>
              <a:t>self</a:t>
            </a:r>
            <a:r>
              <a:rPr kumimoji="1" lang="zh-CN" altLang="en-US" dirty="0"/>
              <a:t>变量</a:t>
            </a:r>
            <a:endParaRPr kumimoji="1" lang="en-US" altLang="zh-CN" dirty="0"/>
          </a:p>
          <a:p>
            <a:r>
              <a:rPr kumimoji="1" lang="zh-CN" altLang="en-US" dirty="0"/>
              <a:t>给类本身绑定属性，可以直接在</a:t>
            </a:r>
            <a:r>
              <a:rPr kumimoji="1" lang="en" altLang="zh-CN" dirty="0"/>
              <a:t>class</a:t>
            </a:r>
            <a:r>
              <a:rPr kumimoji="1" lang="zh-CN" altLang="en-US" dirty="0"/>
              <a:t>中定义属性，称为类属性，归类所有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655B417-E2AE-434B-96B4-B8A2B4CD1450}"/>
              </a:ext>
            </a:extLst>
          </p:cNvPr>
          <p:cNvSpPr/>
          <p:nvPr/>
        </p:nvSpPr>
        <p:spPr>
          <a:xfrm>
            <a:off x="1453550" y="4031962"/>
            <a:ext cx="597379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定义了一个类属性后，这个属性虽然归类所有，但类的所有实例</a:t>
            </a:r>
            <a:r>
              <a:rPr lang="zh-CN" altLang="en-US" sz="16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都可以访问到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A19902C-FF69-6949-B994-A52FE02F5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592" y="2208158"/>
            <a:ext cx="4488731" cy="1624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231907"/>
      </p:ext>
    </p:extLst>
  </p:cSld>
  <p:clrMapOvr>
    <a:masterClrMapping/>
  </p:clrMapOvr>
  <p:transition spd="slow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1F0103-B7E0-704B-A66F-93C6E45EF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实例属性与类属性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7B17D8-BF14-7F4F-A134-EFDC4D0DA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1855039"/>
          </a:xfrm>
        </p:spPr>
        <p:txBody>
          <a:bodyPr/>
          <a:lstStyle/>
          <a:p>
            <a:r>
              <a:rPr kumimoji="1" lang="zh-CN" altLang="en-US" dirty="0"/>
              <a:t>注意：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在编写程序的时候，不要对实例属性和类属性使用相同的名字，因为相同名称的实例属性将屏蔽掉类属性</a:t>
            </a:r>
            <a:endParaRPr kumimoji="1" lang="en-US" altLang="zh-CN" dirty="0"/>
          </a:p>
          <a:p>
            <a:pPr marL="457200" lvl="1" indent="0">
              <a:buNone/>
            </a:pPr>
            <a:endParaRPr kumimoji="1" lang="en-US" altLang="zh-CN" dirty="0"/>
          </a:p>
          <a:p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B40396F-3C4E-4B48-944A-275102F657E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1418"/>
          <a:stretch/>
        </p:blipFill>
        <p:spPr>
          <a:xfrm>
            <a:off x="2679698" y="2233337"/>
            <a:ext cx="3143252" cy="160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364063"/>
      </p:ext>
    </p:extLst>
  </p:cSld>
  <p:clrMapOvr>
    <a:masterClrMapping/>
  </p:clrMapOvr>
  <p:transition spd="slow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方正兰亭细黑_GBK" pitchFamily="2" charset="-122"/>
                <a:ea typeface="方正兰亭细黑_GBK" pitchFamily="2" charset="-122"/>
              </a:rPr>
              <a:t>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2101" y="3053758"/>
            <a:ext cx="269782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人工智能与</a:t>
            </a:r>
            <a:endParaRPr lang="en-US" altLang="zh-CN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程序设计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KSO_Shape"/>
            <p:cNvSpPr>
              <a:spLocks/>
            </p:cNvSpPr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314053" y="1054436"/>
            <a:ext cx="3848924" cy="1289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获取对象信息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实例属性和类属性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实现二维列表类</a:t>
            </a:r>
          </a:p>
        </p:txBody>
      </p:sp>
      <p:sp>
        <p:nvSpPr>
          <p:cNvPr id="24" name="椭圆 23"/>
          <p:cNvSpPr/>
          <p:nvPr/>
        </p:nvSpPr>
        <p:spPr>
          <a:xfrm>
            <a:off x="3909594" y="1632361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E285C2D4-1734-D84F-BD33-D79F098E43AF}"/>
              </a:ext>
            </a:extLst>
          </p:cNvPr>
          <p:cNvSpPr/>
          <p:nvPr/>
        </p:nvSpPr>
        <p:spPr>
          <a:xfrm>
            <a:off x="3909594" y="1235747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61CD2AC-283D-704B-B47F-9231BEE8F30A}"/>
              </a:ext>
            </a:extLst>
          </p:cNvPr>
          <p:cNvSpPr/>
          <p:nvPr/>
        </p:nvSpPr>
        <p:spPr>
          <a:xfrm>
            <a:off x="3909594" y="2041009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1942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5" grpId="0"/>
      <p:bldP spid="24" grpId="0" animBg="1"/>
      <p:bldP spid="31" grpId="0" animBg="1"/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D6DD89-3C23-A54F-8ABD-495BB38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实现二维列表类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5F1B479-CDEC-714D-9F6C-B7FE7EB3D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819150"/>
            <a:ext cx="8351301" cy="2361372"/>
          </a:xfrm>
        </p:spPr>
        <p:txBody>
          <a:bodyPr>
            <a:normAutofit/>
          </a:bodyPr>
          <a:lstStyle/>
          <a:p>
            <a:r>
              <a:rPr lang="zh-CN" altLang="en-US" dirty="0"/>
              <a:t>二维列表</a:t>
            </a:r>
            <a:endParaRPr lang="en-US" altLang="zh-CN" dirty="0"/>
          </a:p>
          <a:p>
            <a:pPr lvl="1"/>
            <a:r>
              <a:rPr lang="zh-CN" altLang="en-US" dirty="0"/>
              <a:t>二维列表的初始化</a:t>
            </a:r>
            <a:endParaRPr lang="en-US" altLang="zh-CN" dirty="0"/>
          </a:p>
          <a:p>
            <a:pPr lvl="1"/>
            <a:r>
              <a:rPr lang="zh-CN" altLang="en-US" dirty="0"/>
              <a:t>二维列表的访问，索引和获取</a:t>
            </a:r>
            <a:endParaRPr lang="en-US" altLang="zh-CN" dirty="0"/>
          </a:p>
          <a:p>
            <a:pPr lvl="1"/>
            <a:r>
              <a:rPr lang="zh-CN" altLang="en-US" dirty="0"/>
              <a:t>二维列表的元素增加与删除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6815EC3-36AB-A94C-89A6-391BA8B0A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758411"/>
            <a:ext cx="3910806" cy="284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58491"/>
      </p:ext>
    </p:extLst>
  </p:cSld>
  <p:clrMapOvr>
    <a:masterClrMapping/>
  </p:clrMapOvr>
  <p:transition spd="slow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D6DD89-3C23-A54F-8ABD-495BB38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实现二维列表类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5F1B479-CDEC-714D-9F6C-B7FE7EB3D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819150"/>
            <a:ext cx="8351301" cy="2361372"/>
          </a:xfrm>
        </p:spPr>
        <p:txBody>
          <a:bodyPr>
            <a:normAutofit/>
          </a:bodyPr>
          <a:lstStyle/>
          <a:p>
            <a:r>
              <a:rPr lang="zh-CN" altLang="en-US" dirty="0"/>
              <a:t>二维列表</a:t>
            </a:r>
            <a:endParaRPr lang="en-US" altLang="zh-CN" dirty="0"/>
          </a:p>
          <a:p>
            <a:pPr lvl="1"/>
            <a:r>
              <a:rPr lang="zh-CN" altLang="en-US" dirty="0"/>
              <a:t>二维列表的初始化（构造函数）</a:t>
            </a:r>
            <a:endParaRPr lang="en-US" altLang="zh-CN" dirty="0"/>
          </a:p>
          <a:p>
            <a:pPr lvl="2"/>
            <a:r>
              <a:rPr lang="zh-CN" altLang="en-US" dirty="0"/>
              <a:t>从给定二维列表初始化</a:t>
            </a:r>
            <a:endParaRPr lang="en-US" altLang="zh-CN" dirty="0"/>
          </a:p>
          <a:p>
            <a:pPr lvl="2"/>
            <a:r>
              <a:rPr lang="zh-CN" altLang="en-US" dirty="0"/>
              <a:t>指定列表大小，所有元素赋值相同</a:t>
            </a:r>
            <a:endParaRPr lang="en-US" altLang="zh-CN" dirty="0"/>
          </a:p>
          <a:p>
            <a:pPr lvl="2"/>
            <a:r>
              <a:rPr lang="zh-CN" altLang="en-US" dirty="0"/>
              <a:t>从给定的一维列表初始化二维列表，并根据参数定义列表大小</a:t>
            </a:r>
            <a:endParaRPr lang="en-US" altLang="zh-CN" dirty="0"/>
          </a:p>
          <a:p>
            <a:pPr lvl="2"/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23329102"/>
      </p:ext>
    </p:extLst>
  </p:cSld>
  <p:clrMapOvr>
    <a:masterClrMapping/>
  </p:clrMapOvr>
  <p:transition spd="slow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D6DD89-3C23-A54F-8ABD-495BB38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实现二维列表类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5F1B479-CDEC-714D-9F6C-B7FE7EB3D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819150"/>
            <a:ext cx="8351301" cy="2361372"/>
          </a:xfrm>
        </p:spPr>
        <p:txBody>
          <a:bodyPr>
            <a:normAutofit/>
          </a:bodyPr>
          <a:lstStyle/>
          <a:p>
            <a:r>
              <a:rPr lang="zh-CN" altLang="en-US" dirty="0"/>
              <a:t>二维列表</a:t>
            </a:r>
            <a:endParaRPr lang="en-US" altLang="zh-CN" dirty="0"/>
          </a:p>
          <a:p>
            <a:pPr lvl="1"/>
            <a:r>
              <a:rPr lang="zh-CN" altLang="en-US" dirty="0"/>
              <a:t>二维列表的初始化（构造函数）</a:t>
            </a:r>
            <a:endParaRPr lang="en-US" altLang="zh-CN" dirty="0"/>
          </a:p>
          <a:p>
            <a:pPr lvl="2"/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69DAD34-F7B9-1C46-9490-82B6880C4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449" y="1575757"/>
            <a:ext cx="4720531" cy="3311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916672"/>
      </p:ext>
    </p:extLst>
  </p:cSld>
  <p:clrMapOvr>
    <a:masterClrMapping/>
  </p:clrMapOvr>
  <p:transition spd="slow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D6DD89-3C23-A54F-8ABD-495BB38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实现二维列表类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5F1B479-CDEC-714D-9F6C-B7FE7EB3D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819150"/>
            <a:ext cx="8351301" cy="2361372"/>
          </a:xfrm>
        </p:spPr>
        <p:txBody>
          <a:bodyPr>
            <a:normAutofit/>
          </a:bodyPr>
          <a:lstStyle/>
          <a:p>
            <a:r>
              <a:rPr lang="zh-CN" altLang="en-US" dirty="0"/>
              <a:t>二维列表</a:t>
            </a:r>
            <a:endParaRPr lang="en-US" altLang="zh-CN" dirty="0"/>
          </a:p>
          <a:p>
            <a:pPr lvl="1"/>
            <a:r>
              <a:rPr lang="zh-CN" altLang="en-US" dirty="0"/>
              <a:t>二维列表的初始化（构造函数）</a:t>
            </a:r>
            <a:endParaRPr lang="en-US" altLang="zh-CN" dirty="0"/>
          </a:p>
          <a:p>
            <a:pPr lvl="2"/>
            <a:r>
              <a:rPr lang="zh-CN" altLang="en-US" dirty="0"/>
              <a:t>输入参数判定是否合法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69DAD34-F7B9-1C46-9490-82B6880C4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3469" y="1328250"/>
            <a:ext cx="4720531" cy="3311129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444D2F6-532D-FF48-8D9E-F8650211C4B2}"/>
              </a:ext>
            </a:extLst>
          </p:cNvPr>
          <p:cNvSpPr/>
          <p:nvPr/>
        </p:nvSpPr>
        <p:spPr>
          <a:xfrm>
            <a:off x="4755246" y="1939566"/>
            <a:ext cx="2476500" cy="33612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72558403"/>
      </p:ext>
    </p:extLst>
  </p:cSld>
  <p:clrMapOvr>
    <a:masterClrMapping/>
  </p:clrMapOvr>
  <p:transition spd="slow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D6DD89-3C23-A54F-8ABD-495BB38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实现二维列表类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5F1B479-CDEC-714D-9F6C-B7FE7EB3D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819150"/>
            <a:ext cx="8351301" cy="2361372"/>
          </a:xfrm>
        </p:spPr>
        <p:txBody>
          <a:bodyPr>
            <a:normAutofit/>
          </a:bodyPr>
          <a:lstStyle/>
          <a:p>
            <a:r>
              <a:rPr lang="zh-CN" altLang="en-US" dirty="0"/>
              <a:t>二维列表</a:t>
            </a:r>
            <a:endParaRPr lang="en-US" altLang="zh-CN" dirty="0"/>
          </a:p>
          <a:p>
            <a:pPr lvl="1"/>
            <a:r>
              <a:rPr lang="zh-CN" altLang="en-US" dirty="0"/>
              <a:t>二维列表的初始化（构造函数）</a:t>
            </a:r>
            <a:endParaRPr lang="en-US" altLang="zh-CN" dirty="0"/>
          </a:p>
          <a:p>
            <a:pPr lvl="2"/>
            <a:r>
              <a:rPr lang="zh-CN" altLang="en-US" dirty="0"/>
              <a:t>输入参数判定是否合法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69DAD34-F7B9-1C46-9490-82B6880C4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3469" y="1328250"/>
            <a:ext cx="4720531" cy="3311129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444D2F6-532D-FF48-8D9E-F8650211C4B2}"/>
              </a:ext>
            </a:extLst>
          </p:cNvPr>
          <p:cNvSpPr/>
          <p:nvPr/>
        </p:nvSpPr>
        <p:spPr>
          <a:xfrm>
            <a:off x="4755246" y="1939566"/>
            <a:ext cx="2476500" cy="33612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C5164F8-8742-6E46-859A-F66BFA4CB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51" y="2711299"/>
            <a:ext cx="4511150" cy="1983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757201"/>
      </p:ext>
    </p:extLst>
  </p:cSld>
  <p:clrMapOvr>
    <a:masterClrMapping/>
  </p:clrMapOvr>
  <p:transition spd="slow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D6DD89-3C23-A54F-8ABD-495BB38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实现二维列表类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5F1B479-CDEC-714D-9F6C-B7FE7EB3D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819150"/>
            <a:ext cx="8351301" cy="2361372"/>
          </a:xfrm>
        </p:spPr>
        <p:txBody>
          <a:bodyPr>
            <a:normAutofit/>
          </a:bodyPr>
          <a:lstStyle/>
          <a:p>
            <a:r>
              <a:rPr lang="zh-CN" altLang="en-US" dirty="0"/>
              <a:t>二维列表</a:t>
            </a:r>
            <a:endParaRPr lang="en-US" altLang="zh-CN" dirty="0"/>
          </a:p>
          <a:p>
            <a:pPr lvl="1"/>
            <a:r>
              <a:rPr lang="zh-CN" altLang="en-US" dirty="0"/>
              <a:t>二维列表的初始化（构造函数）</a:t>
            </a:r>
            <a:endParaRPr lang="en-US" altLang="zh-CN" dirty="0"/>
          </a:p>
          <a:p>
            <a:pPr lvl="2"/>
            <a:r>
              <a:rPr lang="zh-CN" altLang="en-US" dirty="0"/>
              <a:t>从给定二维列表初始化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69DAD34-F7B9-1C46-9490-82B6880C4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3469" y="1328250"/>
            <a:ext cx="4720531" cy="3311129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444D2F6-532D-FF48-8D9E-F8650211C4B2}"/>
              </a:ext>
            </a:extLst>
          </p:cNvPr>
          <p:cNvSpPr/>
          <p:nvPr/>
        </p:nvSpPr>
        <p:spPr>
          <a:xfrm>
            <a:off x="4775871" y="2317702"/>
            <a:ext cx="2683708" cy="36362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3200481"/>
      </p:ext>
    </p:extLst>
  </p:cSld>
  <p:clrMapOvr>
    <a:masterClrMapping/>
  </p:clrMapOvr>
  <p:transition spd="slow">
    <p:pull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D6DD89-3C23-A54F-8ABD-495BB38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实现二维列表类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5F1B479-CDEC-714D-9F6C-B7FE7EB3D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819150"/>
            <a:ext cx="8351301" cy="2361372"/>
          </a:xfrm>
        </p:spPr>
        <p:txBody>
          <a:bodyPr>
            <a:normAutofit/>
          </a:bodyPr>
          <a:lstStyle/>
          <a:p>
            <a:r>
              <a:rPr lang="zh-CN" altLang="en-US" dirty="0"/>
              <a:t>二维列表</a:t>
            </a:r>
            <a:endParaRPr lang="en-US" altLang="zh-CN" dirty="0"/>
          </a:p>
          <a:p>
            <a:pPr lvl="1"/>
            <a:r>
              <a:rPr lang="zh-CN" altLang="en-US" dirty="0"/>
              <a:t>二维列表的初始化（构造函数）</a:t>
            </a:r>
            <a:endParaRPr lang="en-US" altLang="zh-CN" dirty="0"/>
          </a:p>
          <a:p>
            <a:pPr lvl="2"/>
            <a:r>
              <a:rPr lang="zh-CN" altLang="en-US" dirty="0"/>
              <a:t>指定列表大小，元素赋值相同</a:t>
            </a:r>
          </a:p>
          <a:p>
            <a:pPr lvl="2"/>
            <a:endParaRPr lang="zh-CN" altLang="en-US" dirty="0"/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69DAD34-F7B9-1C46-9490-82B6880C4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3469" y="1328250"/>
            <a:ext cx="4720531" cy="3311129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444D2F6-532D-FF48-8D9E-F8650211C4B2}"/>
              </a:ext>
            </a:extLst>
          </p:cNvPr>
          <p:cNvSpPr/>
          <p:nvPr/>
        </p:nvSpPr>
        <p:spPr>
          <a:xfrm>
            <a:off x="4909437" y="2802003"/>
            <a:ext cx="2990154" cy="88761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48651435"/>
      </p:ext>
    </p:extLst>
  </p:cSld>
  <p:clrMapOvr>
    <a:masterClrMapping/>
  </p:clrMapOvr>
  <p:transition spd="slow">
    <p:pull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D6DD89-3C23-A54F-8ABD-495BB38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实现二维列表类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5F1B479-CDEC-714D-9F6C-B7FE7EB3D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819150"/>
            <a:ext cx="8351301" cy="2361372"/>
          </a:xfrm>
        </p:spPr>
        <p:txBody>
          <a:bodyPr>
            <a:normAutofit/>
          </a:bodyPr>
          <a:lstStyle/>
          <a:p>
            <a:r>
              <a:rPr lang="zh-CN" altLang="en-US" dirty="0"/>
              <a:t>二维列表</a:t>
            </a:r>
            <a:endParaRPr lang="en-US" altLang="zh-CN" dirty="0"/>
          </a:p>
          <a:p>
            <a:pPr lvl="1"/>
            <a:r>
              <a:rPr lang="zh-CN" altLang="en-US" dirty="0"/>
              <a:t>二维列表的初始化（构造函数）</a:t>
            </a:r>
            <a:endParaRPr lang="en-US" altLang="zh-CN" dirty="0"/>
          </a:p>
          <a:p>
            <a:pPr lvl="2"/>
            <a:r>
              <a:rPr lang="zh-CN" altLang="en-US" dirty="0"/>
              <a:t>从一维列表初始化二维列表</a:t>
            </a:r>
          </a:p>
          <a:p>
            <a:pPr lvl="2"/>
            <a:endParaRPr lang="zh-CN" altLang="en-US" dirty="0"/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69DAD34-F7B9-1C46-9490-82B6880C4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3469" y="1328250"/>
            <a:ext cx="4720531" cy="3311129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444D2F6-532D-FF48-8D9E-F8650211C4B2}"/>
              </a:ext>
            </a:extLst>
          </p:cNvPr>
          <p:cNvSpPr/>
          <p:nvPr/>
        </p:nvSpPr>
        <p:spPr>
          <a:xfrm>
            <a:off x="4923186" y="3689622"/>
            <a:ext cx="3885313" cy="73799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46250151"/>
      </p:ext>
    </p:extLst>
  </p:cSld>
  <p:clrMapOvr>
    <a:masterClrMapping/>
  </p:clrMapOvr>
  <p:transition spd="slow">
    <p:pull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D6DD89-3C23-A54F-8ABD-495BB38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实现二维列表类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5F1B479-CDEC-714D-9F6C-B7FE7EB3D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819150"/>
            <a:ext cx="8351301" cy="2361372"/>
          </a:xfrm>
        </p:spPr>
        <p:txBody>
          <a:bodyPr>
            <a:normAutofit/>
          </a:bodyPr>
          <a:lstStyle/>
          <a:p>
            <a:r>
              <a:rPr lang="zh-CN" altLang="en-US" dirty="0"/>
              <a:t>二维列表</a:t>
            </a:r>
            <a:endParaRPr lang="en-US" altLang="zh-CN" dirty="0"/>
          </a:p>
          <a:p>
            <a:pPr lvl="1"/>
            <a:r>
              <a:rPr lang="zh-CN" altLang="en-US" dirty="0"/>
              <a:t>二维列表的访问，索引和获取</a:t>
            </a:r>
            <a:endParaRPr lang="en-US" altLang="zh-CN" dirty="0"/>
          </a:p>
          <a:p>
            <a:pPr lvl="2"/>
            <a:r>
              <a:rPr lang="zh-CN" altLang="en-US" dirty="0"/>
              <a:t>二维列表的访问（私有变量访问）</a:t>
            </a:r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1F963B3-BFCF-F040-97FD-63558C915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066" y="2390540"/>
            <a:ext cx="3572711" cy="789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907571"/>
      </p:ext>
    </p:extLst>
  </p:cSld>
  <p:clrMapOvr>
    <a:masterClrMapping/>
  </p:clrMapOvr>
  <p:transition spd="slow">
    <p:pull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D6DD89-3C23-A54F-8ABD-495BB38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实现二维列表类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5F1B479-CDEC-714D-9F6C-B7FE7EB3D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819150"/>
            <a:ext cx="8351301" cy="2361372"/>
          </a:xfrm>
        </p:spPr>
        <p:txBody>
          <a:bodyPr>
            <a:normAutofit/>
          </a:bodyPr>
          <a:lstStyle/>
          <a:p>
            <a:r>
              <a:rPr lang="zh-CN" altLang="en-US" dirty="0"/>
              <a:t>二维列表</a:t>
            </a:r>
            <a:endParaRPr lang="en-US" altLang="zh-CN" dirty="0"/>
          </a:p>
          <a:p>
            <a:pPr lvl="1"/>
            <a:r>
              <a:rPr lang="zh-CN" altLang="en-US" dirty="0"/>
              <a:t>二维列表的访问，索引和获取</a:t>
            </a:r>
            <a:endParaRPr lang="en-US" altLang="zh-CN" dirty="0"/>
          </a:p>
          <a:p>
            <a:pPr lvl="2"/>
            <a:r>
              <a:rPr lang="zh-CN" altLang="en-US" dirty="0"/>
              <a:t>二维列表的访问（私有变量访问）</a:t>
            </a:r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F69BB75-B68C-2644-80EB-F33759FD4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247" y="2448702"/>
            <a:ext cx="4385176" cy="84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477089"/>
      </p:ext>
    </p:extLst>
  </p:cSld>
  <p:clrMapOvr>
    <a:masterClrMapping/>
  </p:clrMapOvr>
  <p:transition spd="slow">
    <p:pull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D6DD89-3C23-A54F-8ABD-495BB38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实现二维列表类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5F1B479-CDEC-714D-9F6C-B7FE7EB3D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819150"/>
            <a:ext cx="8351301" cy="2361372"/>
          </a:xfrm>
        </p:spPr>
        <p:txBody>
          <a:bodyPr>
            <a:normAutofit/>
          </a:bodyPr>
          <a:lstStyle/>
          <a:p>
            <a:r>
              <a:rPr lang="zh-CN" altLang="en-US" dirty="0"/>
              <a:t>二维列表</a:t>
            </a:r>
            <a:endParaRPr lang="en-US" altLang="zh-CN" dirty="0"/>
          </a:p>
          <a:p>
            <a:pPr lvl="1"/>
            <a:r>
              <a:rPr lang="zh-CN" altLang="en-US" dirty="0"/>
              <a:t>二维列表的访问，索引和获取</a:t>
            </a:r>
            <a:endParaRPr lang="en-US" altLang="zh-CN" dirty="0"/>
          </a:p>
          <a:p>
            <a:pPr lvl="2"/>
            <a:r>
              <a:rPr lang="zh-CN" altLang="en-US" dirty="0"/>
              <a:t>二维列表的索引和获取</a:t>
            </a:r>
            <a:endParaRPr lang="en-US" altLang="zh-CN" dirty="0"/>
          </a:p>
          <a:p>
            <a:pPr marL="1371600" lvl="3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6D4F301-60F2-2A49-8A7B-2E67F8A15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4656" y="1533167"/>
            <a:ext cx="4970408" cy="316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07048"/>
      </p:ext>
    </p:extLst>
  </p:cSld>
  <p:clrMapOvr>
    <a:masterClrMapping/>
  </p:clrMapOvr>
  <p:transition spd="slow">
    <p:pull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D6DD89-3C23-A54F-8ABD-495BB38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实现二维列表类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5F1B479-CDEC-714D-9F6C-B7FE7EB3D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819150"/>
            <a:ext cx="8351301" cy="2361372"/>
          </a:xfrm>
        </p:spPr>
        <p:txBody>
          <a:bodyPr>
            <a:normAutofit/>
          </a:bodyPr>
          <a:lstStyle/>
          <a:p>
            <a:r>
              <a:rPr lang="zh-CN" altLang="en-US" dirty="0"/>
              <a:t>二维列表</a:t>
            </a:r>
            <a:endParaRPr lang="en-US" altLang="zh-CN" dirty="0"/>
          </a:p>
          <a:p>
            <a:pPr lvl="1"/>
            <a:r>
              <a:rPr lang="zh-CN" altLang="en-US" dirty="0"/>
              <a:t>二维列表的访问，索引和获取</a:t>
            </a:r>
            <a:endParaRPr lang="en-US" altLang="zh-CN" dirty="0"/>
          </a:p>
          <a:p>
            <a:pPr lvl="2"/>
            <a:r>
              <a:rPr lang="zh-CN" altLang="en-US" dirty="0"/>
              <a:t>二维列表的索引和获取</a:t>
            </a:r>
            <a:endParaRPr lang="en-US" altLang="zh-CN" dirty="0"/>
          </a:p>
          <a:p>
            <a:pPr lvl="3"/>
            <a:r>
              <a:rPr lang="zh-CN" altLang="en-US" dirty="0"/>
              <a:t>索引值判定是否合法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6D4F301-60F2-2A49-8A7B-2E67F8A15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4656" y="1533167"/>
            <a:ext cx="4970408" cy="3169462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247D284-5FF4-694F-846D-E71A1BAD2C71}"/>
              </a:ext>
            </a:extLst>
          </p:cNvPr>
          <p:cNvSpPr/>
          <p:nvPr/>
        </p:nvSpPr>
        <p:spPr>
          <a:xfrm>
            <a:off x="4235668" y="2080828"/>
            <a:ext cx="3885313" cy="31861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4207129"/>
      </p:ext>
    </p:extLst>
  </p:cSld>
  <p:clrMapOvr>
    <a:masterClrMapping/>
  </p:clrMapOvr>
  <p:transition spd="slow">
    <p:pull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D6DD89-3C23-A54F-8ABD-495BB38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实现二维列表类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5F1B479-CDEC-714D-9F6C-B7FE7EB3D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819150"/>
            <a:ext cx="8351301" cy="2361372"/>
          </a:xfrm>
        </p:spPr>
        <p:txBody>
          <a:bodyPr>
            <a:normAutofit/>
          </a:bodyPr>
          <a:lstStyle/>
          <a:p>
            <a:r>
              <a:rPr lang="zh-CN" altLang="en-US" dirty="0"/>
              <a:t>二维列表</a:t>
            </a:r>
            <a:endParaRPr lang="en-US" altLang="zh-CN" dirty="0"/>
          </a:p>
          <a:p>
            <a:pPr lvl="1"/>
            <a:r>
              <a:rPr lang="zh-CN" altLang="en-US" dirty="0"/>
              <a:t>二维列表的访问，索引和获取</a:t>
            </a:r>
            <a:endParaRPr lang="en-US" altLang="zh-CN" dirty="0"/>
          </a:p>
          <a:p>
            <a:pPr lvl="2"/>
            <a:r>
              <a:rPr lang="zh-CN" altLang="en-US" dirty="0"/>
              <a:t>二维列表的索引和获取</a:t>
            </a:r>
            <a:endParaRPr lang="en-US" altLang="zh-CN" dirty="0"/>
          </a:p>
          <a:p>
            <a:pPr lvl="3"/>
            <a:r>
              <a:rPr lang="zh-CN" altLang="en-US" dirty="0"/>
              <a:t>仅给定行索引值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6D4F301-60F2-2A49-8A7B-2E67F8A15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4656" y="1533167"/>
            <a:ext cx="4970408" cy="3169462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247D284-5FF4-694F-846D-E71A1BAD2C71}"/>
              </a:ext>
            </a:extLst>
          </p:cNvPr>
          <p:cNvSpPr/>
          <p:nvPr/>
        </p:nvSpPr>
        <p:spPr>
          <a:xfrm>
            <a:off x="4249418" y="2412443"/>
            <a:ext cx="3885313" cy="59201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22559358"/>
      </p:ext>
    </p:extLst>
  </p:cSld>
  <p:clrMapOvr>
    <a:masterClrMapping/>
  </p:clrMapOvr>
  <p:transition spd="slow">
    <p:pull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D6DD89-3C23-A54F-8ABD-495BB38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实现二维列表类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5F1B479-CDEC-714D-9F6C-B7FE7EB3D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819150"/>
            <a:ext cx="8351301" cy="2361372"/>
          </a:xfrm>
        </p:spPr>
        <p:txBody>
          <a:bodyPr>
            <a:normAutofit/>
          </a:bodyPr>
          <a:lstStyle/>
          <a:p>
            <a:r>
              <a:rPr lang="zh-CN" altLang="en-US" dirty="0"/>
              <a:t>二维列表</a:t>
            </a:r>
            <a:endParaRPr lang="en-US" altLang="zh-CN" dirty="0"/>
          </a:p>
          <a:p>
            <a:pPr lvl="1"/>
            <a:r>
              <a:rPr lang="zh-CN" altLang="en-US" dirty="0"/>
              <a:t>二维列表的访问，索引和获取</a:t>
            </a:r>
            <a:endParaRPr lang="en-US" altLang="zh-CN" dirty="0"/>
          </a:p>
          <a:p>
            <a:pPr lvl="2"/>
            <a:r>
              <a:rPr lang="zh-CN" altLang="en-US" dirty="0"/>
              <a:t>二维列表的索引和获取</a:t>
            </a:r>
            <a:endParaRPr lang="en-US" altLang="zh-CN" dirty="0"/>
          </a:p>
          <a:p>
            <a:pPr lvl="3"/>
            <a:r>
              <a:rPr lang="zh-CN" altLang="en-US" dirty="0"/>
              <a:t>仅给定列索引值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6D4F301-60F2-2A49-8A7B-2E67F8A15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4656" y="1533167"/>
            <a:ext cx="4970408" cy="3169462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247D284-5FF4-694F-846D-E71A1BAD2C71}"/>
              </a:ext>
            </a:extLst>
          </p:cNvPr>
          <p:cNvSpPr/>
          <p:nvPr/>
        </p:nvSpPr>
        <p:spPr>
          <a:xfrm>
            <a:off x="4215042" y="2998814"/>
            <a:ext cx="3885313" cy="84441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59620510"/>
      </p:ext>
    </p:extLst>
  </p:cSld>
  <p:clrMapOvr>
    <a:masterClrMapping/>
  </p:clrMapOvr>
  <p:transition spd="slow">
    <p:pull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D6DD89-3C23-A54F-8ABD-495BB38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实现二维列表类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5F1B479-CDEC-714D-9F6C-B7FE7EB3D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819150"/>
            <a:ext cx="8351301" cy="2361372"/>
          </a:xfrm>
        </p:spPr>
        <p:txBody>
          <a:bodyPr>
            <a:normAutofit/>
          </a:bodyPr>
          <a:lstStyle/>
          <a:p>
            <a:r>
              <a:rPr lang="zh-CN" altLang="en-US" dirty="0"/>
              <a:t>二维列表</a:t>
            </a:r>
            <a:endParaRPr lang="en-US" altLang="zh-CN" dirty="0"/>
          </a:p>
          <a:p>
            <a:pPr lvl="1"/>
            <a:r>
              <a:rPr lang="zh-CN" altLang="en-US" dirty="0"/>
              <a:t>二维列表的访问，索引和获取</a:t>
            </a:r>
            <a:endParaRPr lang="en-US" altLang="zh-CN" dirty="0"/>
          </a:p>
          <a:p>
            <a:pPr lvl="2"/>
            <a:r>
              <a:rPr lang="zh-CN" altLang="en-US" dirty="0"/>
              <a:t>二维列表的索引和获取</a:t>
            </a:r>
            <a:endParaRPr lang="en-US" altLang="zh-CN" dirty="0"/>
          </a:p>
          <a:p>
            <a:pPr lvl="3"/>
            <a:r>
              <a:rPr lang="zh-CN" altLang="en-US" dirty="0"/>
              <a:t>行、列索引均给定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6D4F301-60F2-2A49-8A7B-2E67F8A15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4656" y="1533167"/>
            <a:ext cx="4970408" cy="3169462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247D284-5FF4-694F-846D-E71A1BAD2C71}"/>
              </a:ext>
            </a:extLst>
          </p:cNvPr>
          <p:cNvSpPr/>
          <p:nvPr/>
        </p:nvSpPr>
        <p:spPr>
          <a:xfrm>
            <a:off x="4263168" y="3842483"/>
            <a:ext cx="4545332" cy="63326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37810868"/>
      </p:ext>
    </p:extLst>
  </p:cSld>
  <p:clrMapOvr>
    <a:masterClrMapping/>
  </p:clrMapOvr>
  <p:transition spd="slow">
    <p:pull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D6DD89-3C23-A54F-8ABD-495BB38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实现二维列表类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5F1B479-CDEC-714D-9F6C-B7FE7EB3D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819150"/>
            <a:ext cx="8351301" cy="2361372"/>
          </a:xfrm>
        </p:spPr>
        <p:txBody>
          <a:bodyPr>
            <a:normAutofit/>
          </a:bodyPr>
          <a:lstStyle/>
          <a:p>
            <a:r>
              <a:rPr lang="zh-CN" altLang="en-US" dirty="0"/>
              <a:t>二维列表</a:t>
            </a:r>
            <a:endParaRPr lang="en-US" altLang="zh-CN" dirty="0"/>
          </a:p>
          <a:p>
            <a:pPr lvl="1"/>
            <a:r>
              <a:rPr lang="zh-CN" altLang="en-US" dirty="0"/>
              <a:t>二维列表的元素</a:t>
            </a:r>
            <a:r>
              <a:rPr lang="zh-CN" altLang="en-US" b="1" dirty="0"/>
              <a:t>增加</a:t>
            </a:r>
            <a:r>
              <a:rPr lang="zh-CN" altLang="en-US" dirty="0"/>
              <a:t>与删除</a:t>
            </a:r>
            <a:endParaRPr lang="en-US" altLang="zh-CN" dirty="0"/>
          </a:p>
          <a:p>
            <a:pPr lvl="2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94CC623-4C77-164D-BBE1-93EE87508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168" y="1819440"/>
            <a:ext cx="5555152" cy="2722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575289"/>
      </p:ext>
    </p:extLst>
  </p:cSld>
  <p:clrMapOvr>
    <a:masterClrMapping/>
  </p:clrMapOvr>
  <p:transition spd="slow">
    <p:pull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D6DD89-3C23-A54F-8ABD-495BB38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实现二维列表类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5F1B479-CDEC-714D-9F6C-B7FE7EB3D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819150"/>
            <a:ext cx="8351301" cy="2361372"/>
          </a:xfrm>
        </p:spPr>
        <p:txBody>
          <a:bodyPr>
            <a:normAutofit/>
          </a:bodyPr>
          <a:lstStyle/>
          <a:p>
            <a:r>
              <a:rPr lang="zh-CN" altLang="en-US" dirty="0"/>
              <a:t>二维列表</a:t>
            </a:r>
            <a:endParaRPr lang="en-US" altLang="zh-CN" dirty="0"/>
          </a:p>
          <a:p>
            <a:pPr lvl="1"/>
            <a:r>
              <a:rPr lang="zh-CN" altLang="en-US" dirty="0"/>
              <a:t>二维列表的元素增加与</a:t>
            </a:r>
            <a:r>
              <a:rPr lang="zh-CN" altLang="en-US" b="1" dirty="0"/>
              <a:t>删除</a:t>
            </a:r>
            <a:endParaRPr lang="en-US" altLang="zh-CN" b="1" dirty="0"/>
          </a:p>
          <a:p>
            <a:pPr lvl="2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21ACF48-4587-834A-BFA7-FA4B6DE8D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2799" y="1720815"/>
            <a:ext cx="4231129" cy="3047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398256"/>
      </p:ext>
    </p:extLst>
  </p:cSld>
  <p:clrMapOvr>
    <a:masterClrMapping/>
  </p:clrMapOvr>
  <p:transition spd="slow">
    <p:pull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D6DD89-3C23-A54F-8ABD-495BB38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实现二维列表类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5F1B479-CDEC-714D-9F6C-B7FE7EB3D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819150"/>
            <a:ext cx="8351301" cy="2361372"/>
          </a:xfrm>
        </p:spPr>
        <p:txBody>
          <a:bodyPr>
            <a:normAutofit/>
          </a:bodyPr>
          <a:lstStyle/>
          <a:p>
            <a:r>
              <a:rPr lang="zh-CN" altLang="en-US" dirty="0"/>
              <a:t>二维列表</a:t>
            </a:r>
            <a:endParaRPr lang="en-US" altLang="zh-CN" dirty="0"/>
          </a:p>
          <a:p>
            <a:pPr lvl="1"/>
            <a:r>
              <a:rPr lang="zh-CN" altLang="en-US" dirty="0"/>
              <a:t>二维列表的初始化（构造函数）</a:t>
            </a:r>
            <a:endParaRPr lang="en-US" altLang="zh-CN" dirty="0"/>
          </a:p>
          <a:p>
            <a:pPr lvl="1"/>
            <a:r>
              <a:rPr lang="zh-CN" altLang="en-US" dirty="0"/>
              <a:t>二维列表的访问，索引和获取</a:t>
            </a:r>
            <a:endParaRPr lang="en-US" altLang="zh-CN" dirty="0"/>
          </a:p>
          <a:p>
            <a:pPr lvl="1"/>
            <a:r>
              <a:rPr lang="zh-CN" altLang="en-US" dirty="0"/>
              <a:t>二维列表的元素增加与删除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6815EC3-36AB-A94C-89A6-391BA8B0A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758411"/>
            <a:ext cx="3910806" cy="284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045752"/>
      </p:ext>
    </p:extLst>
  </p:cSld>
  <p:clrMapOvr>
    <a:masterClrMapping/>
  </p:clrMapOvr>
  <p:transition spd="slow">
    <p:pull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D6DD89-3C23-A54F-8ABD-495BB38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实现二维列表类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5F1B479-CDEC-714D-9F6C-B7FE7EB3D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819150"/>
            <a:ext cx="8351301" cy="2361372"/>
          </a:xfrm>
        </p:spPr>
        <p:txBody>
          <a:bodyPr>
            <a:normAutofit/>
          </a:bodyPr>
          <a:lstStyle/>
          <a:p>
            <a:r>
              <a:rPr lang="zh-CN" altLang="en-US" dirty="0"/>
              <a:t>二维列表</a:t>
            </a:r>
            <a:endParaRPr lang="en-US" altLang="zh-CN" dirty="0"/>
          </a:p>
          <a:p>
            <a:pPr lvl="1"/>
            <a:r>
              <a:rPr lang="zh-CN" altLang="en-US" dirty="0"/>
              <a:t>二维列表的初始化</a:t>
            </a:r>
            <a:endParaRPr lang="en-US" altLang="zh-CN" dirty="0"/>
          </a:p>
          <a:p>
            <a:pPr lvl="2"/>
            <a:r>
              <a:rPr lang="zh-CN" altLang="en-US" dirty="0"/>
              <a:t>指定列表大小，所有元素赋值相同</a:t>
            </a:r>
            <a:endParaRPr lang="en-US" altLang="zh-CN" dirty="0"/>
          </a:p>
          <a:p>
            <a:pPr lvl="2"/>
            <a:r>
              <a:rPr lang="zh-CN" altLang="en-US" dirty="0"/>
              <a:t>从给定的一维列表初始化二维列表，并根据参数定义列表大小</a:t>
            </a:r>
            <a:endParaRPr lang="en-US" altLang="zh-CN" dirty="0"/>
          </a:p>
          <a:p>
            <a:pPr lvl="2"/>
            <a:r>
              <a:rPr lang="zh-CN" altLang="en-US" dirty="0"/>
              <a:t>从给定二维列表初始化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95B6E3B-C0D6-0846-8BD1-753BC9B9B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039" y="2374877"/>
            <a:ext cx="5658280" cy="238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721776"/>
      </p:ext>
    </p:extLst>
  </p:cSld>
  <p:clrMapOvr>
    <a:masterClrMapping/>
  </p:clrMapOvr>
  <p:transition spd="slow">
    <p:pull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D6DD89-3C23-A54F-8ABD-495BB38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实现二维列表类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5F1B479-CDEC-714D-9F6C-B7FE7EB3D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819150"/>
            <a:ext cx="8351301" cy="2361372"/>
          </a:xfrm>
        </p:spPr>
        <p:txBody>
          <a:bodyPr>
            <a:normAutofit/>
          </a:bodyPr>
          <a:lstStyle/>
          <a:p>
            <a:r>
              <a:rPr lang="zh-CN" altLang="en-US" dirty="0"/>
              <a:t>二维列表</a:t>
            </a:r>
            <a:endParaRPr lang="en-US" altLang="zh-CN" dirty="0"/>
          </a:p>
          <a:p>
            <a:pPr lvl="1"/>
            <a:r>
              <a:rPr lang="zh-CN" altLang="en-US" dirty="0"/>
              <a:t>二维列表的访问，索引和获取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F7861C3-A21F-2E41-BD9D-46A28589A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653" y="1925739"/>
            <a:ext cx="6662057" cy="212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209230"/>
      </p:ext>
    </p:extLst>
  </p:cSld>
  <p:clrMapOvr>
    <a:masterClrMapping/>
  </p:clrMapOvr>
  <p:transition spd="slow">
    <p:pull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D6DD89-3C23-A54F-8ABD-495BB38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实现二维列表类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5F1B479-CDEC-714D-9F6C-B7FE7EB3D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819150"/>
            <a:ext cx="8351301" cy="2361372"/>
          </a:xfrm>
        </p:spPr>
        <p:txBody>
          <a:bodyPr>
            <a:normAutofit/>
          </a:bodyPr>
          <a:lstStyle/>
          <a:p>
            <a:r>
              <a:rPr lang="zh-CN" altLang="en-US" dirty="0"/>
              <a:t>二维列表</a:t>
            </a:r>
            <a:endParaRPr lang="en-US" altLang="zh-CN" dirty="0"/>
          </a:p>
          <a:p>
            <a:pPr lvl="1"/>
            <a:r>
              <a:rPr lang="zh-CN" altLang="en-US" dirty="0"/>
              <a:t>二维列表的访问，索引和获取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395F4B7-4560-4B4A-814E-251B4C3B6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025" y="1999836"/>
            <a:ext cx="6648306" cy="1714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743787"/>
      </p:ext>
    </p:extLst>
  </p:cSld>
  <p:clrMapOvr>
    <a:masterClrMapping/>
  </p:clrMapOvr>
  <p:transition spd="slow">
    <p:pull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D6DD89-3C23-A54F-8ABD-495BB38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实现二维列表类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5F1B479-CDEC-714D-9F6C-B7FE7EB3D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819150"/>
            <a:ext cx="8351301" cy="2361372"/>
          </a:xfrm>
        </p:spPr>
        <p:txBody>
          <a:bodyPr>
            <a:normAutofit/>
          </a:bodyPr>
          <a:lstStyle/>
          <a:p>
            <a:r>
              <a:rPr lang="zh-CN" altLang="en-US" dirty="0"/>
              <a:t>二维列表</a:t>
            </a:r>
            <a:endParaRPr lang="en-US" altLang="zh-CN" dirty="0"/>
          </a:p>
          <a:p>
            <a:pPr lvl="1"/>
            <a:r>
              <a:rPr lang="zh-CN" altLang="en-US" dirty="0"/>
              <a:t>二维列表的元素增加与删除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4A501B9-7BCC-E64F-8F2E-6BC420C06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070" y="1990224"/>
            <a:ext cx="6689558" cy="2334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601930"/>
      </p:ext>
    </p:extLst>
  </p:cSld>
  <p:clrMapOvr>
    <a:masterClrMapping/>
  </p:clrMapOvr>
  <p:transition spd="slow">
    <p:pull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方正兰亭细黑_GBK" pitchFamily="2" charset="-122"/>
                <a:ea typeface="方正兰亭细黑_GBK" pitchFamily="2" charset="-122"/>
              </a:rPr>
              <a:t>回顾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2101" y="3053758"/>
            <a:ext cx="269782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人工智能与</a:t>
            </a:r>
            <a:endParaRPr lang="en-US" altLang="zh-CN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程序设计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KSO_Shape"/>
            <p:cNvSpPr>
              <a:spLocks/>
            </p:cNvSpPr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314053" y="1054436"/>
            <a:ext cx="3848924" cy="1289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获取对象信息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实例属性和类属性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实现二维列表类</a:t>
            </a:r>
          </a:p>
        </p:txBody>
      </p:sp>
      <p:sp>
        <p:nvSpPr>
          <p:cNvPr id="24" name="椭圆 23"/>
          <p:cNvSpPr/>
          <p:nvPr/>
        </p:nvSpPr>
        <p:spPr>
          <a:xfrm>
            <a:off x="3909594" y="1632361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E285C2D4-1734-D84F-BD33-D79F098E43AF}"/>
              </a:ext>
            </a:extLst>
          </p:cNvPr>
          <p:cNvSpPr/>
          <p:nvPr/>
        </p:nvSpPr>
        <p:spPr>
          <a:xfrm>
            <a:off x="3909594" y="1235747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61CD2AC-283D-704B-B47F-9231BEE8F30A}"/>
              </a:ext>
            </a:extLst>
          </p:cNvPr>
          <p:cNvSpPr/>
          <p:nvPr/>
        </p:nvSpPr>
        <p:spPr>
          <a:xfrm>
            <a:off x="3909594" y="2041009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735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5" grpId="0"/>
      <p:bldP spid="24" grpId="0" animBg="1"/>
      <p:bldP spid="31" grpId="0" animBg="1"/>
      <p:bldP spid="1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B6364D41-A50D-49AE-B0E7-1C9E44CC72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谢谢！</a:t>
            </a:r>
          </a:p>
        </p:txBody>
      </p:sp>
    </p:spTree>
    <p:extLst>
      <p:ext uri="{BB962C8B-B14F-4D97-AF65-F5344CB8AC3E}">
        <p14:creationId xmlns:p14="http://schemas.microsoft.com/office/powerpoint/2010/main" val="4223775804"/>
      </p:ext>
    </p:extLst>
  </p:cSld>
  <p:clrMapOvr>
    <a:masterClrMapping/>
  </p:clrMapOvr>
  <p:transition spd="slow">
    <p:pull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1111111111"/>
</p:tagLst>
</file>

<file path=ppt/theme/theme1.xml><?xml version="1.0" encoding="utf-8"?>
<a:theme xmlns:a="http://schemas.openxmlformats.org/drawingml/2006/main" name="清风素材 https://12sc.taobao.com/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13078</TotalTime>
  <Words>1289</Words>
  <Application>Microsoft Macintosh PowerPoint</Application>
  <PresentationFormat>全屏显示(16:9)</PresentationFormat>
  <Paragraphs>272</Paragraphs>
  <Slides>42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48" baseType="lpstr">
      <vt:lpstr>方正兰亭细黑_GBK</vt:lpstr>
      <vt:lpstr>Microsoft YaHei</vt:lpstr>
      <vt:lpstr>Microsoft YaHei</vt:lpstr>
      <vt:lpstr>Arial</vt:lpstr>
      <vt:lpstr>Calibri</vt:lpstr>
      <vt:lpstr>清风素材 https://12sc.taobao.com/</vt:lpstr>
      <vt:lpstr>PowerPoint 演示文稿</vt:lpstr>
      <vt:lpstr>PowerPoint 演示文稿</vt:lpstr>
      <vt:lpstr>PowerPoint 演示文稿</vt:lpstr>
      <vt:lpstr>获取对象信息</vt:lpstr>
      <vt:lpstr>获取对象信息</vt:lpstr>
      <vt:lpstr>获取对象信息</vt:lpstr>
      <vt:lpstr>获取对象信息</vt:lpstr>
      <vt:lpstr>获取对象信息</vt:lpstr>
      <vt:lpstr>获取对象信息</vt:lpstr>
      <vt:lpstr>获取对象信息</vt:lpstr>
      <vt:lpstr>获取对象信息</vt:lpstr>
      <vt:lpstr>获取对象信息</vt:lpstr>
      <vt:lpstr>PowerPoint 演示文稿</vt:lpstr>
      <vt:lpstr>实例属性与类属性</vt:lpstr>
      <vt:lpstr>实例属性与类属性</vt:lpstr>
      <vt:lpstr>实例属性与类属性</vt:lpstr>
      <vt:lpstr>实例属性与类属性</vt:lpstr>
      <vt:lpstr>PowerPoint 演示文稿</vt:lpstr>
      <vt:lpstr>实现二维列表类</vt:lpstr>
      <vt:lpstr>实现二维列表类</vt:lpstr>
      <vt:lpstr>实现二维列表类</vt:lpstr>
      <vt:lpstr>实现二维列表类</vt:lpstr>
      <vt:lpstr>实现二维列表类</vt:lpstr>
      <vt:lpstr>实现二维列表类</vt:lpstr>
      <vt:lpstr>实现二维列表类</vt:lpstr>
      <vt:lpstr>实现二维列表类</vt:lpstr>
      <vt:lpstr>实现二维列表类</vt:lpstr>
      <vt:lpstr>实现二维列表类</vt:lpstr>
      <vt:lpstr>实现二维列表类</vt:lpstr>
      <vt:lpstr>实现二维列表类</vt:lpstr>
      <vt:lpstr>实现二维列表类</vt:lpstr>
      <vt:lpstr>实现二维列表类</vt:lpstr>
      <vt:lpstr>实现二维列表类</vt:lpstr>
      <vt:lpstr>实现二维列表类</vt:lpstr>
      <vt:lpstr>实现二维列表类</vt:lpstr>
      <vt:lpstr>实现二维列表类</vt:lpstr>
      <vt:lpstr>实现二维列表类</vt:lpstr>
      <vt:lpstr>实现二维列表类</vt:lpstr>
      <vt:lpstr>实现二维列表类</vt:lpstr>
      <vt:lpstr>实现二维列表类</vt:lpstr>
      <vt:lpstr>PowerPoint 演示文稿</vt:lpstr>
      <vt:lpstr>谢谢！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Administrator</dc:creator>
  <cp:keywords/>
  <dc:description/>
  <cp:lastModifiedBy>BatmanFly</cp:lastModifiedBy>
  <cp:revision>302</cp:revision>
  <dcterms:created xsi:type="dcterms:W3CDTF">2015-01-23T04:02:45Z</dcterms:created>
  <dcterms:modified xsi:type="dcterms:W3CDTF">2025-03-25T01:32:06Z</dcterms:modified>
  <cp:category/>
  <cp:contentStatus>12sc.taobao.com</cp:contentStatus>
</cp:coreProperties>
</file>