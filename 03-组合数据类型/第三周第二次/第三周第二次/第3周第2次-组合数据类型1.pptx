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301" r:id="rId2"/>
    <p:sldId id="1201" r:id="rId3"/>
    <p:sldId id="295" r:id="rId4"/>
    <p:sldId id="1274" r:id="rId5"/>
    <p:sldId id="1202" r:id="rId6"/>
    <p:sldId id="1203" r:id="rId7"/>
    <p:sldId id="1228" r:id="rId8"/>
    <p:sldId id="1229" r:id="rId9"/>
    <p:sldId id="1206" r:id="rId10"/>
    <p:sldId id="1230" r:id="rId11"/>
    <p:sldId id="1275" r:id="rId12"/>
    <p:sldId id="1231" r:id="rId13"/>
    <p:sldId id="1276" r:id="rId14"/>
    <p:sldId id="1232" r:id="rId15"/>
    <p:sldId id="1277" r:id="rId16"/>
    <p:sldId id="1278" r:id="rId17"/>
    <p:sldId id="1303" r:id="rId18"/>
    <p:sldId id="1207" r:id="rId19"/>
    <p:sldId id="1233" r:id="rId20"/>
    <p:sldId id="1280" r:id="rId21"/>
    <p:sldId id="1281" r:id="rId22"/>
    <p:sldId id="1282" r:id="rId23"/>
    <p:sldId id="1283" r:id="rId24"/>
    <p:sldId id="1205" r:id="rId25"/>
    <p:sldId id="1310" r:id="rId26"/>
    <p:sldId id="1284" r:id="rId27"/>
    <p:sldId id="1287" r:id="rId28"/>
    <p:sldId id="1286" r:id="rId29"/>
    <p:sldId id="1304" r:id="rId30"/>
    <p:sldId id="1288" r:id="rId31"/>
    <p:sldId id="1289" r:id="rId32"/>
    <p:sldId id="1291" r:id="rId33"/>
    <p:sldId id="1293" r:id="rId34"/>
    <p:sldId id="1309" r:id="rId35"/>
    <p:sldId id="1292" r:id="rId36"/>
    <p:sldId id="1311" r:id="rId37"/>
    <p:sldId id="1237" r:id="rId38"/>
    <p:sldId id="1238" r:id="rId39"/>
    <p:sldId id="1239" r:id="rId40"/>
    <p:sldId id="1240" r:id="rId41"/>
    <p:sldId id="1312" r:id="rId42"/>
    <p:sldId id="1313" r:id="rId43"/>
    <p:sldId id="1314" r:id="rId44"/>
    <p:sldId id="1315" r:id="rId45"/>
    <p:sldId id="1199" r:id="rId46"/>
  </p:sldIdLst>
  <p:sldSz cx="9144000" cy="5143500" type="screen16x9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52" autoAdjust="0"/>
    <p:restoredTop sz="94734" autoAdjust="0"/>
  </p:normalViewPr>
  <p:slideViewPr>
    <p:cSldViewPr snapToGrid="0">
      <p:cViewPr varScale="1">
        <p:scale>
          <a:sx n="106" d="100"/>
          <a:sy n="106" d="100"/>
        </p:scale>
        <p:origin x="84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4e59505f269fc598" providerId="LiveId" clId="{57B02798-AC96-4643-A974-7B47BFE0D8FF}"/>
    <pc:docChg chg="custSel addSld modSld sldOrd">
      <pc:chgData name="" userId="4e59505f269fc598" providerId="LiveId" clId="{57B02798-AC96-4643-A974-7B47BFE0D8FF}" dt="2021-02-23T10:54:05.710" v="47" actId="20577"/>
      <pc:docMkLst>
        <pc:docMk/>
      </pc:docMkLst>
      <pc:sldChg chg="modSp">
        <pc:chgData name="" userId="4e59505f269fc598" providerId="LiveId" clId="{57B02798-AC96-4643-A974-7B47BFE0D8FF}" dt="2021-02-23T10:53:26.595" v="24"/>
        <pc:sldMkLst>
          <pc:docMk/>
          <pc:sldMk cId="67734484" sldId="301"/>
        </pc:sldMkLst>
        <pc:spChg chg="mod">
          <ac:chgData name="" userId="4e59505f269fc598" providerId="LiveId" clId="{57B02798-AC96-4643-A974-7B47BFE0D8FF}" dt="2021-02-23T10:53:26.595" v="24"/>
          <ac:spMkLst>
            <pc:docMk/>
            <pc:sldMk cId="67734484" sldId="301"/>
            <ac:spMk id="23" creationId="{00000000-0000-0000-0000-000000000000}"/>
          </ac:spMkLst>
        </pc:spChg>
      </pc:sldChg>
      <pc:sldChg chg="modSp add">
        <pc:chgData name="" userId="4e59505f269fc598" providerId="LiveId" clId="{57B02798-AC96-4643-A974-7B47BFE0D8FF}" dt="2021-02-23T10:52:31.559" v="20" actId="20577"/>
        <pc:sldMkLst>
          <pc:docMk/>
          <pc:sldMk cId="4026631235" sldId="1237"/>
        </pc:sldMkLst>
        <pc:spChg chg="mod">
          <ac:chgData name="" userId="4e59505f269fc598" providerId="LiveId" clId="{57B02798-AC96-4643-A974-7B47BFE0D8FF}" dt="2021-02-23T10:52:31.559" v="20" actId="20577"/>
          <ac:spMkLst>
            <pc:docMk/>
            <pc:sldMk cId="4026631235" sldId="1237"/>
            <ac:spMk id="2" creationId="{930C910E-F742-4E0D-81BC-772D51B5573D}"/>
          </ac:spMkLst>
        </pc:spChg>
      </pc:sldChg>
      <pc:sldChg chg="add">
        <pc:chgData name="" userId="4e59505f269fc598" providerId="LiveId" clId="{57B02798-AC96-4643-A974-7B47BFE0D8FF}" dt="2021-02-23T10:52:09.754" v="0"/>
        <pc:sldMkLst>
          <pc:docMk/>
          <pc:sldMk cId="2167238455" sldId="1238"/>
        </pc:sldMkLst>
      </pc:sldChg>
      <pc:sldChg chg="add">
        <pc:chgData name="" userId="4e59505f269fc598" providerId="LiveId" clId="{57B02798-AC96-4643-A974-7B47BFE0D8FF}" dt="2021-02-23T10:52:09.754" v="0"/>
        <pc:sldMkLst>
          <pc:docMk/>
          <pc:sldMk cId="797198002" sldId="1239"/>
        </pc:sldMkLst>
      </pc:sldChg>
      <pc:sldChg chg="add">
        <pc:chgData name="" userId="4e59505f269fc598" providerId="LiveId" clId="{57B02798-AC96-4643-A974-7B47BFE0D8FF}" dt="2021-02-23T10:52:09.754" v="0"/>
        <pc:sldMkLst>
          <pc:docMk/>
          <pc:sldMk cId="2481861867" sldId="1240"/>
        </pc:sldMkLst>
      </pc:sldChg>
      <pc:sldChg chg="modSp">
        <pc:chgData name="" userId="4e59505f269fc598" providerId="LiveId" clId="{57B02798-AC96-4643-A974-7B47BFE0D8FF}" dt="2021-02-23T10:54:05.710" v="47" actId="20577"/>
        <pc:sldMkLst>
          <pc:docMk/>
          <pc:sldMk cId="4073014067" sldId="1310"/>
        </pc:sldMkLst>
        <pc:spChg chg="mod">
          <ac:chgData name="" userId="4e59505f269fc598" providerId="LiveId" clId="{57B02798-AC96-4643-A974-7B47BFE0D8FF}" dt="2021-02-23T10:54:05.710" v="47" actId="20577"/>
          <ac:spMkLst>
            <pc:docMk/>
            <pc:sldMk cId="4073014067" sldId="1310"/>
            <ac:spMk id="4" creationId="{87F3EE5F-1E68-42C9-BB50-D57E5B218B46}"/>
          </ac:spMkLst>
        </pc:spChg>
        <pc:spChg chg="mod ord">
          <ac:chgData name="" userId="4e59505f269fc598" providerId="LiveId" clId="{57B02798-AC96-4643-A974-7B47BFE0D8FF}" dt="2021-02-23T10:54:05.674" v="29"/>
          <ac:spMkLst>
            <pc:docMk/>
            <pc:sldMk cId="4073014067" sldId="1310"/>
            <ac:spMk id="16" creationId="{98572C58-573E-42E9-AC3C-C0F38D3D75F2}"/>
          </ac:spMkLst>
        </pc:spChg>
        <pc:spChg chg="mod">
          <ac:chgData name="" userId="4e59505f269fc598" providerId="LiveId" clId="{57B02798-AC96-4643-A974-7B47BFE0D8FF}" dt="2021-02-23T10:54:05.668" v="25" actId="20577"/>
          <ac:spMkLst>
            <pc:docMk/>
            <pc:sldMk cId="4073014067" sldId="1310"/>
            <ac:spMk id="18" creationId="{05D9E76F-8A90-419B-9176-A778E6F8A7C9}"/>
          </ac:spMkLst>
        </pc:spChg>
        <pc:spChg chg="mod">
          <ac:chgData name="" userId="4e59505f269fc598" providerId="LiveId" clId="{57B02798-AC96-4643-A974-7B47BFE0D8FF}" dt="2021-02-23T10:54:05.673" v="27"/>
          <ac:spMkLst>
            <pc:docMk/>
            <pc:sldMk cId="4073014067" sldId="1310"/>
            <ac:spMk id="19" creationId="{04D27EEF-BE54-4B58-9712-4AAB833E74AE}"/>
          </ac:spMkLst>
        </pc:spChg>
        <pc:spChg chg="mod">
          <ac:chgData name="" userId="4e59505f269fc598" providerId="LiveId" clId="{57B02798-AC96-4643-A974-7B47BFE0D8FF}" dt="2021-02-23T10:54:05.700" v="37"/>
          <ac:spMkLst>
            <pc:docMk/>
            <pc:sldMk cId="4073014067" sldId="1310"/>
            <ac:spMk id="22" creationId="{6A6E78E1-4EA9-46A5-8ED8-0D1172DFD071}"/>
          </ac:spMkLst>
        </pc:spChg>
        <pc:spChg chg="mod">
          <ac:chgData name="" userId="4e59505f269fc598" providerId="LiveId" clId="{57B02798-AC96-4643-A974-7B47BFE0D8FF}" dt="2021-02-23T10:54:05.701" v="41"/>
          <ac:spMkLst>
            <pc:docMk/>
            <pc:sldMk cId="4073014067" sldId="1310"/>
            <ac:spMk id="28" creationId="{4D9EF2C5-7586-42C5-8622-8AE440179210}"/>
          </ac:spMkLst>
        </pc:spChg>
        <pc:grpChg chg="mod ord">
          <ac:chgData name="" userId="4e59505f269fc598" providerId="LiveId" clId="{57B02798-AC96-4643-A974-7B47BFE0D8FF}" dt="2021-02-23T10:54:05.674" v="31"/>
          <ac:grpSpMkLst>
            <pc:docMk/>
            <pc:sldMk cId="4073014067" sldId="1310"/>
            <ac:grpSpMk id="20" creationId="{F754BF66-A3F6-497E-A25B-07263D5D195F}"/>
          </ac:grpSpMkLst>
        </pc:grpChg>
        <pc:picChg chg="mod ord">
          <ac:chgData name="" userId="4e59505f269fc598" providerId="LiveId" clId="{57B02798-AC96-4643-A974-7B47BFE0D8FF}" dt="2021-02-23T10:54:05.674" v="33"/>
          <ac:picMkLst>
            <pc:docMk/>
            <pc:sldMk cId="4073014067" sldId="1310"/>
            <ac:picMk id="5" creationId="{C27D743D-E10E-4B7A-AB1B-739EF39EBBBD}"/>
          </ac:picMkLst>
        </pc:picChg>
        <pc:picChg chg="mod">
          <ac:chgData name="" userId="4e59505f269fc598" providerId="LiveId" clId="{57B02798-AC96-4643-A974-7B47BFE0D8FF}" dt="2021-02-23T10:54:05.701" v="45"/>
          <ac:picMkLst>
            <pc:docMk/>
            <pc:sldMk cId="4073014067" sldId="1310"/>
            <ac:picMk id="9" creationId="{848842D4-E6D2-4267-A796-EA5C9F011DCA}"/>
          </ac:picMkLst>
        </pc:picChg>
      </pc:sldChg>
      <pc:sldChg chg="add ord">
        <pc:chgData name="" userId="4e59505f269fc598" providerId="LiveId" clId="{57B02798-AC96-4643-A974-7B47BFE0D8FF}" dt="2021-02-23T10:52:15.354" v="1"/>
        <pc:sldMkLst>
          <pc:docMk/>
          <pc:sldMk cId="4005939113" sldId="13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202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852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9536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7741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5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429"/>
      </p:ext>
    </p:extLst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2025/3/7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9" r:id="rId16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image" Target="../media/image23.png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image" Target="../media/image22.tmp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tags" Target="../tags/tag48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33.xml"/><Relationship Id="rId21" Type="http://schemas.openxmlformats.org/officeDocument/2006/relationships/tags" Target="../tags/tag51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5" Type="http://schemas.openxmlformats.org/officeDocument/2006/relationships/tags" Target="../tags/tag55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20" Type="http://schemas.openxmlformats.org/officeDocument/2006/relationships/tags" Target="../tags/tag50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24" Type="http://schemas.openxmlformats.org/officeDocument/2006/relationships/tags" Target="../tags/tag54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23" Type="http://schemas.openxmlformats.org/officeDocument/2006/relationships/tags" Target="../tags/tag53.xml"/><Relationship Id="rId28" Type="http://schemas.openxmlformats.org/officeDocument/2006/relationships/image" Target="../media/image22.tmp"/><Relationship Id="rId10" Type="http://schemas.openxmlformats.org/officeDocument/2006/relationships/tags" Target="../tags/tag40.xml"/><Relationship Id="rId19" Type="http://schemas.openxmlformats.org/officeDocument/2006/relationships/tags" Target="../tags/tag49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Relationship Id="rId22" Type="http://schemas.openxmlformats.org/officeDocument/2006/relationships/tags" Target="../tags/tag52.xml"/><Relationship Id="rId27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tm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tmp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tmp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mp"/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30984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 教研组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-71479" y="2163054"/>
            <a:ext cx="9286958" cy="523192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》——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</a:t>
            </a:r>
          </a:p>
        </p:txBody>
      </p:sp>
    </p:spTree>
    <p:extLst>
      <p:ext uri="{BB962C8B-B14F-4D97-AF65-F5344CB8AC3E}">
        <p14:creationId xmlns:p14="http://schemas.microsoft.com/office/powerpoint/2010/main" val="677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6.17284E-7 L 0.42031 0.0009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7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500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9059C-978B-4574-85E8-39BA1DB6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上次课回顾：函数与代码复用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3D145F-A0AC-4C49-98F6-D4E57CA55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函数定义、调用</a:t>
            </a:r>
            <a:endParaRPr lang="en-US" altLang="zh-CN" dirty="0"/>
          </a:p>
          <a:p>
            <a:pPr lvl="1"/>
            <a:r>
              <a:rPr lang="en-US" altLang="zh-CN" dirty="0"/>
              <a:t>lambda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参数传递</a:t>
            </a:r>
            <a:endParaRPr lang="en-US" altLang="zh-CN" dirty="0"/>
          </a:p>
          <a:p>
            <a:pPr lvl="1"/>
            <a:r>
              <a:rPr lang="zh-CN" altLang="en-US" dirty="0"/>
              <a:t>返回值</a:t>
            </a:r>
            <a:endParaRPr lang="en-US" altLang="zh-CN" dirty="0"/>
          </a:p>
          <a:p>
            <a:pPr lvl="1"/>
            <a:r>
              <a:rPr lang="zh-CN" altLang="en-US" dirty="0"/>
              <a:t>函数对变量的作用</a:t>
            </a:r>
            <a:endParaRPr lang="en-US" altLang="zh-CN" dirty="0"/>
          </a:p>
          <a:p>
            <a:pPr lvl="1"/>
            <a:r>
              <a:rPr lang="en-US" altLang="zh-CN" dirty="0" err="1"/>
              <a:t>datatime</a:t>
            </a:r>
            <a:r>
              <a:rPr lang="zh-CN" altLang="en-US" dirty="0"/>
              <a:t>库</a:t>
            </a:r>
            <a:endParaRPr lang="en-US" altLang="zh-CN" dirty="0"/>
          </a:p>
          <a:p>
            <a:pPr lvl="1"/>
            <a:r>
              <a:rPr lang="zh-CN" altLang="en-US" dirty="0"/>
              <a:t>代码复用、模块化设计</a:t>
            </a:r>
            <a:endParaRPr lang="en-US" altLang="zh-CN" dirty="0"/>
          </a:p>
          <a:p>
            <a:pPr lvl="1"/>
            <a:r>
              <a:rPr lang="zh-CN" altLang="en-US" dirty="0"/>
              <a:t>递归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016241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041" y="2735706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 AI</a:t>
            </a: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组合数据类型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99933" y="1113158"/>
            <a:ext cx="4561796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组合数据类型概述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列表类型与操作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b="1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jieba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库的使用与词频统计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23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25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3A67D-D1A3-421C-8C77-18232C26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组合数据类型概述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D2CFB-91E8-413A-ADF1-E25DD5459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计算机不仅对单个变量表示的数据进行处理，更多情况，计算机需要对一组数据进行批量处理。一些例子包括：</a:t>
            </a:r>
          </a:p>
          <a:p>
            <a:pPr lvl="1"/>
            <a:r>
              <a:rPr lang="zh-CN" altLang="en-US" dirty="0"/>
              <a:t>给定一组单词</a:t>
            </a:r>
            <a:r>
              <a:rPr lang="en-US" altLang="zh-CN" dirty="0"/>
              <a:t>{python, data, function, list, loop}</a:t>
            </a:r>
            <a:r>
              <a:rPr lang="zh-CN" altLang="en-US" dirty="0"/>
              <a:t>，计算并输出每个单词的长度；</a:t>
            </a:r>
          </a:p>
          <a:p>
            <a:pPr lvl="1"/>
            <a:r>
              <a:rPr lang="zh-CN" altLang="en-US" dirty="0"/>
              <a:t>给定一个学院学生信息，统计一下男女生比例；</a:t>
            </a:r>
          </a:p>
          <a:p>
            <a:pPr lvl="1"/>
            <a:r>
              <a:rPr lang="zh-CN" altLang="en-US" dirty="0"/>
              <a:t>一次实验产生了很多组数据，对这些大量数据进行分析；</a:t>
            </a:r>
            <a:endParaRPr lang="en-US" altLang="zh-CN" dirty="0"/>
          </a:p>
          <a:p>
            <a:r>
              <a:rPr lang="zh-CN" altLang="en-US" dirty="0"/>
              <a:t>基本数据类型仅能表示一个数据</a:t>
            </a:r>
            <a:endParaRPr lang="en-US" altLang="zh-CN" dirty="0"/>
          </a:p>
          <a:p>
            <a:r>
              <a:rPr lang="zh-CN" altLang="en-US" dirty="0"/>
              <a:t>实际计算中存在大量同时处理多个数据的情况，这需要将多个数据有效组织起来并统一表示，这种能够表示多个数据的类型称为组合数据类型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8241574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3A67D-D1A3-421C-8C77-18232C26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组合数据类型概述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D2CFB-91E8-413A-ADF1-E25DD5459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组合数据类型能够将多个同类型或不同类型的数据组织起来，通过单一的表示使数据操作更有序更容易。</a:t>
            </a:r>
            <a:endParaRPr lang="en-US" altLang="zh-CN" dirty="0"/>
          </a:p>
          <a:p>
            <a:r>
              <a:rPr lang="zh-CN" altLang="en-US" dirty="0"/>
              <a:t>根据数据之间的关系，组合数据类型可以分为三类：序列类型、集合类型和映射类型。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63DE18-C600-4569-835B-77CAA69B0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804" y="2216019"/>
            <a:ext cx="5004391" cy="247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17112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2F3B7-B185-4DB4-A7E0-DC3C6ECE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56D130-30ED-4680-AFD1-48005F4F1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序列类型是一维元素向量，元素之间存在先后关系，通过序号访问</a:t>
            </a:r>
            <a:endParaRPr lang="en-US" altLang="zh-CN" dirty="0"/>
          </a:p>
          <a:p>
            <a:endParaRPr lang="en-US" altLang="zh-CN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z="2000" dirty="0"/>
              <a:t>当需要访问序列中某特定值时，只需要通过下标标出即可</a:t>
            </a:r>
            <a:endParaRPr lang="en-US" altLang="zh-CN" sz="2000" dirty="0"/>
          </a:p>
          <a:p>
            <a:pPr marL="342900" lvl="1" indent="-342900">
              <a:buFont typeface="Arial" pitchFamily="34" charset="0"/>
              <a:buChar char="•"/>
            </a:pPr>
            <a:endParaRPr lang="en-US" altLang="zh-CN" sz="2000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z="2000" dirty="0"/>
              <a:t>由于元素之间存在顺序关系，所以序列中可以存在相同数值但位置不同的元素。序列类型支持成员关系操作符（</a:t>
            </a:r>
            <a:r>
              <a:rPr lang="en-US" altLang="zh-CN" sz="2000" dirty="0"/>
              <a:t>in</a:t>
            </a:r>
            <a:r>
              <a:rPr lang="zh-CN" altLang="en-US" sz="2000" dirty="0"/>
              <a:t>）、长度计算函数（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()</a:t>
            </a:r>
            <a:r>
              <a:rPr lang="zh-CN" altLang="en-US" sz="2000" dirty="0"/>
              <a:t>）、分片（</a:t>
            </a:r>
            <a:r>
              <a:rPr lang="en-US" altLang="zh-CN" sz="2000" dirty="0"/>
              <a:t>[]</a:t>
            </a:r>
            <a:r>
              <a:rPr lang="zh-CN" altLang="en-US" sz="2000" dirty="0"/>
              <a:t>），元素本身也可以是序列类型。</a:t>
            </a:r>
            <a:endParaRPr lang="en-US" altLang="zh-CN" sz="2000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5402708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43C7C5F-362F-4233-97FE-3559F3BC4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501" y="2787650"/>
            <a:ext cx="4936996" cy="186870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0424C76-EA3E-4EF8-ADD8-8C975E23B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D547C6-B85B-4D9B-AEE7-BC38FC31F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599" cy="3937000"/>
          </a:xfrm>
        </p:spPr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语言中有很多数据类型都是序列类型，其中比较重要的是：</a:t>
            </a:r>
            <a:r>
              <a:rPr lang="en-US" altLang="zh-CN" dirty="0">
                <a:solidFill>
                  <a:srgbClr val="FF0000"/>
                </a:solidFill>
              </a:rPr>
              <a:t>str</a:t>
            </a:r>
            <a:r>
              <a:rPr lang="zh-CN" altLang="en-US" dirty="0">
                <a:solidFill>
                  <a:srgbClr val="FF0000"/>
                </a:solidFill>
              </a:rPr>
              <a:t>（字符串）、</a:t>
            </a:r>
            <a:r>
              <a:rPr lang="en-US" altLang="zh-CN" dirty="0">
                <a:solidFill>
                  <a:srgbClr val="FF0000"/>
                </a:solidFill>
              </a:rPr>
              <a:t>tuple</a:t>
            </a:r>
            <a:r>
              <a:rPr lang="zh-CN" altLang="en-US" dirty="0">
                <a:solidFill>
                  <a:srgbClr val="FF0000"/>
                </a:solidFill>
              </a:rPr>
              <a:t>（元组）、</a:t>
            </a:r>
            <a:r>
              <a:rPr lang="en-US" altLang="zh-CN" dirty="0">
                <a:solidFill>
                  <a:srgbClr val="FF0000"/>
                </a:solidFill>
              </a:rPr>
              <a:t>list</a:t>
            </a:r>
            <a:r>
              <a:rPr lang="zh-CN" altLang="en-US" dirty="0">
                <a:solidFill>
                  <a:srgbClr val="FF0000"/>
                </a:solidFill>
              </a:rPr>
              <a:t>（列表）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元组是包含</a:t>
            </a:r>
            <a:r>
              <a:rPr lang="en-US" altLang="zh-CN" dirty="0"/>
              <a:t>0</a:t>
            </a:r>
            <a:r>
              <a:rPr lang="zh-CN" altLang="en-US" dirty="0"/>
              <a:t>个或多个数据项的不可变序列类型。元组生成后是固定的，其中任何数据项不能替换或删除。</a:t>
            </a:r>
          </a:p>
          <a:p>
            <a:pPr lvl="1"/>
            <a:r>
              <a:rPr lang="zh-CN" altLang="en-US" dirty="0"/>
              <a:t>列表则是一个可以修改数据项的序列类型，使用也最灵活。</a:t>
            </a:r>
            <a:endParaRPr lang="en-US" altLang="zh-CN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sz="2000" dirty="0"/>
              <a:t>索引体系：</a:t>
            </a:r>
            <a:endParaRPr lang="en-US" altLang="zh-CN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CDE88D-BA22-47B9-B3E0-9A9DF8109C18}"/>
              </a:ext>
            </a:extLst>
          </p:cNvPr>
          <p:cNvSpPr txBox="1"/>
          <p:nvPr/>
        </p:nvSpPr>
        <p:spPr>
          <a:xfrm>
            <a:off x="2282456" y="353024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RUC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6505036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24C76-EA3E-4EF8-ADD8-8C975E23B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D547C6-B85B-4D9B-AEE7-BC38FC31F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5398936" cy="3937000"/>
          </a:xfrm>
        </p:spPr>
        <p:txBody>
          <a:bodyPr/>
          <a:lstStyle/>
          <a:p>
            <a:r>
              <a:rPr lang="zh-CN" altLang="en-US" dirty="0"/>
              <a:t>序列类型通用操作符和函数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1C3F1D-CEED-4641-8D4B-5EAC46C95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910" y="1209967"/>
            <a:ext cx="5904179" cy="360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329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元组（</a:t>
            </a:r>
            <a:r>
              <a:rPr lang="en-US" altLang="zh-CN" dirty="0"/>
              <a:t>tuple</a:t>
            </a:r>
            <a:r>
              <a:rPr lang="zh-CN" altLang="en-US" dirty="0"/>
              <a:t>）是序列类型中比较特殊的类型，因为它一旦创建就不能被修改。元组类型在表达固定数据项、函数多返回值、多变量同步赋值、循环遍历等情况下十分有用。</a:t>
            </a:r>
          </a:p>
          <a:p>
            <a:r>
              <a:rPr lang="en-US" altLang="zh-CN" dirty="0"/>
              <a:t>Python</a:t>
            </a:r>
            <a:r>
              <a:rPr lang="zh-CN" altLang="en-US" dirty="0"/>
              <a:t>中元组采用逗号和圆括号（可选）来表示。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4F41E3-D3B6-4164-8A79-6B8A68C04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17" y="2192092"/>
            <a:ext cx="3972394" cy="25994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21CB57A-AE6B-4677-AF6A-98B757FCF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811" y="2338375"/>
            <a:ext cx="3972394" cy="230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15668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集合类型与数学中集合的概念一致，即包含</a:t>
            </a:r>
            <a:r>
              <a:rPr lang="en-US" altLang="zh-CN" dirty="0"/>
              <a:t>0</a:t>
            </a:r>
            <a:r>
              <a:rPr lang="zh-CN" altLang="en-US" dirty="0"/>
              <a:t>个或多个数据项的无序组合。集合中元素不可重复，元素类型只能是固定数据类型，例如：整数、浮点数、字符串、元组等。列表、字典和集合类型本身都是可变数据类型，不能作为集合的元素出现。</a:t>
            </a:r>
            <a:endParaRPr lang="en-US" altLang="zh-CN" dirty="0"/>
          </a:p>
          <a:p>
            <a:r>
              <a:rPr lang="zh-CN" altLang="en-US" dirty="0"/>
              <a:t>由于集合是无序组合，它没有索引和位置的概念，不能分片，集合中元素可以动态增加或删除。集合用大括号（</a:t>
            </a:r>
            <a:r>
              <a:rPr lang="en-US" altLang="zh-CN" dirty="0"/>
              <a:t>{}</a:t>
            </a:r>
            <a:r>
              <a:rPr lang="zh-CN" altLang="en-US" dirty="0"/>
              <a:t>）表示，可以用赋值语句生成一个集合。</a:t>
            </a:r>
          </a:p>
        </p:txBody>
      </p:sp>
    </p:spTree>
    <p:extLst>
      <p:ext uri="{BB962C8B-B14F-4D97-AF65-F5344CB8AC3E}">
        <p14:creationId xmlns:p14="http://schemas.microsoft.com/office/powerpoint/2010/main" val="2778360758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由于集合元素是无序的，集合的打印效果与定义顺序可以不一致。由于集合元素独一无二，使用集合类型能够过滤掉重复元素。</a:t>
            </a:r>
            <a:r>
              <a:rPr lang="en-US" altLang="zh-CN" dirty="0"/>
              <a:t>set(x)</a:t>
            </a:r>
            <a:r>
              <a:rPr lang="zh-CN" altLang="en-US" dirty="0"/>
              <a:t>函数可以用于生成集合。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23EF89-F1FD-42F1-9468-04EFE0A66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83" y="1832189"/>
            <a:ext cx="4448033" cy="292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20957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集合操作符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AACD26-FB3F-4D11-B8C9-7910F9D09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037" y="1170656"/>
            <a:ext cx="6811926" cy="364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31690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上述操作符表达了集合类型的</a:t>
            </a:r>
            <a:r>
              <a:rPr lang="en-US" altLang="zh-CN" dirty="0"/>
              <a:t>4</a:t>
            </a:r>
            <a:r>
              <a:rPr lang="zh-CN" altLang="en-US" dirty="0"/>
              <a:t>种基本操作，交集（</a:t>
            </a:r>
            <a:r>
              <a:rPr lang="en-US" altLang="zh-CN" dirty="0"/>
              <a:t>&amp;</a:t>
            </a:r>
            <a:r>
              <a:rPr lang="zh-CN" altLang="en-US" dirty="0"/>
              <a:t>）、并集（</a:t>
            </a:r>
            <a:r>
              <a:rPr lang="en-US" altLang="zh-CN" dirty="0"/>
              <a:t>|</a:t>
            </a:r>
            <a:r>
              <a:rPr lang="zh-CN" altLang="en-US" dirty="0"/>
              <a:t>）、差集（</a:t>
            </a:r>
            <a:r>
              <a:rPr lang="en-US" altLang="zh-CN" dirty="0"/>
              <a:t>-</a:t>
            </a:r>
            <a:r>
              <a:rPr lang="zh-CN" altLang="en-US" dirty="0"/>
              <a:t>）、补集（</a:t>
            </a:r>
            <a:r>
              <a:rPr lang="en-US" altLang="zh-CN" dirty="0"/>
              <a:t>^</a:t>
            </a:r>
            <a:r>
              <a:rPr lang="zh-CN" altLang="en-US" dirty="0"/>
              <a:t>），操作逻辑与数学定义相同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C7BC361-2370-4826-8853-4007D829F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288" y="1552294"/>
            <a:ext cx="6691423" cy="320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34143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集合类型有</a:t>
            </a:r>
            <a:r>
              <a:rPr lang="en-US" altLang="zh-CN" dirty="0"/>
              <a:t>10</a:t>
            </a:r>
            <a:r>
              <a:rPr lang="zh-CN" altLang="en-US" dirty="0"/>
              <a:t>个操作函数或方法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938E19-9D08-4DF3-A27F-379B63C33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06688"/>
            <a:ext cx="7315200" cy="354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83744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3349256" cy="3937000"/>
          </a:xfrm>
        </p:spPr>
        <p:txBody>
          <a:bodyPr/>
          <a:lstStyle/>
          <a:p>
            <a:r>
              <a:rPr lang="zh-CN" altLang="en-US" dirty="0"/>
              <a:t>集合类型主要用于三个场景：成员关系测试、元素去重和删除数据项。</a:t>
            </a:r>
            <a:endParaRPr lang="en-US" altLang="zh-CN" dirty="0"/>
          </a:p>
          <a:p>
            <a:r>
              <a:rPr lang="zh-CN" altLang="en-US" dirty="0"/>
              <a:t>集合类型与其他类型最大的不同在于它不包含重复元素，因此，当需要对一维数据进行去重或进行数据重复处理时，一般通过集合来完成。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B8B024-CB4B-4929-9C95-C88994A1B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428" y="819150"/>
            <a:ext cx="4238918" cy="393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66310"/>
      </p:ext>
    </p:extLst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F94B8-35E9-4F33-9F78-19C30902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映射类型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4F21A-D45D-43BA-AFC3-1F299D5B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映射类型是“键</a:t>
            </a:r>
            <a:r>
              <a:rPr lang="en-US" altLang="zh-CN" dirty="0"/>
              <a:t>-</a:t>
            </a:r>
            <a:r>
              <a:rPr lang="zh-CN" altLang="en-US" dirty="0"/>
              <a:t>值”数据项的组合，每个元素是一个键值对，即元素是</a:t>
            </a:r>
            <a:r>
              <a:rPr lang="en-US" altLang="zh-CN" dirty="0"/>
              <a:t>(key, value)</a:t>
            </a:r>
            <a:r>
              <a:rPr lang="zh-CN" altLang="en-US" dirty="0"/>
              <a:t>，元素之间是无序的。键值对</a:t>
            </a:r>
            <a:r>
              <a:rPr lang="en-US" altLang="zh-CN" dirty="0"/>
              <a:t>(key, value)</a:t>
            </a:r>
            <a:r>
              <a:rPr lang="zh-CN" altLang="en-US" dirty="0"/>
              <a:t>是一种二元关系。在</a:t>
            </a:r>
            <a:r>
              <a:rPr lang="en-US" altLang="zh-CN" dirty="0"/>
              <a:t>Python</a:t>
            </a:r>
            <a:r>
              <a:rPr lang="zh-CN" altLang="en-US" dirty="0"/>
              <a:t>中，映射类型主要以字典（</a:t>
            </a:r>
            <a:r>
              <a:rPr lang="en-US" altLang="zh-CN" dirty="0" err="1"/>
              <a:t>dict</a:t>
            </a:r>
            <a:r>
              <a:rPr lang="zh-CN" altLang="en-US" dirty="0"/>
              <a:t>）体现。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D3E58F-FBF3-4C4C-8277-273BE9219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809" y="2109613"/>
            <a:ext cx="5910381" cy="231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91272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041" y="2735706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 AI</a:t>
            </a: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组合数据类型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99933" y="1113158"/>
            <a:ext cx="4561796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组合数据类型概述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列表类型与操作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b="1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jieba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库的使用与词频统计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22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25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列表（</a:t>
            </a:r>
            <a:r>
              <a:rPr lang="en-US" altLang="zh-CN" dirty="0"/>
              <a:t>list</a:t>
            </a:r>
            <a:r>
              <a:rPr lang="zh-CN" altLang="en-US" dirty="0"/>
              <a:t>）是包含</a:t>
            </a:r>
            <a:r>
              <a:rPr lang="en-US" altLang="zh-CN" dirty="0"/>
              <a:t>0</a:t>
            </a:r>
            <a:r>
              <a:rPr lang="zh-CN" altLang="en-US" dirty="0"/>
              <a:t>个或多个对象引用的有序序列，属于序列类型。与元组不同，列表的长度和内容都是可变的，可自由对列表中数据项进行增加、删除或替换。列表没有长度限制，元素类型可以不同，使用非常灵活。</a:t>
            </a:r>
            <a:endParaRPr lang="en-US" altLang="zh-CN" dirty="0"/>
          </a:p>
          <a:p>
            <a:r>
              <a:rPr lang="zh-CN" altLang="en-US" dirty="0"/>
              <a:t>由于列表属于序列类型，所以列表也支持成员关系操作符（</a:t>
            </a:r>
            <a:r>
              <a:rPr lang="en-US" altLang="zh-CN" dirty="0"/>
              <a:t>in</a:t>
            </a:r>
            <a:r>
              <a:rPr lang="zh-CN" altLang="en-US" dirty="0"/>
              <a:t>）、长度计算函数（</a:t>
            </a:r>
            <a:r>
              <a:rPr lang="en-US" altLang="zh-CN" dirty="0" err="1"/>
              <a:t>len</a:t>
            </a:r>
            <a:r>
              <a:rPr lang="en-US" altLang="zh-CN" dirty="0"/>
              <a:t>()</a:t>
            </a:r>
            <a:r>
              <a:rPr lang="zh-CN" altLang="en-US" dirty="0"/>
              <a:t>）、分片（</a:t>
            </a:r>
            <a:r>
              <a:rPr lang="en-US" altLang="zh-CN" dirty="0"/>
              <a:t>[]</a:t>
            </a:r>
            <a:r>
              <a:rPr lang="zh-CN" altLang="en-US" dirty="0"/>
              <a:t>）。列表可以同时使用正向递增序号和反向递减序号，可以采用标准的比较操作符（</a:t>
            </a:r>
            <a:r>
              <a:rPr lang="en-US" altLang="zh-CN" dirty="0"/>
              <a:t>&lt;</a:t>
            </a:r>
            <a:r>
              <a:rPr lang="zh-CN" altLang="en-US" dirty="0"/>
              <a:t>、</a:t>
            </a:r>
            <a:r>
              <a:rPr lang="en-US" altLang="zh-CN" dirty="0"/>
              <a:t>&lt;=</a:t>
            </a:r>
            <a:r>
              <a:rPr lang="zh-CN" altLang="en-US" dirty="0"/>
              <a:t>、</a:t>
            </a:r>
            <a:r>
              <a:rPr lang="en-US" altLang="zh-CN" dirty="0"/>
              <a:t>==</a:t>
            </a:r>
            <a:r>
              <a:rPr lang="zh-CN" altLang="en-US" dirty="0"/>
              <a:t>、</a:t>
            </a:r>
            <a:r>
              <a:rPr lang="en-US" altLang="zh-CN" dirty="0"/>
              <a:t>!=</a:t>
            </a:r>
            <a:r>
              <a:rPr lang="zh-CN" altLang="en-US" dirty="0"/>
              <a:t>、</a:t>
            </a:r>
            <a:r>
              <a:rPr lang="en-US" altLang="zh-CN" dirty="0"/>
              <a:t>&gt;=</a:t>
            </a:r>
            <a:r>
              <a:rPr lang="zh-CN" altLang="en-US" dirty="0"/>
              <a:t>、</a:t>
            </a:r>
            <a:r>
              <a:rPr lang="en-US" altLang="zh-CN" dirty="0"/>
              <a:t>&gt;</a:t>
            </a:r>
            <a:r>
              <a:rPr lang="zh-CN" altLang="en-US" dirty="0"/>
              <a:t>）进行比较，列表的比较实际上是单个数据项的逐个比较。</a:t>
            </a:r>
          </a:p>
        </p:txBody>
      </p:sp>
    </p:spTree>
    <p:extLst>
      <p:ext uri="{BB962C8B-B14F-4D97-AF65-F5344CB8AC3E}">
        <p14:creationId xmlns:p14="http://schemas.microsoft.com/office/powerpoint/2010/main" val="101445954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列表用中括号（</a:t>
            </a:r>
            <a:r>
              <a:rPr lang="en-US" altLang="zh-CN" dirty="0"/>
              <a:t>[]</a:t>
            </a:r>
            <a:r>
              <a:rPr lang="zh-CN" altLang="en-US" dirty="0"/>
              <a:t>）表示，也可以通过</a:t>
            </a:r>
            <a:r>
              <a:rPr lang="en-US" altLang="zh-CN" dirty="0"/>
              <a:t>list()</a:t>
            </a:r>
            <a:r>
              <a:rPr lang="zh-CN" altLang="en-US" dirty="0"/>
              <a:t>函数将元组或字符串转化成列表。直接使用</a:t>
            </a:r>
            <a:r>
              <a:rPr lang="en-US" altLang="zh-CN" dirty="0"/>
              <a:t>list()</a:t>
            </a:r>
            <a:r>
              <a:rPr lang="zh-CN" altLang="en-US" dirty="0"/>
              <a:t>函数会返回一个空列表。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AE2FA1-B5CF-4798-9559-7A52E4BEB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568011"/>
            <a:ext cx="6096001" cy="318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58201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与整数和字符串不同，列表要处理一组数据，因此，列表必须通过显式的数据赋值才能生成，简单将一个列表赋值给另一个列表不会生成新的列表对象。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39F295-6702-4C70-BDBB-83B440AB5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58" y="2234495"/>
            <a:ext cx="6325483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395768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列表类型的操作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4C748B-9815-4AE6-9A23-A195377A6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9496"/>
            <a:ext cx="7774568" cy="451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6076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当使用一个列表改变另一个列表值时，</a:t>
            </a:r>
            <a:r>
              <a:rPr lang="en-US" altLang="zh-CN" dirty="0"/>
              <a:t>Python</a:t>
            </a:r>
            <a:r>
              <a:rPr lang="zh-CN" altLang="en-US" dirty="0"/>
              <a:t>不要求两个列表长度一样，但遵循“多增少减”的原则，例子如下。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DC1E16-9264-4CE7-AC01-FCF9A0AE1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135" y="1560885"/>
            <a:ext cx="2867748" cy="31191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DAC8071-686A-4FFF-96DF-D390F5773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818" y="1609273"/>
            <a:ext cx="4185481" cy="302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77211"/>
      </p:ext>
    </p:extLst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与元组一样，列表可以通过</a:t>
            </a:r>
            <a:r>
              <a:rPr lang="en-US" altLang="zh-CN" dirty="0"/>
              <a:t>for…in</a:t>
            </a:r>
            <a:r>
              <a:rPr lang="zh-CN" altLang="en-US" dirty="0"/>
              <a:t>语句对其元素进行遍历，基本语法结构如下：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     </a:t>
            </a:r>
            <a:r>
              <a:rPr lang="en-US" altLang="zh-CN" i="1" dirty="0"/>
              <a:t>for &lt;</a:t>
            </a:r>
            <a:r>
              <a:rPr lang="zh-CN" altLang="en-US" i="1" dirty="0"/>
              <a:t>任意变量名</a:t>
            </a:r>
            <a:r>
              <a:rPr lang="en-US" altLang="zh-CN" i="1" dirty="0"/>
              <a:t>&gt; in &lt;</a:t>
            </a:r>
            <a:r>
              <a:rPr lang="zh-CN" altLang="en-US" i="1" dirty="0"/>
              <a:t>列表名</a:t>
            </a:r>
            <a:r>
              <a:rPr lang="en-US" altLang="zh-CN" i="1" dirty="0"/>
              <a:t>&gt;: </a:t>
            </a:r>
          </a:p>
          <a:p>
            <a:pPr marL="0" indent="0">
              <a:buNone/>
            </a:pPr>
            <a:r>
              <a:rPr lang="zh-CN" altLang="en-US" i="1" dirty="0"/>
              <a:t>                                  语句块</a:t>
            </a:r>
            <a:endParaRPr lang="en-US" altLang="zh-CN" i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列表是一个十分灵活的数据结构，它具有处理任意长度、混合类型的能力，并提供了丰富的基础操作符和方法。当程序需要使用组合数据类型管理批量数据时，请尽量使用列表类型。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EFFBA3-C756-433B-914F-CE642EEC5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076" y="2439987"/>
            <a:ext cx="3381847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20611"/>
      </p:ext>
    </p:extLst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A6E78E1-4EA9-46A5-8ED8-0D1172DFD07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525000" y="0"/>
            <a:ext cx="2880360" cy="51435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BBFAF9-E310-424A-89B4-DDEA3A5F1CD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列表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ls=[[125, 12],[[7,2],2,7],[5,2],1]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len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(ls)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值是多少？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B6E6B4-C6F0-46B4-BEBF-574CCF6F2AB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08663" y="3323611"/>
            <a:ext cx="640080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915965-D46D-4B99-8821-66DF1386F49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08663" y="3966548"/>
            <a:ext cx="640080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C74A1B-B010-428C-9065-8415C9AB4B5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47930" y="2735135"/>
            <a:ext cx="640080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8886041-59D2-4715-8826-F51EE4049BF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758582" y="3371831"/>
            <a:ext cx="385762" cy="385763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B4D175E-1361-4486-A3E3-764E48D4558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758582" y="4014769"/>
            <a:ext cx="385762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5B56C83-9AF0-4E36-B65A-A512371D851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686550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99FFE38-7392-4827-88C5-F11FDB43B5AE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9613900" y="4658499"/>
            <a:ext cx="2702560" cy="646331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D9EF2C5-7586-42C5-8622-8AE44017921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9728200" y="1289844"/>
            <a:ext cx="2372360" cy="1015663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列表的元素也可以是列表，但只占一个元素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D393EEC-D7DB-4FCD-B0A4-FFBDA55CA9B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9537700" y="0"/>
            <a:ext cx="2854960" cy="647700"/>
            <a:chOff x="9537700" y="0"/>
            <a:chExt cx="2854960" cy="647700"/>
          </a:xfrm>
        </p:grpSpPr>
        <p:sp>
          <p:nvSpPr>
            <p:cNvPr id="23" name="RemarkBack">
              <a:extLst>
                <a:ext uri="{FF2B5EF4-FFF2-40B4-BE49-F238E27FC236}">
                  <a16:creationId xmlns:a16="http://schemas.microsoft.com/office/drawing/2014/main" id="{FE6F9440-D9BE-449F-81C4-A74C597DC595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537700" y="12700"/>
              <a:ext cx="285496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RemarkBlock">
              <a:extLst>
                <a:ext uri="{FF2B5EF4-FFF2-40B4-BE49-F238E27FC236}">
                  <a16:creationId xmlns:a16="http://schemas.microsoft.com/office/drawing/2014/main" id="{620D6B64-64E8-436F-BE9C-9692D66FFF00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RemarkTitleText">
              <a:extLst>
                <a:ext uri="{FF2B5EF4-FFF2-40B4-BE49-F238E27FC236}">
                  <a16:creationId xmlns:a16="http://schemas.microsoft.com/office/drawing/2014/main" id="{0C8361AB-7FD7-45EB-A87D-92A9E8DFDF59}"/>
                </a:ext>
              </a:extLst>
            </p:cNvPr>
            <p:cNvSpPr txBox="1"/>
            <p:nvPr>
              <p:custDataLst>
                <p:tags r:id="rId29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0389BB18-D063-4B24-85F1-8826E46B9EB3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9537700" y="12700"/>
            <a:ext cx="285496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>
            <a:extLst>
              <a:ext uri="{FF2B5EF4-FFF2-40B4-BE49-F238E27FC236}">
                <a16:creationId xmlns:a16="http://schemas.microsoft.com/office/drawing/2014/main" id="{584CD0CB-4D67-47DF-8A92-D62B9751D681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markTitleText">
            <a:extLst>
              <a:ext uri="{FF2B5EF4-FFF2-40B4-BE49-F238E27FC236}">
                <a16:creationId xmlns:a16="http://schemas.microsoft.com/office/drawing/2014/main" id="{87F3EE5F-1E68-42C9-BB50-D57E5B218B46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754BF66-A3F6-497E-A25B-07263D5D195F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98572C58-573E-42E9-AC3C-C0F38D3D75F2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0D9DC71C-C1BF-421C-8E7D-008537EFF30D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05D9E76F-8A90-419B-9176-A778E6F8A7C9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选择题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04D27EEF-BE54-4B58-9712-4AAB833E74AE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27D743D-E10E-4B7A-AB1B-739EF39EBBBD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597FC8AA-A685-4478-A9E9-6F2F9C0E08F2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2408663" y="2071088"/>
            <a:ext cx="640080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58E2358-1360-4C0B-AD00-6AE4B6DCA3B0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095270" y="2717616"/>
            <a:ext cx="640080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18AE2F7-F690-47BE-A363-04106DF37A9A}"/>
              </a:ext>
            </a:extLst>
          </p:cNvPr>
          <p:cNvSpPr>
            <a:spLocks noChangeAspect="1"/>
          </p:cNvSpPr>
          <p:nvPr>
            <p:custDataLst>
              <p:tags r:id="rId20"/>
            </p:custDataLst>
          </p:nvPr>
        </p:nvSpPr>
        <p:spPr>
          <a:xfrm>
            <a:off x="1758582" y="2119308"/>
            <a:ext cx="385762" cy="385763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E9FFEF39-CEAB-4E07-8AC0-225783CF9EC1}"/>
              </a:ext>
            </a:extLst>
          </p:cNvPr>
          <p:cNvSpPr>
            <a:spLocks noChangeAspect="1"/>
          </p:cNvSpPr>
          <p:nvPr>
            <p:custDataLst>
              <p:tags r:id="rId21"/>
            </p:custDataLst>
          </p:nvPr>
        </p:nvSpPr>
        <p:spPr>
          <a:xfrm>
            <a:off x="1758582" y="2762246"/>
            <a:ext cx="385762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C7B7F42-F5FE-4A2D-A3B3-C5A7C8804939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2389768" y="2735135"/>
            <a:ext cx="640080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EBA2F06-2E9B-470A-B996-912762F8D8A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554708" y="2649809"/>
            <a:ext cx="2796258" cy="6408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6368999"/>
      </p:ext>
    </p:ext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A6E78E1-4EA9-46A5-8ED8-0D1172DFD07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525000" y="0"/>
            <a:ext cx="2880360" cy="51435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BBFAF9-E310-424A-89B4-DDEA3A5F1CD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列表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ls1=[125,1]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ls2=ls1, ls1[0] = 2, ls2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值是多少？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C74A1B-B010-428C-9065-8415C9AB4B5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647930" y="2735135"/>
            <a:ext cx="640080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5B56C83-9AF0-4E36-B65A-A512371D851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686550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99FFE38-7392-4827-88C5-F11FDB43B5A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613900" y="4658499"/>
            <a:ext cx="2702560" cy="646331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D9EF2C5-7586-42C5-8622-8AE44017921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728200" y="1289844"/>
            <a:ext cx="237236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引用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D393EEC-D7DB-4FCD-B0A4-FFBDA55CA9B3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9537700" y="0"/>
            <a:ext cx="2854960" cy="647700"/>
            <a:chOff x="9537700" y="0"/>
            <a:chExt cx="2854960" cy="647700"/>
          </a:xfrm>
        </p:grpSpPr>
        <p:sp>
          <p:nvSpPr>
            <p:cNvPr id="23" name="RemarkBack">
              <a:extLst>
                <a:ext uri="{FF2B5EF4-FFF2-40B4-BE49-F238E27FC236}">
                  <a16:creationId xmlns:a16="http://schemas.microsoft.com/office/drawing/2014/main" id="{FE6F9440-D9BE-449F-81C4-A74C597DC595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537700" y="12700"/>
              <a:ext cx="285496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RemarkBlock">
              <a:extLst>
                <a:ext uri="{FF2B5EF4-FFF2-40B4-BE49-F238E27FC236}">
                  <a16:creationId xmlns:a16="http://schemas.microsoft.com/office/drawing/2014/main" id="{620D6B64-64E8-436F-BE9C-9692D66FFF00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RemarkTitleText">
              <a:extLst>
                <a:ext uri="{FF2B5EF4-FFF2-40B4-BE49-F238E27FC236}">
                  <a16:creationId xmlns:a16="http://schemas.microsoft.com/office/drawing/2014/main" id="{0C8361AB-7FD7-45EB-A87D-92A9E8DFDF59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0389BB18-D063-4B24-85F1-8826E46B9EB3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537700" y="12700"/>
            <a:ext cx="285496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>
            <a:extLst>
              <a:ext uri="{FF2B5EF4-FFF2-40B4-BE49-F238E27FC236}">
                <a16:creationId xmlns:a16="http://schemas.microsoft.com/office/drawing/2014/main" id="{584CD0CB-4D67-47DF-8A92-D62B9751D68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markTitleText">
            <a:extLst>
              <a:ext uri="{FF2B5EF4-FFF2-40B4-BE49-F238E27FC236}">
                <a16:creationId xmlns:a16="http://schemas.microsoft.com/office/drawing/2014/main" id="{87F3EE5F-1E68-42C9-BB50-D57E5B218B46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97FC8AA-A685-4478-A9E9-6F2F9C0E08F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408663" y="2071088"/>
            <a:ext cx="640080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[125, 1]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58E2358-1360-4C0B-AD00-6AE4B6DCA3B0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95270" y="2717616"/>
            <a:ext cx="640080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18AE2F7-F690-47BE-A363-04106DF37A9A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758582" y="2119308"/>
            <a:ext cx="385762" cy="385763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E9FFEF39-CEAB-4E07-8AC0-225783CF9EC1}"/>
              </a:ext>
            </a:extLst>
          </p:cNvPr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758582" y="2762246"/>
            <a:ext cx="385762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C7B7F42-F5FE-4A2D-A3B3-C5A7C8804939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2389768" y="2735135"/>
            <a:ext cx="640080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[2,1]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48842D4-E6D2-4267-A796-EA5C9F011DC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33294" y="2096978"/>
            <a:ext cx="2267266" cy="1571844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F754BF66-A3F6-497E-A25B-07263D5D195F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98572C58-573E-42E9-AC3C-C0F38D3D75F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0D9DC71C-C1BF-421C-8E7D-008537EFF30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05D9E76F-8A90-419B-9176-A778E6F8A7C9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04D27EEF-BE54-4B58-9712-4AAB833E74AE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27D743D-E10E-4B7A-AB1B-739EF39EBBBD}"/>
              </a:ext>
            </a:extLst>
          </p:cNvPr>
          <p:cNvPicPr>
            <a:picLocks/>
          </p:cNvPicPr>
          <p:nvPr>
            <p:custDataLst>
              <p:tags r:id="rId18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73014067"/>
      </p:ext>
    </p:extLst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示例：基本统计值计算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69CEB7B-9716-4E70-9EC5-F01F82064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以最简单的统计问题为例，求解一组不定长数据的基本统计值，即平均值、标准差、中位数。</a:t>
                </a:r>
              </a:p>
              <a:p>
                <a:r>
                  <a:rPr lang="zh-CN" altLang="en-US" dirty="0"/>
                  <a:t>一组数据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，其算术平均值、标准差分别表示为：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                     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dirty="0"/>
                  <a:t>,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ra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由于平均数、标准差和中位数是三个不同的计算目标，使用函数方式编写计算程序。</a:t>
                </a:r>
              </a:p>
              <a:p>
                <a:pPr lvl="1"/>
                <a:r>
                  <a:rPr lang="en-US" altLang="zh-CN" dirty="0" err="1"/>
                  <a:t>getNum</a:t>
                </a:r>
                <a:r>
                  <a:rPr lang="en-US" altLang="zh-CN" dirty="0"/>
                  <a:t>()</a:t>
                </a:r>
                <a:r>
                  <a:rPr lang="zh-CN" altLang="en-US" dirty="0"/>
                  <a:t>函数从用户输入获得数据</a:t>
                </a:r>
              </a:p>
              <a:p>
                <a:pPr lvl="1"/>
                <a:r>
                  <a:rPr lang="en-US" altLang="zh-CN" dirty="0"/>
                  <a:t>mean()</a:t>
                </a:r>
                <a:r>
                  <a:rPr lang="zh-CN" altLang="en-US" dirty="0"/>
                  <a:t>函数计算平均值</a:t>
                </a:r>
              </a:p>
              <a:p>
                <a:pPr lvl="1"/>
                <a:r>
                  <a:rPr lang="en-US" altLang="zh-CN" dirty="0"/>
                  <a:t>dev()</a:t>
                </a:r>
                <a:r>
                  <a:rPr lang="zh-CN" altLang="en-US" dirty="0"/>
                  <a:t>函数计算标准差</a:t>
                </a:r>
              </a:p>
              <a:p>
                <a:pPr lvl="1"/>
                <a:r>
                  <a:rPr lang="en-US" altLang="zh-CN" dirty="0"/>
                  <a:t>median()</a:t>
                </a:r>
                <a:r>
                  <a:rPr lang="zh-CN" altLang="en-US" dirty="0"/>
                  <a:t>函数计算中位数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69CEB7B-9716-4E70-9EC5-F01F82064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561344"/>
      </p:ext>
    </p:extLst>
  </p:cSld>
  <p:clrMapOvr>
    <a:masterClrMapping/>
  </p:clrMapOvr>
  <p:transition spd="slow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示例：基本统计值计算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以最简单的统计问题为例，求解一组不定长数据的基本统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96F961-6249-4E52-A53E-CC7B11956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51" y="1394801"/>
            <a:ext cx="4255022" cy="313466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BA2DAEF-599A-43CE-9632-21132D84D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723" y="1394801"/>
            <a:ext cx="3772899" cy="313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61809"/>
      </p:ext>
    </p:extLst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列表是一个动态长度的数据结构，可以根据需求增加或减少元素；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列表的一系列方法或操作符为计算提供了简单的元素运算手段；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列表提供了对每个元素的简单访问方式以及所有元素的遍历方式。</a:t>
            </a:r>
          </a:p>
        </p:txBody>
      </p:sp>
    </p:spTree>
    <p:extLst>
      <p:ext uri="{BB962C8B-B14F-4D97-AF65-F5344CB8AC3E}">
        <p14:creationId xmlns:p14="http://schemas.microsoft.com/office/powerpoint/2010/main" val="1551377529"/>
      </p:ext>
    </p:extLst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041" y="2735706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 AI</a:t>
            </a: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组合数据类型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99933" y="1113158"/>
            <a:ext cx="4561796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列表类型与操作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jieba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库的使用与词频统计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25" grpId="0" animBg="1"/>
      <p:bldP spid="3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Jieba</a:t>
            </a:r>
            <a:r>
              <a:rPr lang="zh-CN" altLang="en-US" dirty="0"/>
              <a:t>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英文单词间有空格：</a:t>
            </a:r>
            <a:r>
              <a:rPr lang="en-US" altLang="zh-CN" dirty="0"/>
              <a:t>split()</a:t>
            </a:r>
            <a:r>
              <a:rPr lang="zh-CN" altLang="en-US" dirty="0"/>
              <a:t>分词</a:t>
            </a:r>
            <a:endParaRPr lang="en-US" altLang="zh-CN" dirty="0"/>
          </a:p>
          <a:p>
            <a:r>
              <a:rPr lang="en-US" altLang="zh-CN" dirty="0" err="1"/>
              <a:t>jieba</a:t>
            </a:r>
            <a:r>
              <a:rPr lang="zh-CN" altLang="en-US" dirty="0"/>
              <a:t>是</a:t>
            </a:r>
            <a:r>
              <a:rPr lang="en-US" altLang="zh-CN" dirty="0"/>
              <a:t>Python</a:t>
            </a:r>
            <a:r>
              <a:rPr lang="zh-CN" altLang="en-US" dirty="0"/>
              <a:t>中一个重要的第三方中文分词函数库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                     </a:t>
            </a:r>
            <a:r>
              <a:rPr lang="en-US" altLang="zh-CN" i="1" dirty="0"/>
              <a:t>import </a:t>
            </a:r>
            <a:r>
              <a:rPr lang="en-US" altLang="zh-CN" i="1" dirty="0" err="1"/>
              <a:t>jieba</a:t>
            </a:r>
            <a:endParaRPr lang="en-US" altLang="zh-CN" i="1" dirty="0"/>
          </a:p>
          <a:p>
            <a:r>
              <a:rPr lang="en-US" altLang="zh-CN" dirty="0" err="1"/>
              <a:t>jieba</a:t>
            </a:r>
            <a:r>
              <a:rPr lang="zh-CN" altLang="en-US" dirty="0"/>
              <a:t>库是第三方库，不是安装包自带，需要通过</a:t>
            </a:r>
            <a:r>
              <a:rPr lang="en-US" altLang="zh-CN" dirty="0"/>
              <a:t>pip</a:t>
            </a:r>
            <a:r>
              <a:rPr lang="zh-CN" altLang="en-US" dirty="0"/>
              <a:t>指令安装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 </a:t>
            </a:r>
            <a:r>
              <a:rPr lang="en-US" altLang="zh-CN" i="1" dirty="0"/>
              <a:t>pip install </a:t>
            </a:r>
            <a:r>
              <a:rPr lang="en-US" altLang="zh-CN" i="1" dirty="0" err="1"/>
              <a:t>jieba</a:t>
            </a:r>
            <a:r>
              <a:rPr lang="en-US" altLang="zh-CN" i="1" dirty="0"/>
              <a:t> # pip3 install </a:t>
            </a:r>
            <a:r>
              <a:rPr lang="en-US" altLang="zh-CN" i="1" dirty="0" err="1"/>
              <a:t>jieba</a:t>
            </a:r>
            <a:endParaRPr lang="en-US" altLang="zh-CN" i="1" dirty="0"/>
          </a:p>
          <a:p>
            <a:r>
              <a:rPr lang="zh-CN" altLang="en-US" dirty="0"/>
              <a:t>解析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760B4E-776F-49F6-94BB-BB75D1DC2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293" y="2787650"/>
            <a:ext cx="6209414" cy="195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6699"/>
      </p:ext>
    </p:extLst>
  </p:cSld>
  <p:clrMapOvr>
    <a:masterClrMapping/>
  </p:clrMapOvr>
  <p:transition spd="slow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Jieba</a:t>
            </a:r>
            <a:r>
              <a:rPr lang="zh-CN" altLang="en-US" dirty="0"/>
              <a:t>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用法示例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66A678-7445-4E90-BC5B-81C0B63DC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483" y="1251725"/>
            <a:ext cx="6259033" cy="345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25174"/>
      </p:ext>
    </p:extLst>
  </p:cSld>
  <p:clrMapOvr>
    <a:masterClrMapping/>
  </p:clrMapOvr>
  <p:transition spd="slow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文本文件打开和读取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文本文件打开、读取</a:t>
            </a:r>
            <a:endParaRPr lang="en-US" altLang="zh-CN" dirty="0"/>
          </a:p>
          <a:p>
            <a:r>
              <a:rPr lang="en-US" altLang="zh-CN" dirty="0"/>
              <a:t>open() </a:t>
            </a:r>
            <a:r>
              <a:rPr lang="zh-CN" altLang="en-US" dirty="0"/>
              <a:t>函数用于打开一个文件，创建一个 </a:t>
            </a:r>
            <a:r>
              <a:rPr lang="en-US" altLang="zh-CN" dirty="0"/>
              <a:t>file </a:t>
            </a:r>
            <a:r>
              <a:rPr lang="zh-CN" altLang="en-US" dirty="0"/>
              <a:t>对象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    </a:t>
            </a:r>
            <a:r>
              <a:rPr lang="en-US" altLang="zh-CN" i="1" dirty="0"/>
              <a:t>open(file, mode=‘r', buffering=-1, encoding=None, errors=None, newline=None, </a:t>
            </a:r>
            <a:r>
              <a:rPr lang="en-US" altLang="zh-CN" i="1" dirty="0" err="1"/>
              <a:t>closefd</a:t>
            </a:r>
            <a:r>
              <a:rPr lang="en-US" altLang="zh-CN" i="1" dirty="0"/>
              <a:t>=True)</a:t>
            </a:r>
          </a:p>
          <a:p>
            <a:r>
              <a:rPr lang="zh-CN" altLang="en-US" dirty="0"/>
              <a:t>常用参数：</a:t>
            </a:r>
            <a:endParaRPr lang="en-US" altLang="zh-CN" dirty="0"/>
          </a:p>
          <a:p>
            <a:pPr lvl="1"/>
            <a:r>
              <a:rPr lang="en-US" altLang="zh-CN" dirty="0"/>
              <a:t>file : </a:t>
            </a:r>
            <a:r>
              <a:rPr lang="zh-CN" altLang="en-US" dirty="0"/>
              <a:t>一个包含了你要访问的文件名称的字符串值；</a:t>
            </a:r>
            <a:endParaRPr lang="en-US" altLang="zh-CN" dirty="0"/>
          </a:p>
          <a:p>
            <a:pPr lvl="1"/>
            <a:r>
              <a:rPr lang="en-US" altLang="zh-CN" dirty="0"/>
              <a:t>mode : mode </a:t>
            </a:r>
            <a:r>
              <a:rPr lang="zh-CN" altLang="en-US" dirty="0"/>
              <a:t>决定了打开文件的模式：只读，写入，追加等</a:t>
            </a:r>
            <a:endParaRPr lang="en-US" altLang="zh-CN" dirty="0"/>
          </a:p>
          <a:p>
            <a:pPr lvl="1"/>
            <a:r>
              <a:rPr lang="en-US" altLang="zh-CN" dirty="0"/>
              <a:t>Encoding</a:t>
            </a:r>
            <a:r>
              <a:rPr lang="zh-CN" altLang="en-US" dirty="0"/>
              <a:t>：表示的是返回的数据采用何种编码，一般采用</a:t>
            </a:r>
            <a:r>
              <a:rPr lang="en-US" altLang="zh-CN" dirty="0"/>
              <a:t>utf8</a:t>
            </a:r>
            <a:r>
              <a:rPr lang="zh-CN" altLang="en-US" dirty="0"/>
              <a:t>或者</a:t>
            </a:r>
            <a:r>
              <a:rPr lang="en-US" altLang="zh-CN" dirty="0" err="1"/>
              <a:t>gbk</a:t>
            </a:r>
            <a:endParaRPr lang="en-US" altLang="zh-CN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CN" sz="2000" dirty="0"/>
              <a:t>Read() </a:t>
            </a:r>
            <a:r>
              <a:rPr lang="zh-CN" altLang="en-US" sz="2000" dirty="0"/>
              <a:t>函数用于读取文件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167719089"/>
      </p:ext>
    </p:extLst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词频统计：列表方法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仅使用列表进行词频统计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30EDAFF-8234-4B03-A4AE-CB7D8EE12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318615"/>
            <a:ext cx="8229601" cy="330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60140"/>
      </p:ext>
    </p:extLst>
  </p:cSld>
  <p:clrMapOvr>
    <a:masterClrMapping/>
  </p:clrMapOvr>
  <p:transition spd="slow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词频统计：列表方法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仅使用列表进行词频统计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31B25F-FD1D-447D-86B8-011E56CA5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0423"/>
            <a:ext cx="9144000" cy="283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36158"/>
      </p:ext>
    </p:extLst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25A5-0503-40F7-816D-57502D4B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词频统计</a:t>
            </a:r>
            <a:r>
              <a:rPr lang="en-US" altLang="zh-CN" dirty="0"/>
              <a:t>-</a:t>
            </a:r>
            <a:r>
              <a:rPr lang="zh-CN" altLang="en-US" dirty="0"/>
              <a:t>词典方法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CEB7B-9716-4E70-9EC5-F01F8206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词典方法词频统计：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2D100C-E407-4B6C-859E-A5736995D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918" y="1237068"/>
            <a:ext cx="7038164" cy="351908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0C1C440-1B70-4502-88D4-B406FEC59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394" y="1736984"/>
            <a:ext cx="1965602" cy="301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505132"/>
      </p:ext>
    </p:extLst>
  </p:cSld>
  <p:clrMapOvr>
    <a:masterClrMapping/>
  </p:clrMapOvr>
  <p:transition spd="slow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E3C5D-579B-4486-A1F1-0FFEB1F20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大作业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A89D9D-F9F0-4CF4-A2C6-EDFDA7FF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给定一个二维卷积核和由图片转换后的矩阵，实现二维卷积操作，观察卷积后的图片所产生的变化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提交：</a:t>
            </a:r>
            <a:endParaRPr lang="en-US" altLang="zh-CN" dirty="0"/>
          </a:p>
          <a:p>
            <a:pPr lvl="1"/>
            <a:r>
              <a:rPr lang="zh-CN" altLang="en-US" dirty="0"/>
              <a:t>把</a:t>
            </a:r>
            <a:r>
              <a:rPr lang="en-US" altLang="zh-CN" dirty="0"/>
              <a:t>Jupiter Notebook</a:t>
            </a:r>
            <a:r>
              <a:rPr lang="zh-CN" altLang="en-US" dirty="0"/>
              <a:t>中的空缺部分填好，并运行得到结果</a:t>
            </a:r>
            <a:endParaRPr lang="en-US" altLang="zh-CN" dirty="0"/>
          </a:p>
          <a:p>
            <a:pPr lvl="1"/>
            <a:r>
              <a:rPr lang="zh-CN" altLang="en-US" dirty="0"/>
              <a:t>提交文件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提交期限：</a:t>
            </a:r>
            <a:r>
              <a:rPr lang="en-US" altLang="zh-CN" dirty="0"/>
              <a:t>2</a:t>
            </a:r>
            <a:r>
              <a:rPr lang="zh-CN" altLang="en-US" dirty="0"/>
              <a:t>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提交平台：</a:t>
            </a:r>
            <a:r>
              <a:rPr lang="en-US" altLang="zh-CN" dirty="0" err="1"/>
              <a:t>obe</a:t>
            </a:r>
            <a:endParaRPr lang="zh-CN" altLang="en-US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0593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C910E-F742-4E0D-81BC-772D51B55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关于卷积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E9130A-3F33-43F9-B2D2-2F00B24F0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3955774" cy="3937000"/>
              </a:xfrm>
            </p:spPr>
            <p:txBody>
              <a:bodyPr/>
              <a:lstStyle/>
              <a:p>
                <a:r>
                  <a:rPr lang="zh-CN" altLang="en-US" dirty="0"/>
                  <a:t>什么是卷积？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两个函数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生成第三个函数的一种数学算子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与经过翻转和平移的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的乘积函数所围成的曲边梯形的面积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滑动平均</a:t>
                </a:r>
                <a:r>
                  <a:rPr lang="en-US" altLang="zh-CN" dirty="0"/>
                  <a:t>)</a:t>
                </a:r>
              </a:p>
              <a:p>
                <a:pPr marL="45720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E9130A-3F33-43F9-B2D2-2F00B24F0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3955774" cy="3937000"/>
              </a:xfrm>
              <a:blipFill>
                <a:blip r:embed="rId2"/>
                <a:stretch>
                  <a:fillRect l="-1387" t="-774" r="-1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2" name="Picture 4" descr="https://upload.wikimedia.org/wikipedia/commons/9/97/Convolution3.PNG">
            <a:extLst>
              <a:ext uri="{FF2B5EF4-FFF2-40B4-BE49-F238E27FC236}">
                <a16:creationId xmlns:a16="http://schemas.microsoft.com/office/drawing/2014/main" id="{81878323-23F2-4460-878C-1AAAB146B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057" y="652173"/>
            <a:ext cx="3861643" cy="418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29CB57C-99C3-4823-BA27-F002DC52B8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40" y="2787650"/>
            <a:ext cx="3943278" cy="200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31235"/>
      </p:ext>
    </p:extLst>
  </p:cSld>
  <p:clrMapOvr>
    <a:masterClrMapping/>
  </p:clrMapOvr>
  <p:transition spd="slow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5C38B-7118-4932-A7C8-0A48E1EEB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离散卷积举例：</a:t>
            </a:r>
            <a:r>
              <a:rPr lang="en-US" altLang="zh-CN" dirty="0"/>
              <a:t>2</a:t>
            </a:r>
            <a:r>
              <a:rPr lang="zh-CN" altLang="en-US" dirty="0"/>
              <a:t>个骰子点数和为</a:t>
            </a:r>
            <a:r>
              <a:rPr lang="en-US" altLang="zh-CN" dirty="0"/>
              <a:t>4</a:t>
            </a:r>
            <a:r>
              <a:rPr lang="zh-CN" altLang="en-US" dirty="0"/>
              <a:t>的概率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67E052-1B34-41F0-9981-E45048A0D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3999506" cy="3937000"/>
              </a:xfrm>
            </p:spPr>
            <p:txBody>
              <a:bodyPr/>
              <a:lstStyle/>
              <a:p>
                <a:r>
                  <a:rPr lang="zh-CN" altLang="en-US" dirty="0"/>
                  <a:t>两枚骰子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骰子未必都是公平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第一个骰子出现点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(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= 1, 2, …, 6) </a:t>
                </a:r>
                <a:r>
                  <a:rPr lang="zh-CN" altLang="en-US" dirty="0"/>
                  <a:t>的概率为</a:t>
                </a:r>
                <a:r>
                  <a:rPr lang="en-US" altLang="zh-CN" dirty="0"/>
                  <a:t>f(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)</a:t>
                </a:r>
              </a:p>
              <a:p>
                <a:pPr lvl="2"/>
                <a:r>
                  <a:rPr lang="zh-CN" altLang="en-US" dirty="0"/>
                  <a:t>第二个骰子出现点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的概率为</a:t>
                </a:r>
                <a:r>
                  <a:rPr lang="en-US" altLang="zh-CN" dirty="0"/>
                  <a:t>g(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)</a:t>
                </a:r>
              </a:p>
              <a:p>
                <a:pPr lvl="1"/>
                <a:r>
                  <a:rPr lang="zh-CN" altLang="en-US" dirty="0"/>
                  <a:t>把这两枚骰子都抛出去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求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个骰子</a:t>
                </a:r>
                <a:r>
                  <a:rPr lang="zh-CN" altLang="en-US" b="1" dirty="0"/>
                  <a:t>点数和为</a:t>
                </a:r>
                <a:r>
                  <a:rPr lang="en-US" altLang="zh-CN" b="1" dirty="0"/>
                  <a:t>4</a:t>
                </a:r>
                <a:r>
                  <a:rPr lang="zh-CN" altLang="en-US" dirty="0"/>
                  <a:t>的概率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67E052-1B34-41F0-9981-E45048A0D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3999506" cy="3937000"/>
              </a:xfrm>
              <a:blipFill>
                <a:blip r:embed="rId2"/>
                <a:stretch>
                  <a:fillRect l="-1372" t="-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 descr="https://pic1.zhimg.com/80/v2-4763fd548536b21640d01d3f8a59c546_1440w.jpg?source=1940ef5c">
            <a:extLst>
              <a:ext uri="{FF2B5EF4-FFF2-40B4-BE49-F238E27FC236}">
                <a16:creationId xmlns:a16="http://schemas.microsoft.com/office/drawing/2014/main" id="{25662B9D-B62B-4E92-80CE-7637825CC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387" y="2823431"/>
            <a:ext cx="3399183" cy="185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pic4.zhimg.com/80/v2-e279045403bb2b0d8de72262f37562cd_1440w.jpg?source=1940ef5c">
            <a:extLst>
              <a:ext uri="{FF2B5EF4-FFF2-40B4-BE49-F238E27FC236}">
                <a16:creationId xmlns:a16="http://schemas.microsoft.com/office/drawing/2014/main" id="{4F505732-82D2-45E2-90CE-DF6BB115F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387" y="859956"/>
            <a:ext cx="3322651" cy="166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238455"/>
      </p:ext>
    </p:extLst>
  </p:cSld>
  <p:clrMapOvr>
    <a:masterClrMapping/>
  </p:clrMapOvr>
  <p:transition spd="slow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902D8-BF58-4C0D-8501-4E6A31B7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应用卷积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11">
                <a:extLst>
                  <a:ext uri="{FF2B5EF4-FFF2-40B4-BE49-F238E27FC236}">
                    <a16:creationId xmlns:a16="http://schemas.microsoft.com/office/drawing/2014/main" id="{C465A1C3-BA10-4155-9BBA-9290BDCB6C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4464657" cy="3937000"/>
              </a:xfrm>
            </p:spPr>
            <p:txBody>
              <a:bodyPr/>
              <a:lstStyle/>
              <a:p>
                <a:r>
                  <a:rPr lang="zh-CN" altLang="en-US" dirty="0"/>
                  <a:t>关键：两个骰子点数加起来等于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endParaRPr lang="zh-CN" altLang="en-US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dirty="0"/>
                  <a:t>骰子点数和为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的概率</a:t>
                </a:r>
                <a:endParaRPr lang="en-US" altLang="zh-CN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12" name="内容占位符 11">
                <a:extLst>
                  <a:ext uri="{FF2B5EF4-FFF2-40B4-BE49-F238E27FC236}">
                    <a16:creationId xmlns:a16="http://schemas.microsoft.com/office/drawing/2014/main" id="{C465A1C3-BA10-4155-9BBA-9290BDCB6C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4464657" cy="3937000"/>
              </a:xfrm>
              <a:blipFill>
                <a:blip r:embed="rId2"/>
                <a:stretch>
                  <a:fillRect l="-1230" t="-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 descr="https://pic4.zhimg.com/80/v2-a67a711702ce48cd7632e783ae0a1f42_1440w.jpg?source=1940ef5c">
            <a:extLst>
              <a:ext uri="{FF2B5EF4-FFF2-40B4-BE49-F238E27FC236}">
                <a16:creationId xmlns:a16="http://schemas.microsoft.com/office/drawing/2014/main" id="{EAB8DDA5-4587-4C50-9EC6-A1A20E0FE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556" y="-100220"/>
            <a:ext cx="2154862" cy="161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pic4.zhimg.com/80/v2-d6ff10bf39c46397ab2bebb971d4b58c_1440w.jpg?source=1940ef5c">
            <a:extLst>
              <a:ext uri="{FF2B5EF4-FFF2-40B4-BE49-F238E27FC236}">
                <a16:creationId xmlns:a16="http://schemas.microsoft.com/office/drawing/2014/main" id="{23A8136C-B9E8-4E14-AA60-9167B0B43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556" y="1509919"/>
            <a:ext cx="2154863" cy="161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https://pic4.zhimg.com/80/v2-0cdabcc04398ea723aa6e47e05072e5c_1440w.jpg?source=1940ef5c">
            <a:extLst>
              <a:ext uri="{FF2B5EF4-FFF2-40B4-BE49-F238E27FC236}">
                <a16:creationId xmlns:a16="http://schemas.microsoft.com/office/drawing/2014/main" id="{4B61D168-FA30-473A-914A-6A4DBFC81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556" y="3111240"/>
            <a:ext cx="2154863" cy="161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90EFEF8-954A-4799-8697-F5AEC0B953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814" y="2227647"/>
            <a:ext cx="2757430" cy="880776"/>
          </a:xfrm>
          <a:prstGeom prst="rect">
            <a:avLst/>
          </a:prstGeom>
        </p:spPr>
      </p:pic>
      <p:pic>
        <p:nvPicPr>
          <p:cNvPr id="16" name="内容占位符 5">
            <a:extLst>
              <a:ext uri="{FF2B5EF4-FFF2-40B4-BE49-F238E27FC236}">
                <a16:creationId xmlns:a16="http://schemas.microsoft.com/office/drawing/2014/main" id="{9E06D708-58F5-41CD-B0EE-A113B6BE9E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869" y="1699854"/>
            <a:ext cx="2781320" cy="52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98002"/>
      </p:ext>
    </p:extLst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1995B-4673-48BC-86C1-527614EEA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实现一维卷积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1ED2FA-CCE6-425D-AFFB-F81E69C18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3018"/>
            <a:ext cx="5235934" cy="2963131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和</a:t>
            </a:r>
            <a:r>
              <a:rPr lang="en-US" altLang="zh-CN" dirty="0"/>
              <a:t>g</a:t>
            </a:r>
            <a:r>
              <a:rPr lang="zh-CN" altLang="en-US" dirty="0"/>
              <a:t>分别为两个列表，存储点数对应的概率</a:t>
            </a:r>
            <a:endParaRPr lang="en-US" altLang="zh-CN" dirty="0"/>
          </a:p>
          <a:p>
            <a:pPr lvl="1"/>
            <a:r>
              <a:rPr lang="zh-CN" altLang="en-US" dirty="0"/>
              <a:t>下标对应点数，注意下标从</a:t>
            </a:r>
            <a:r>
              <a:rPr lang="en-US" altLang="zh-CN" dirty="0"/>
              <a:t>0</a:t>
            </a:r>
            <a:r>
              <a:rPr lang="zh-CN" altLang="en-US" dirty="0"/>
              <a:t>开始</a:t>
            </a:r>
            <a:endParaRPr lang="en-US" altLang="zh-CN" dirty="0"/>
          </a:p>
          <a:p>
            <a:pPr lvl="2"/>
            <a:r>
              <a:rPr lang="en-US" altLang="zh-CN" dirty="0"/>
              <a:t>f[0]</a:t>
            </a:r>
            <a:r>
              <a:rPr lang="zh-CN" altLang="en-US" dirty="0"/>
              <a:t>表示点数为</a:t>
            </a:r>
            <a:r>
              <a:rPr lang="en-US" altLang="zh-CN" dirty="0"/>
              <a:t>1</a:t>
            </a:r>
            <a:r>
              <a:rPr lang="zh-CN" altLang="en-US" dirty="0"/>
              <a:t>的概率：</a:t>
            </a:r>
            <a:r>
              <a:rPr lang="en-US" altLang="zh-CN" dirty="0"/>
              <a:t>f[m - 1] = f(m)</a:t>
            </a:r>
          </a:p>
          <a:p>
            <a:pPr lvl="1"/>
            <a:r>
              <a:rPr lang="zh-CN" altLang="en-US" dirty="0"/>
              <a:t>值为概率，暂时设置为等概率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range(1, 4)</a:t>
            </a:r>
            <a:r>
              <a:rPr lang="zh-CN" altLang="en-US" dirty="0"/>
              <a:t>：产生</a:t>
            </a:r>
            <a:r>
              <a:rPr lang="en-US" altLang="zh-CN" dirty="0"/>
              <a:t>m =1 </a:t>
            </a:r>
            <a:r>
              <a:rPr lang="zh-CN" altLang="en-US" dirty="0"/>
              <a:t>， </a:t>
            </a:r>
            <a:r>
              <a:rPr lang="en-US" altLang="zh-CN" dirty="0"/>
              <a:t>2</a:t>
            </a:r>
            <a:r>
              <a:rPr lang="zh-CN" altLang="en-US" dirty="0"/>
              <a:t>， </a:t>
            </a:r>
            <a:r>
              <a:rPr lang="en-US" altLang="zh-CN" dirty="0"/>
              <a:t>3</a:t>
            </a:r>
          </a:p>
          <a:p>
            <a:endParaRPr lang="en-US" altLang="zh-CN" dirty="0"/>
          </a:p>
          <a:p>
            <a:r>
              <a:rPr lang="en-US" altLang="zh-CN" dirty="0"/>
              <a:t>conv += f[(4-m) - 1] * g[m - 1]</a:t>
            </a:r>
          </a:p>
          <a:p>
            <a:pPr lvl="1"/>
            <a:r>
              <a:rPr lang="zh-CN" altLang="en-US" dirty="0"/>
              <a:t>乘加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0EFEF8-954A-4799-8697-F5AEC0B95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452" y="796717"/>
            <a:ext cx="2757430" cy="8807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5E164F1-7919-4FEC-92FE-95FC8943EA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210" y="2254292"/>
            <a:ext cx="3614764" cy="160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861867"/>
      </p:ext>
    </p:extLst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10CCA-79E5-32BA-64B5-13A13DB09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3A3DA0-07D5-E8FB-AA71-9BA967E6F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给定一个整数数组，如果其中是奇数留下来，偶数则删除。请实现对应算法。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中间可以创建新的变量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" altLang="zh-CN" dirty="0"/>
              <a:t>ls = [123, 12, 34, 11, 9, 7, 123, 5, 8, 6, 19, 20]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8047359"/>
      </p:ext>
    </p:extLst>
  </p:cSld>
  <p:clrMapOvr>
    <a:masterClrMapping/>
  </p:clrMapOvr>
  <p:transition spd="slow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C8028-D785-FEA5-99EC-D79AF4CD5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7C450-AD37-B0BA-9AA2-E9CA58603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8E918D-5635-B78A-7B96-063D4B089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给定一个字符串：将奇数位的字符反转，偶数位的字符保持不动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中间可以创建新的变量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r>
              <a:rPr kumimoji="1" lang="en-US" altLang="zh-CN" dirty="0" err="1"/>
              <a:t>st</a:t>
            </a:r>
            <a:r>
              <a:rPr kumimoji="1" lang="en-US" altLang="zh-CN" dirty="0"/>
              <a:t> = "a1b2c3d4e5f6"</a:t>
            </a:r>
          </a:p>
          <a:p>
            <a:pPr lvl="1"/>
            <a:r>
              <a:rPr kumimoji="1" lang="zh-CN" altLang="en-US" dirty="0"/>
              <a:t>输出： </a:t>
            </a:r>
            <a:r>
              <a:rPr lang="en" altLang="zh-CN" dirty="0"/>
              <a:t>a6b5c4d3e2f1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4014452"/>
      </p:ext>
    </p:extLst>
  </p:cSld>
  <p:clrMapOvr>
    <a:masterClrMapping/>
  </p:clrMapOvr>
  <p:transition spd="slow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E5320-35F2-9ED1-6F34-622F6D14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FDE71-17FA-B479-958A-CD2AA0857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D01AA9-EE6B-968D-F5B8-4BB069F4C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给定一个字符串：里面包含不定量的空格，多余的空格都去掉，起始和尾部不要加空格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中间可以创建新的变量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r>
              <a:rPr kumimoji="1" lang="en-US" altLang="zh-CN" dirty="0" err="1"/>
              <a:t>st</a:t>
            </a:r>
            <a:r>
              <a:rPr kumimoji="1" lang="en-US" altLang="zh-CN" dirty="0"/>
              <a:t> = “</a:t>
            </a:r>
            <a:r>
              <a:rPr kumimoji="1" lang="zh-CN" altLang="en-US" dirty="0"/>
              <a:t>         </a:t>
            </a:r>
            <a:r>
              <a:rPr kumimoji="1" lang="en-US" altLang="zh-CN" dirty="0"/>
              <a:t>hello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world</a:t>
            </a:r>
            <a:r>
              <a:rPr kumimoji="1" lang="zh-CN" altLang="en-US" dirty="0"/>
              <a:t>          </a:t>
            </a:r>
            <a:r>
              <a:rPr kumimoji="1" lang="en-US" altLang="zh-CN" dirty="0"/>
              <a:t>python</a:t>
            </a:r>
            <a:r>
              <a:rPr kumimoji="1" lang="zh-CN" altLang="en-US" dirty="0"/>
              <a:t> </a:t>
            </a:r>
            <a:r>
              <a:rPr kumimoji="1" lang="en-US" altLang="zh-CN" dirty="0"/>
              <a:t>”</a:t>
            </a:r>
          </a:p>
          <a:p>
            <a:pPr lvl="1"/>
            <a:r>
              <a:rPr kumimoji="1" lang="zh-CN" altLang="en-US" dirty="0"/>
              <a:t>输出： </a:t>
            </a:r>
            <a:r>
              <a:rPr lang="en-US" altLang="zh-CN" dirty="0"/>
              <a:t>“</a:t>
            </a:r>
            <a:r>
              <a:rPr kumimoji="1" lang="en-US" altLang="zh-CN" dirty="0"/>
              <a:t>hello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world</a:t>
            </a:r>
            <a:r>
              <a:rPr kumimoji="1" lang="zh-CN" altLang="en-US" dirty="0"/>
              <a:t> </a:t>
            </a:r>
            <a:r>
              <a:rPr kumimoji="1" lang="en-US" altLang="zh-CN" dirty="0"/>
              <a:t>python</a:t>
            </a:r>
            <a:r>
              <a:rPr lang="en-US" altLang="zh-CN" dirty="0"/>
              <a:t>”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3220844"/>
      </p:ext>
    </p:extLst>
  </p:cSld>
  <p:clrMapOvr>
    <a:masterClrMapping/>
  </p:clrMapOvr>
  <p:transition spd="slow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474A4-889B-1E25-D6E8-146474F6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16D9D-3375-C49F-2146-16038F0E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26AFF7-E539-32AD-56F1-9E89B6706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给定一个单词数组：进行去重，如果原来重复的，只输出最前面的出现那个单词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中间可以创建新的变量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r>
              <a:rPr kumimoji="1" lang="en-US" altLang="zh-CN" dirty="0"/>
              <a:t>ls = ['c', 'b', 'a', 'c', 'd', 'a', 'b']</a:t>
            </a:r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输出： </a:t>
            </a:r>
            <a:r>
              <a:rPr lang="en-US" altLang="zh-CN" dirty="0"/>
              <a:t>[</a:t>
            </a:r>
            <a:r>
              <a:rPr kumimoji="1" lang="en-US" altLang="zh-CN" dirty="0"/>
              <a:t>'c', 'b', ‘a</a:t>
            </a:r>
            <a:r>
              <a:rPr kumimoji="1" lang="zh-CN" altLang="en-US" dirty="0"/>
              <a:t>’</a:t>
            </a:r>
            <a:r>
              <a:rPr kumimoji="1" lang="en-US" altLang="zh-CN" dirty="0"/>
              <a:t>, ‘d’</a:t>
            </a:r>
            <a:r>
              <a:rPr lang="en-US" altLang="zh-CN" dirty="0"/>
              <a:t>]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2553443"/>
      </p:ext>
    </p:extLst>
  </p:cSld>
  <p:clrMapOvr>
    <a:masterClrMapping/>
  </p:clrMapOvr>
  <p:transition spd="slow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6364D41-A50D-49AE-B0E7-1C9E44CC7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503FFC9-2DF3-4892-84DB-A2609D419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75804"/>
      </p:ext>
    </p:extLst>
  </p:cSld>
  <p:clrMapOvr>
    <a:masterClrMapping/>
  </p:clrMapOvr>
  <p:transition spd="slow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HASREMARK" val="True"/>
  <p:tag name="PROBLEMREMARK" val="2703763826271496729576234682033435790799558162689208984375&#10;&#10;&#10;107143685717409157344277676895040501186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HASREMARK" val="True"/>
  <p:tag name="PROBLEMREMARK" val="引用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24512</TotalTime>
  <Words>2353</Words>
  <Application>Microsoft Macintosh PowerPoint</Application>
  <PresentationFormat>全屏显示(16:9)</PresentationFormat>
  <Paragraphs>251</Paragraphs>
  <Slides>45</Slides>
  <Notes>4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3" baseType="lpstr">
      <vt:lpstr>方正兰亭细黑_GBK</vt:lpstr>
      <vt:lpstr>Microsoft Yahei</vt:lpstr>
      <vt:lpstr>Microsoft Yahei</vt:lpstr>
      <vt:lpstr>Arial</vt:lpstr>
      <vt:lpstr>Calibri</vt:lpstr>
      <vt:lpstr>Cambria Math</vt:lpstr>
      <vt:lpstr>Wingdings</vt:lpstr>
      <vt:lpstr>清风素材 https://12sc.taobao.com/</vt:lpstr>
      <vt:lpstr>PowerPoint 演示文稿</vt:lpstr>
      <vt:lpstr>上次课回顾：函数与代码复用</vt:lpstr>
      <vt:lpstr>PowerPoint 演示文稿</vt:lpstr>
      <vt:lpstr>组合数据类型概述</vt:lpstr>
      <vt:lpstr>组合数据类型概述</vt:lpstr>
      <vt:lpstr>序列类型</vt:lpstr>
      <vt:lpstr>序列类型</vt:lpstr>
      <vt:lpstr>序列类型</vt:lpstr>
      <vt:lpstr>元组</vt:lpstr>
      <vt:lpstr>集合类型</vt:lpstr>
      <vt:lpstr>集合类型</vt:lpstr>
      <vt:lpstr>集合类型</vt:lpstr>
      <vt:lpstr>集合类型</vt:lpstr>
      <vt:lpstr>集合类型</vt:lpstr>
      <vt:lpstr>集合类型</vt:lpstr>
      <vt:lpstr>映射类型</vt:lpstr>
      <vt:lpstr>PowerPoint 演示文稿</vt:lpstr>
      <vt:lpstr>列表类型</vt:lpstr>
      <vt:lpstr>列表类型</vt:lpstr>
      <vt:lpstr>列表类型</vt:lpstr>
      <vt:lpstr>列表类型</vt:lpstr>
      <vt:lpstr>列表类型</vt:lpstr>
      <vt:lpstr>列表类型</vt:lpstr>
      <vt:lpstr>PowerPoint 演示文稿</vt:lpstr>
      <vt:lpstr>PowerPoint 演示文稿</vt:lpstr>
      <vt:lpstr>示例：基本统计值计算</vt:lpstr>
      <vt:lpstr>示例：基本统计值计算</vt:lpstr>
      <vt:lpstr>列表类型</vt:lpstr>
      <vt:lpstr>PowerPoint 演示文稿</vt:lpstr>
      <vt:lpstr>Jieba库</vt:lpstr>
      <vt:lpstr>Jieba库</vt:lpstr>
      <vt:lpstr>文本文件打开和读取</vt:lpstr>
      <vt:lpstr>词频统计：列表方法</vt:lpstr>
      <vt:lpstr>词频统计：列表方法</vt:lpstr>
      <vt:lpstr>词频统计-词典方法</vt:lpstr>
      <vt:lpstr>大作业1：</vt:lpstr>
      <vt:lpstr>关于卷积</vt:lpstr>
      <vt:lpstr>离散卷积举例：2个骰子点数和为4的概率</vt:lpstr>
      <vt:lpstr>应用卷积</vt:lpstr>
      <vt:lpstr>Python实现一维卷积</vt:lpstr>
      <vt:lpstr>练习（1）</vt:lpstr>
      <vt:lpstr>练习（2）</vt:lpstr>
      <vt:lpstr>练习（3）</vt:lpstr>
      <vt:lpstr>练习（4）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BatmanFly</cp:lastModifiedBy>
  <cp:revision>405</cp:revision>
  <dcterms:created xsi:type="dcterms:W3CDTF">2015-01-23T04:02:45Z</dcterms:created>
  <dcterms:modified xsi:type="dcterms:W3CDTF">2025-03-10T05:57:40Z</dcterms:modified>
  <cp:category/>
  <cp:contentStatus>12sc.taobao.com</cp:contentStatus>
</cp:coreProperties>
</file>