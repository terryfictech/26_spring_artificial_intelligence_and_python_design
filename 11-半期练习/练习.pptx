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301" r:id="rId3"/>
    <p:sldId id="1216" r:id="rId5"/>
    <p:sldId id="1242" r:id="rId6"/>
    <p:sldId id="1241" r:id="rId7"/>
    <p:sldId id="1243" r:id="rId8"/>
    <p:sldId id="1244" r:id="rId9"/>
    <p:sldId id="1245" r:id="rId10"/>
    <p:sldId id="1246" r:id="rId11"/>
    <p:sldId id="1247" r:id="rId12"/>
    <p:sldId id="1248" r:id="rId13"/>
    <p:sldId id="1249" r:id="rId14"/>
    <p:sldId id="1250" r:id="rId15"/>
    <p:sldId id="1251" r:id="rId16"/>
    <p:sldId id="1256" r:id="rId17"/>
    <p:sldId id="1253" r:id="rId18"/>
    <p:sldId id="1254" r:id="rId19"/>
    <p:sldId id="1255" r:id="rId20"/>
    <p:sldId id="124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07" autoAdjust="0"/>
    <p:restoredTop sz="96291"/>
  </p:normalViewPr>
  <p:slideViewPr>
    <p:cSldViewPr snapToGrid="0" snapToObjects="1">
      <p:cViewPr varScale="1">
        <p:scale>
          <a:sx n="76" d="100"/>
          <a:sy n="76" d="100"/>
        </p:scale>
        <p:origin x="7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CF16A-4844-174D-8244-3C9BD3EC2EB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7A3C0-8EBB-1F47-A275-7FB6C32BB2A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DEAE63-D6C4-437F-B8DA-DA689F991A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447344"/>
            <a:ext cx="12192000" cy="410369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65163"/>
          </a:xfrm>
        </p:spPr>
        <p:txBody>
          <a:bodyPr>
            <a:noAutofit/>
          </a:bodyPr>
          <a:lstStyle>
            <a:lvl1pPr>
              <a:defRPr sz="373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92200"/>
            <a:ext cx="10972800" cy="5249333"/>
          </a:xfrm>
        </p:spPr>
        <p:txBody>
          <a:bodyPr>
            <a:normAutofit/>
          </a:bodyPr>
          <a:lstStyle>
            <a:lvl1pPr>
              <a:defRPr sz="266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35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65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65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645901" y="5976408"/>
            <a:ext cx="546099" cy="365125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862508" y="358664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687010" y="832153"/>
            <a:ext cx="4256863" cy="698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248129" y="839135"/>
            <a:ext cx="435287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47344"/>
            <a:ext cx="12192000" cy="410369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073" y="1"/>
            <a:ext cx="1419289" cy="1285183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png"/><Relationship Id="rId16" Type="http://schemas.openxmlformats.org/officeDocument/2006/relationships/image" Target="../media/image2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073" y="1"/>
            <a:ext cx="1419289" cy="1285183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447344"/>
            <a:ext cx="12192000" cy="410369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>
    <p:pull/>
  </p:transition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5.png"/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745527"/>
            <a:ext cx="12192000" cy="1138831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 defTabSz="1219200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921" y="211600"/>
            <a:ext cx="2622992" cy="26226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077" y="36098"/>
            <a:ext cx="2974047" cy="2973644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91"/>
          <p:cNvGrpSpPr/>
          <p:nvPr/>
        </p:nvGrpSpPr>
        <p:grpSpPr bwMode="auto">
          <a:xfrm>
            <a:off x="2429809" y="4413122"/>
            <a:ext cx="520736" cy="791219"/>
            <a:chOff x="936" y="1480"/>
            <a:chExt cx="1589" cy="2415"/>
          </a:xfrm>
        </p:grpSpPr>
        <p:grpSp>
          <p:nvGrpSpPr>
            <p:cNvPr id="26" name="组合 33"/>
            <p:cNvGrpSpPr/>
            <p:nvPr/>
          </p:nvGrpSpPr>
          <p:grpSpPr bwMode="auto">
            <a:xfrm>
              <a:off x="985" y="1582"/>
              <a:ext cx="1441" cy="2313"/>
              <a:chOff x="1754168" y="3653262"/>
              <a:chExt cx="1857599" cy="2987139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219200">
                  <a:defRPr/>
                </a:pPr>
                <a:endParaRPr lang="zh-CN" altLang="en-US" sz="4000" dirty="0">
                  <a:solidFill>
                    <a:prstClr val="white"/>
                  </a:solidFill>
                  <a:latin typeface="Calibri" panose="020F0502020204030204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200">
                  <a:defRPr/>
                </a:pPr>
                <a:endParaRPr lang="zh-CN" altLang="en-US" sz="240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219200">
                  <a:defRPr/>
                </a:pPr>
                <a:endParaRPr lang="zh-CN" altLang="en-US" sz="4000" dirty="0">
                  <a:solidFill>
                    <a:srgbClr val="0087CF"/>
                  </a:solidFill>
                  <a:latin typeface="Calibri" panose="020F0502020204030204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318103" y="4093188"/>
                <a:ext cx="726661" cy="25472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200"/>
                <a:endParaRPr lang="zh-CN" altLang="zh-CN" sz="3600" b="1">
                  <a:solidFill>
                    <a:srgbClr val="CA0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4"/>
            <p:cNvGrpSpPr/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200">
                  <a:defRPr/>
                </a:pPr>
                <a:endParaRPr lang="zh-CN" altLang="en-US" sz="240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200">
                  <a:defRPr/>
                </a:pPr>
                <a:endParaRPr lang="zh-CN" altLang="en-US" sz="240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200">
                  <a:defRPr/>
                </a:pPr>
                <a:endParaRPr lang="zh-CN" altLang="en-US" sz="240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62872" y="2892184"/>
            <a:ext cx="11926753" cy="697525"/>
          </a:xfrm>
          <a:prstGeom prst="rect">
            <a:avLst/>
          </a:prstGeom>
          <a:noFill/>
        </p:spPr>
        <p:txBody>
          <a:bodyPr wrap="square" lIns="121884" tIns="60941" rIns="121884" bIns="60941" rtlCol="0">
            <a:spAutoFit/>
          </a:bodyPr>
          <a:lstStyle/>
          <a:p>
            <a:pPr algn="ctr" defTabSz="1219200"/>
            <a:r>
              <a:rPr lang="en-US" altLang="zh-CN" sz="37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7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37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7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37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 </a:t>
            </a:r>
            <a:r>
              <a:rPr lang="zh-CN" altLang="en-US" sz="37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练习课</a:t>
            </a:r>
            <a:endParaRPr lang="zh-CN" altLang="en-US" sz="373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132152" y="4413123"/>
            <a:ext cx="5225417" cy="54551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 defTabSz="1219200"/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149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649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649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149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字符串操作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给定一个字符串和目标串</a:t>
            </a:r>
            <a:endParaRPr lang="en-US" altLang="zh-CN" dirty="0"/>
          </a:p>
          <a:p>
            <a:pPr lvl="1"/>
            <a:r>
              <a:rPr lang="zh-CN" altLang="en-US" dirty="0"/>
              <a:t>打印出倒数第二次目标串出现的位置以及从这个位置开始的子串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例如</a:t>
            </a:r>
            <a:endParaRPr lang="en-US" altLang="zh-CN" dirty="0"/>
          </a:p>
          <a:p>
            <a:pPr lvl="2"/>
            <a:r>
              <a:rPr lang="zh-CN" altLang="en-US" dirty="0"/>
              <a:t>输入为</a:t>
            </a:r>
            <a:endParaRPr lang="en-US" altLang="zh-CN" dirty="0"/>
          </a:p>
          <a:p>
            <a:pPr lvl="3"/>
            <a:r>
              <a:rPr lang="en-US" altLang="zh-CN" dirty="0" err="1"/>
              <a:t>abab</a:t>
            </a:r>
            <a:r>
              <a:rPr lang="en-US" altLang="zh-CN" dirty="0" err="1">
                <a:solidFill>
                  <a:srgbClr val="FF0000"/>
                </a:solidFill>
              </a:rPr>
              <a:t>ab</a:t>
            </a:r>
            <a:r>
              <a:rPr lang="en-US" altLang="zh-CN" dirty="0" err="1"/>
              <a:t>cab</a:t>
            </a:r>
            <a:endParaRPr lang="en-US" altLang="zh-CN" dirty="0"/>
          </a:p>
          <a:p>
            <a:pPr lvl="3"/>
            <a:r>
              <a:rPr lang="en-US" altLang="zh-CN" dirty="0"/>
              <a:t>ab</a:t>
            </a:r>
            <a:endParaRPr lang="en-US" altLang="zh-CN" dirty="0"/>
          </a:p>
          <a:p>
            <a:pPr lvl="2"/>
            <a:r>
              <a:rPr lang="zh-CN" altLang="en-US" dirty="0"/>
              <a:t>输出</a:t>
            </a:r>
            <a:endParaRPr lang="en-US" altLang="zh-CN" dirty="0"/>
          </a:p>
          <a:p>
            <a:pPr lvl="3"/>
            <a:r>
              <a:rPr lang="en-US" altLang="zh-CN" dirty="0"/>
              <a:t>5</a:t>
            </a:r>
            <a:endParaRPr lang="en-US" altLang="zh-CN" dirty="0"/>
          </a:p>
          <a:p>
            <a:pPr lvl="3"/>
            <a:r>
              <a:rPr lang="en-US" altLang="zh-CN" dirty="0" err="1"/>
              <a:t>abcab</a:t>
            </a:r>
            <a:endParaRPr lang="en-US" altLang="zh-CN" dirty="0"/>
          </a:p>
          <a:p>
            <a:pPr marL="609600" lvl="1" indent="0">
              <a:buNone/>
            </a:pPr>
            <a:endParaRPr lang="en-US" altLang="zh-CN" dirty="0"/>
          </a:p>
          <a:p>
            <a:pPr marL="6096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字符串操作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给定一个字符串和目标串</a:t>
            </a:r>
            <a:endParaRPr lang="en-US" altLang="zh-CN" dirty="0"/>
          </a:p>
          <a:p>
            <a:pPr lvl="1"/>
            <a:r>
              <a:rPr lang="zh-CN" altLang="en-US" dirty="0"/>
              <a:t>打印出倒数第二次的位置以及从这个位置开始的子串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例如</a:t>
            </a:r>
            <a:endParaRPr lang="en-US" altLang="zh-CN" dirty="0"/>
          </a:p>
          <a:p>
            <a:pPr lvl="2"/>
            <a:r>
              <a:rPr lang="zh-CN" altLang="en-US" dirty="0"/>
              <a:t>输入为</a:t>
            </a:r>
            <a:endParaRPr lang="en-US" altLang="zh-CN" dirty="0"/>
          </a:p>
          <a:p>
            <a:pPr lvl="3"/>
            <a:r>
              <a:rPr lang="en-US" altLang="zh-CN" dirty="0" err="1"/>
              <a:t>abababcab</a:t>
            </a:r>
            <a:endParaRPr lang="en-US" altLang="zh-CN" dirty="0"/>
          </a:p>
          <a:p>
            <a:pPr lvl="3"/>
            <a:r>
              <a:rPr lang="en-US" altLang="zh-CN" dirty="0"/>
              <a:t>ab</a:t>
            </a:r>
            <a:endParaRPr lang="en-US" altLang="zh-CN" dirty="0"/>
          </a:p>
          <a:p>
            <a:pPr lvl="2"/>
            <a:r>
              <a:rPr lang="zh-CN" altLang="en-US" dirty="0"/>
              <a:t>输出</a:t>
            </a:r>
            <a:endParaRPr lang="en-US" altLang="zh-CN" dirty="0"/>
          </a:p>
          <a:p>
            <a:pPr lvl="3"/>
            <a:r>
              <a:rPr lang="en-US" altLang="zh-CN" dirty="0"/>
              <a:t>5</a:t>
            </a:r>
            <a:endParaRPr lang="en-US" altLang="zh-CN" dirty="0"/>
          </a:p>
          <a:p>
            <a:pPr lvl="3"/>
            <a:r>
              <a:rPr lang="en-US" altLang="zh-CN" dirty="0" err="1"/>
              <a:t>abcab</a:t>
            </a:r>
            <a:endParaRPr lang="en-US" altLang="zh-CN" dirty="0"/>
          </a:p>
          <a:p>
            <a:pPr marL="6096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862" y="1889248"/>
            <a:ext cx="8330021" cy="4325483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字符串</a:t>
            </a:r>
            <a:r>
              <a:rPr lang="en-US" altLang="zh-CN" dirty="0"/>
              <a:t>/</a:t>
            </a:r>
            <a:r>
              <a:rPr lang="zh-CN" altLang="en-US" dirty="0"/>
              <a:t>列表排序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给定一个字符串列表</a:t>
            </a:r>
            <a:endParaRPr lang="en-US" altLang="zh-CN" dirty="0"/>
          </a:p>
          <a:p>
            <a:pPr lvl="1"/>
            <a:r>
              <a:rPr lang="zh-CN" altLang="en-US" dirty="0"/>
              <a:t>对其进行排序</a:t>
            </a:r>
            <a:endParaRPr lang="en-US" altLang="zh-CN" dirty="0"/>
          </a:p>
          <a:p>
            <a:pPr lvl="1"/>
            <a:r>
              <a:rPr lang="zh-CN" altLang="en-US" dirty="0"/>
              <a:t>排序的规则为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首先按照包含字母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的次数排序（次数越多，越靠前）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当出现平局时，按照字典序排列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523" y="3506832"/>
            <a:ext cx="9982200" cy="16383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26523" y="4075611"/>
            <a:ext cx="9982200" cy="487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字符串</a:t>
            </a:r>
            <a:r>
              <a:rPr lang="en-US" altLang="zh-CN" dirty="0"/>
              <a:t>/</a:t>
            </a:r>
            <a:r>
              <a:rPr lang="zh-CN" altLang="en-US" dirty="0"/>
              <a:t>列表排序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给定一个字符串列表</a:t>
            </a:r>
            <a:endParaRPr lang="en-US" altLang="zh-CN" dirty="0"/>
          </a:p>
          <a:p>
            <a:pPr lvl="1"/>
            <a:r>
              <a:rPr lang="zh-CN" altLang="en-US" dirty="0"/>
              <a:t>对其进行排序</a:t>
            </a:r>
            <a:endParaRPr lang="en-US" altLang="zh-CN" dirty="0"/>
          </a:p>
          <a:p>
            <a:pPr lvl="1"/>
            <a:r>
              <a:rPr lang="zh-CN" altLang="en-US" dirty="0"/>
              <a:t>排序的规则为</a:t>
            </a:r>
            <a:endParaRPr lang="en-US" altLang="zh-CN" dirty="0"/>
          </a:p>
          <a:p>
            <a:pPr lvl="2"/>
            <a:r>
              <a:rPr lang="zh-CN" altLang="en-US" dirty="0"/>
              <a:t>首先按照包含字母</a:t>
            </a:r>
            <a:r>
              <a:rPr lang="en-US" altLang="zh-CN" dirty="0"/>
              <a:t>a</a:t>
            </a:r>
            <a:r>
              <a:rPr lang="zh-CN" altLang="en-US" dirty="0"/>
              <a:t>的次数排序（次数越多，越靠前）</a:t>
            </a:r>
            <a:endParaRPr lang="en-US" altLang="zh-CN" dirty="0"/>
          </a:p>
          <a:p>
            <a:pPr lvl="2"/>
            <a:r>
              <a:rPr lang="zh-CN" altLang="en-US" dirty="0"/>
              <a:t>当出现平局时，按照字典序排列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523" y="3506832"/>
            <a:ext cx="9982200" cy="16383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矩阵转置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给定一个二维矩阵，对其进行转置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53" y="2111012"/>
            <a:ext cx="11547294" cy="254940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392283" y="2666448"/>
            <a:ext cx="9982200" cy="949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矩阵转置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给定一个二维矩阵，对其进行转置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53" y="2111012"/>
            <a:ext cx="11547294" cy="2549403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列表遍历和操作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给定一个列表，求该列表中包含的所有整数之和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714" y="1811661"/>
            <a:ext cx="8320087" cy="394865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392283" y="2527111"/>
            <a:ext cx="9982200" cy="2433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列表遍历和操作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给定一个列表，求该列表中包含的所有整数之和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714" y="1811661"/>
            <a:ext cx="8320087" cy="3948651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 列表操作和数据类型变换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给定一个整数列表，将其转换为字符串列表，并且将反转</a:t>
            </a:r>
            <a:br>
              <a:rPr lang="en-US" altLang="zh-CN" dirty="0"/>
            </a:br>
            <a:r>
              <a:rPr lang="zh-CN" altLang="en-US" dirty="0"/>
              <a:t>其连接成一个字符串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174" y="2386421"/>
            <a:ext cx="6934200" cy="29908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31323" y="2944225"/>
            <a:ext cx="9667603" cy="1714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 列表操作和数据类型变换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给定一个整数列表，将其转换为字符串列表，并且将反转</a:t>
            </a:r>
            <a:br>
              <a:rPr lang="en-US" altLang="zh-CN" dirty="0"/>
            </a:br>
            <a:r>
              <a:rPr lang="zh-CN" altLang="en-US" dirty="0"/>
              <a:t>其连接成一个字符串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174" y="2386421"/>
            <a:ext cx="6934200" cy="299085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 列表元素判断和遍历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给定一个包含各种类型元素的列表，统计其中字符串的个数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81" y="2349273"/>
            <a:ext cx="9858375" cy="23336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43331" y="3109689"/>
            <a:ext cx="9667603" cy="791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 列表元素判断和遍历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给定一个包含各种类型元素的列表，统计其中字符串的个数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81" y="2349273"/>
            <a:ext cx="9858375" cy="233362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字符串操作和枚举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给定一个字符串，打印其所有不同子串，并且按照长度排序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06" y="2561279"/>
            <a:ext cx="11121838" cy="24659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70051" y="3209474"/>
            <a:ext cx="9667603" cy="791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 字符串操作和枚举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给定一个字符串，打印其所有子串，并且按照长度排序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06" y="2561279"/>
            <a:ext cx="11121838" cy="246596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 字符串操作和比较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给定两个字符串，按照第一个字符串中出现的顺序，打印所有</a:t>
            </a:r>
            <a:br>
              <a:rPr lang="en-US" altLang="zh-CN" dirty="0"/>
            </a:br>
            <a:r>
              <a:rPr lang="zh-CN" altLang="en-US" dirty="0"/>
              <a:t>重叠的字符（如果一个字符重叠多次，每次都打印）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43" y="2323828"/>
            <a:ext cx="7858125" cy="30289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08795" y="3675747"/>
            <a:ext cx="9667603" cy="791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 字符串操作和比较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给定两个字符串，按照第一个字符串中出现的顺序，打印所有</a:t>
            </a:r>
            <a:br>
              <a:rPr lang="en-US" altLang="zh-CN" dirty="0"/>
            </a:br>
            <a:r>
              <a:rPr lang="zh-CN" altLang="en-US" dirty="0"/>
              <a:t>重叠的字符（如果一个字符重叠多次，每次都打印）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43" y="2323828"/>
            <a:ext cx="7858125" cy="302895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WPS 演示</Application>
  <PresentationFormat>宽屏</PresentationFormat>
  <Paragraphs>127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方正超粗黑简体</vt:lpstr>
      <vt:lpstr>Arial Unicode MS</vt:lpstr>
      <vt:lpstr>等线</vt:lpstr>
      <vt:lpstr>黑体</vt:lpstr>
      <vt:lpstr>清风素材 https://12sc.taobao.com/</vt:lpstr>
      <vt:lpstr>PowerPoint 演示文稿</vt:lpstr>
      <vt:lpstr>1 字符串操作</vt:lpstr>
      <vt:lpstr>1 字符串操作</vt:lpstr>
      <vt:lpstr>2 字符串/列表排序</vt:lpstr>
      <vt:lpstr>2 字符串/列表排序</vt:lpstr>
      <vt:lpstr>3 矩阵转置</vt:lpstr>
      <vt:lpstr>3 矩阵转置</vt:lpstr>
      <vt:lpstr>4 列表遍历和操作</vt:lpstr>
      <vt:lpstr>4 列表遍历和操作</vt:lpstr>
      <vt:lpstr>5 列表操作和数据类型变换</vt:lpstr>
      <vt:lpstr>5 列表操作和数据类型变换</vt:lpstr>
      <vt:lpstr>6 列表元素判断和遍历</vt:lpstr>
      <vt:lpstr>6 列表元素判断和遍历</vt:lpstr>
      <vt:lpstr>7 字符串操作和枚举</vt:lpstr>
      <vt:lpstr>7 字符串操作和枚举</vt:lpstr>
      <vt:lpstr>8 字符串操作和比较</vt:lpstr>
      <vt:lpstr>8 字符串操作和比较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hdui831@mail.nwpu.edu.cn</dc:creator>
  <cp:lastModifiedBy>WPS_1651474278</cp:lastModifiedBy>
  <cp:revision>97</cp:revision>
  <dcterms:created xsi:type="dcterms:W3CDTF">2022-03-11T11:41:00Z</dcterms:created>
  <dcterms:modified xsi:type="dcterms:W3CDTF">2026-04-20T08:17:44Z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99E5E333432B4AF5BA3DED9C760FFD7B_13</vt:lpwstr>
  </property>
  <property fmtid="{D5CDD505-2E9C-101B-9397-08002B2CF9AE}" pid="3" name="KSOProductBuildVer">
    <vt:lpwstr>2052-12.1.0.25865</vt:lpwstr>
  </property>
</Properties>
</file>